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2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3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344" r:id="rId2"/>
    <p:sldId id="375" r:id="rId3"/>
    <p:sldId id="377" r:id="rId4"/>
    <p:sldId id="414" r:id="rId5"/>
    <p:sldId id="409" r:id="rId6"/>
    <p:sldId id="408" r:id="rId7"/>
    <p:sldId id="379" r:id="rId8"/>
    <p:sldId id="376" r:id="rId9"/>
    <p:sldId id="381" r:id="rId10"/>
    <p:sldId id="382" r:id="rId11"/>
    <p:sldId id="378" r:id="rId12"/>
    <p:sldId id="385" r:id="rId13"/>
    <p:sldId id="391" r:id="rId14"/>
    <p:sldId id="395" r:id="rId15"/>
    <p:sldId id="396" r:id="rId16"/>
    <p:sldId id="392" r:id="rId17"/>
    <p:sldId id="397" r:id="rId18"/>
    <p:sldId id="383" r:id="rId19"/>
    <p:sldId id="374" r:id="rId20"/>
    <p:sldId id="386" r:id="rId21"/>
    <p:sldId id="387" r:id="rId22"/>
    <p:sldId id="407" r:id="rId23"/>
    <p:sldId id="388" r:id="rId24"/>
    <p:sldId id="399" r:id="rId25"/>
    <p:sldId id="401" r:id="rId26"/>
    <p:sldId id="389" r:id="rId27"/>
    <p:sldId id="402" r:id="rId28"/>
    <p:sldId id="393" r:id="rId29"/>
    <p:sldId id="413" r:id="rId30"/>
    <p:sldId id="394" r:id="rId31"/>
    <p:sldId id="405" r:id="rId32"/>
    <p:sldId id="390" r:id="rId33"/>
    <p:sldId id="400" r:id="rId34"/>
    <p:sldId id="411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  <a:srgbClr val="E2F0D9"/>
    <a:srgbClr val="DEEBF7"/>
    <a:srgbClr val="FFFFFF"/>
    <a:srgbClr val="777E85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C767E8-26CE-4137-9967-9942D15A37A8}" v="37" dt="2026-02-25T13:27:44.7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74" autoAdjust="0"/>
    <p:restoredTop sz="95102" autoAdjust="0"/>
  </p:normalViewPr>
  <p:slideViewPr>
    <p:cSldViewPr snapToGrid="0">
      <p:cViewPr varScale="1">
        <p:scale>
          <a:sx n="151" d="100"/>
          <a:sy n="151" d="100"/>
        </p:scale>
        <p:origin x="103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AI ZHAO" userId="5729ab2158e7fb06" providerId="LiveId" clId="{46A0994D-954F-4228-AA21-400F095CC26F}"/>
    <pc:docChg chg="undo custSel addSld delSld modSld sldOrd">
      <pc:chgData name="SHUAI ZHAO" userId="5729ab2158e7fb06" providerId="LiveId" clId="{46A0994D-954F-4228-AA21-400F095CC26F}" dt="2026-02-25T13:27:44.784" v="130"/>
      <pc:docMkLst>
        <pc:docMk/>
      </pc:docMkLst>
      <pc:sldChg chg="del">
        <pc:chgData name="SHUAI ZHAO" userId="5729ab2158e7fb06" providerId="LiveId" clId="{46A0994D-954F-4228-AA21-400F095CC26F}" dt="2026-02-25T13:17:45.079" v="89" actId="2696"/>
        <pc:sldMkLst>
          <pc:docMk/>
          <pc:sldMk cId="0" sldId="376"/>
        </pc:sldMkLst>
      </pc:sldChg>
      <pc:sldChg chg="add">
        <pc:chgData name="SHUAI ZHAO" userId="5729ab2158e7fb06" providerId="LiveId" clId="{46A0994D-954F-4228-AA21-400F095CC26F}" dt="2026-02-25T13:17:46.287" v="90"/>
        <pc:sldMkLst>
          <pc:docMk/>
          <pc:sldMk cId="4282420526" sldId="376"/>
        </pc:sldMkLst>
      </pc:sldChg>
      <pc:sldChg chg="del">
        <pc:chgData name="SHUAI ZHAO" userId="5729ab2158e7fb06" providerId="LiveId" clId="{46A0994D-954F-4228-AA21-400F095CC26F}" dt="2026-02-25T13:17:37.543" v="87" actId="2696"/>
        <pc:sldMkLst>
          <pc:docMk/>
          <pc:sldMk cId="0" sldId="377"/>
        </pc:sldMkLst>
      </pc:sldChg>
      <pc:sldChg chg="add">
        <pc:chgData name="SHUAI ZHAO" userId="5729ab2158e7fb06" providerId="LiveId" clId="{46A0994D-954F-4228-AA21-400F095CC26F}" dt="2026-02-25T13:17:41.312" v="88"/>
        <pc:sldMkLst>
          <pc:docMk/>
          <pc:sldMk cId="2453365458" sldId="377"/>
        </pc:sldMkLst>
      </pc:sldChg>
      <pc:sldChg chg="modSp del mod ord">
        <pc:chgData name="SHUAI ZHAO" userId="5729ab2158e7fb06" providerId="LiveId" clId="{46A0994D-954F-4228-AA21-400F095CC26F}" dt="2026-02-25T13:17:37.543" v="87" actId="2696"/>
        <pc:sldMkLst>
          <pc:docMk/>
          <pc:sldMk cId="0" sldId="379"/>
        </pc:sldMkLst>
        <pc:spChg chg="mod">
          <ac:chgData name="SHUAI ZHAO" userId="5729ab2158e7fb06" providerId="LiveId" clId="{46A0994D-954F-4228-AA21-400F095CC26F}" dt="2026-02-25T13:13:48.555" v="10" actId="113"/>
          <ac:spMkLst>
            <pc:docMk/>
            <pc:sldMk cId="0" sldId="379"/>
            <ac:spMk id="2" creationId="{00000000-0000-0000-0000-000000000000}"/>
          </ac:spMkLst>
        </pc:spChg>
      </pc:sldChg>
      <pc:sldChg chg="add del">
        <pc:chgData name="SHUAI ZHAO" userId="5729ab2158e7fb06" providerId="LiveId" clId="{46A0994D-954F-4228-AA21-400F095CC26F}" dt="2026-02-25T13:17:53.085" v="91" actId="2696"/>
        <pc:sldMkLst>
          <pc:docMk/>
          <pc:sldMk cId="1002166400" sldId="379"/>
        </pc:sldMkLst>
      </pc:sldChg>
      <pc:sldChg chg="modSp add del mod">
        <pc:chgData name="SHUAI ZHAO" userId="5729ab2158e7fb06" providerId="LiveId" clId="{46A0994D-954F-4228-AA21-400F095CC26F}" dt="2026-02-25T13:18:59.901" v="111" actId="2696"/>
        <pc:sldMkLst>
          <pc:docMk/>
          <pc:sldMk cId="1056031809" sldId="379"/>
        </pc:sldMkLst>
        <pc:spChg chg="mod">
          <ac:chgData name="SHUAI ZHAO" userId="5729ab2158e7fb06" providerId="LiveId" clId="{46A0994D-954F-4228-AA21-400F095CC26F}" dt="2026-02-25T13:18:30.631" v="104" actId="20577"/>
          <ac:spMkLst>
            <pc:docMk/>
            <pc:sldMk cId="1056031809" sldId="379"/>
            <ac:spMk id="2" creationId="{00000000-0000-0000-0000-000000000000}"/>
          </ac:spMkLst>
        </pc:spChg>
      </pc:sldChg>
      <pc:sldChg chg="add">
        <pc:chgData name="SHUAI ZHAO" userId="5729ab2158e7fb06" providerId="LiveId" clId="{46A0994D-954F-4228-AA21-400F095CC26F}" dt="2026-02-25T13:19:01.017" v="112"/>
        <pc:sldMkLst>
          <pc:docMk/>
          <pc:sldMk cId="3453438866" sldId="379"/>
        </pc:sldMkLst>
      </pc:sldChg>
      <pc:sldChg chg="del">
        <pc:chgData name="SHUAI ZHAO" userId="5729ab2158e7fb06" providerId="LiveId" clId="{46A0994D-954F-4228-AA21-400F095CC26F}" dt="2026-02-25T13:16:02.403" v="36" actId="2696"/>
        <pc:sldMkLst>
          <pc:docMk/>
          <pc:sldMk cId="0" sldId="408"/>
        </pc:sldMkLst>
      </pc:sldChg>
      <pc:sldChg chg="add del">
        <pc:chgData name="SHUAI ZHAO" userId="5729ab2158e7fb06" providerId="LiveId" clId="{46A0994D-954F-4228-AA21-400F095CC26F}" dt="2026-02-25T13:18:46.677" v="105" actId="2696"/>
        <pc:sldMkLst>
          <pc:docMk/>
          <pc:sldMk cId="818751113" sldId="408"/>
        </pc:sldMkLst>
      </pc:sldChg>
      <pc:sldChg chg="add">
        <pc:chgData name="SHUAI ZHAO" userId="5729ab2158e7fb06" providerId="LiveId" clId="{46A0994D-954F-4228-AA21-400F095CC26F}" dt="2026-02-25T13:18:57.746" v="110"/>
        <pc:sldMkLst>
          <pc:docMk/>
          <pc:sldMk cId="1569418808" sldId="408"/>
        </pc:sldMkLst>
      </pc:sldChg>
      <pc:sldChg chg="add del">
        <pc:chgData name="SHUAI ZHAO" userId="5729ab2158e7fb06" providerId="LiveId" clId="{46A0994D-954F-4228-AA21-400F095CC26F}" dt="2026-02-25T13:18:56.989" v="109" actId="2696"/>
        <pc:sldMkLst>
          <pc:docMk/>
          <pc:sldMk cId="3352948415" sldId="408"/>
        </pc:sldMkLst>
      </pc:sldChg>
      <pc:sldChg chg="del">
        <pc:chgData name="SHUAI ZHAO" userId="5729ab2158e7fb06" providerId="LiveId" clId="{46A0994D-954F-4228-AA21-400F095CC26F}" dt="2026-02-25T13:18:53.641" v="107" actId="2696"/>
        <pc:sldMkLst>
          <pc:docMk/>
          <pc:sldMk cId="0" sldId="409"/>
        </pc:sldMkLst>
      </pc:sldChg>
      <pc:sldChg chg="modSp add mod">
        <pc:chgData name="SHUAI ZHAO" userId="5729ab2158e7fb06" providerId="LiveId" clId="{46A0994D-954F-4228-AA21-400F095CC26F}" dt="2026-02-25T13:27:44.784" v="130"/>
        <pc:sldMkLst>
          <pc:docMk/>
          <pc:sldMk cId="3665250020" sldId="409"/>
        </pc:sldMkLst>
        <pc:spChg chg="mod">
          <ac:chgData name="SHUAI ZHAO" userId="5729ab2158e7fb06" providerId="LiveId" clId="{46A0994D-954F-4228-AA21-400F095CC26F}" dt="2026-02-25T13:27:44.784" v="130"/>
          <ac:spMkLst>
            <pc:docMk/>
            <pc:sldMk cId="3665250020" sldId="409"/>
            <ac:spMk id="2" creationId="{00000000-0000-0000-0000-000000000000}"/>
          </ac:spMkLst>
        </pc:spChg>
      </pc:sldChg>
      <pc:sldChg chg="add">
        <pc:chgData name="SHUAI ZHAO" userId="5729ab2158e7fb06" providerId="LiveId" clId="{46A0994D-954F-4228-AA21-400F095CC26F}" dt="2026-02-25T13:17:41.312" v="88"/>
        <pc:sldMkLst>
          <pc:docMk/>
          <pc:sldMk cId="438580085" sldId="414"/>
        </pc:sldMkLst>
      </pc:sldChg>
      <pc:sldChg chg="addSp delSp modSp add del mod">
        <pc:chgData name="SHUAI ZHAO" userId="5729ab2158e7fb06" providerId="LiveId" clId="{46A0994D-954F-4228-AA21-400F095CC26F}" dt="2026-02-25T13:17:37.543" v="87" actId="2696"/>
        <pc:sldMkLst>
          <pc:docMk/>
          <pc:sldMk cId="1444236082" sldId="414"/>
        </pc:sldMkLst>
        <pc:spChg chg="del">
          <ac:chgData name="SHUAI ZHAO" userId="5729ab2158e7fb06" providerId="LiveId" clId="{46A0994D-954F-4228-AA21-400F095CC26F}" dt="2026-02-25T13:14:30.657" v="12" actId="21"/>
          <ac:spMkLst>
            <pc:docMk/>
            <pc:sldMk cId="1444236082" sldId="414"/>
            <ac:spMk id="2" creationId="{ECA16EE5-91E8-5A72-D542-70BBBDDB5F45}"/>
          </ac:spMkLst>
        </pc:spChg>
        <pc:spChg chg="del">
          <ac:chgData name="SHUAI ZHAO" userId="5729ab2158e7fb06" providerId="LiveId" clId="{46A0994D-954F-4228-AA21-400F095CC26F}" dt="2026-02-25T13:14:34.585" v="14" actId="21"/>
          <ac:spMkLst>
            <pc:docMk/>
            <pc:sldMk cId="1444236082" sldId="414"/>
            <ac:spMk id="13" creationId="{0484E694-A442-11CF-EF72-5A891C7B6A36}"/>
          </ac:spMkLst>
        </pc:spChg>
        <pc:spChg chg="add del mod">
          <ac:chgData name="SHUAI ZHAO" userId="5729ab2158e7fb06" providerId="LiveId" clId="{46A0994D-954F-4228-AA21-400F095CC26F}" dt="2026-02-25T13:14:31.989" v="13" actId="21"/>
          <ac:spMkLst>
            <pc:docMk/>
            <pc:sldMk cId="1444236082" sldId="414"/>
            <ac:spMk id="14" creationId="{699162FE-410B-0209-8D9F-A8BA01B9D11E}"/>
          </ac:spMkLst>
        </pc:spChg>
        <pc:spChg chg="add mod">
          <ac:chgData name="SHUAI ZHAO" userId="5729ab2158e7fb06" providerId="LiveId" clId="{46A0994D-954F-4228-AA21-400F095CC26F}" dt="2026-02-25T13:15:10.548" v="18"/>
          <ac:spMkLst>
            <pc:docMk/>
            <pc:sldMk cId="1444236082" sldId="414"/>
            <ac:spMk id="15" creationId="{0919FA3F-41A9-A611-1269-EAE58128BBCF}"/>
          </ac:spMkLst>
        </pc:spChg>
        <pc:grpChg chg="del">
          <ac:chgData name="SHUAI ZHAO" userId="5729ab2158e7fb06" providerId="LiveId" clId="{46A0994D-954F-4228-AA21-400F095CC26F}" dt="2026-02-25T13:14:34.585" v="14" actId="21"/>
          <ac:grpSpMkLst>
            <pc:docMk/>
            <pc:sldMk cId="1444236082" sldId="414"/>
            <ac:grpSpMk id="10" creationId="{8DCA0A4D-7494-DC59-7117-C9A855267CD1}"/>
          </ac:grpSpMkLst>
        </pc:grpChg>
        <pc:graphicFrameChg chg="add mod modGraphic">
          <ac:chgData name="SHUAI ZHAO" userId="5729ab2158e7fb06" providerId="LiveId" clId="{46A0994D-954F-4228-AA21-400F095CC26F}" dt="2026-02-25T13:17:02.829" v="84"/>
          <ac:graphicFrameMkLst>
            <pc:docMk/>
            <pc:sldMk cId="1444236082" sldId="414"/>
            <ac:graphicFrameMk id="16" creationId="{18A5447D-B98E-E09D-7B76-703E4981D410}"/>
          </ac:graphicFrameMkLst>
        </pc:graphicFrameChg>
        <pc:picChg chg="del">
          <ac:chgData name="SHUAI ZHAO" userId="5729ab2158e7fb06" providerId="LiveId" clId="{46A0994D-954F-4228-AA21-400F095CC26F}" dt="2026-02-25T13:14:34.585" v="14" actId="21"/>
          <ac:picMkLst>
            <pc:docMk/>
            <pc:sldMk cId="1444236082" sldId="414"/>
            <ac:picMk id="11" creationId="{8DF1D795-FE49-D276-988E-D8A2C05944BE}"/>
          </ac:picMkLst>
        </pc:picChg>
        <pc:picChg chg="add mod">
          <ac:chgData name="SHUAI ZHAO" userId="5729ab2158e7fb06" providerId="LiveId" clId="{46A0994D-954F-4228-AA21-400F095CC26F}" dt="2026-02-25T13:15:10.548" v="18"/>
          <ac:picMkLst>
            <pc:docMk/>
            <pc:sldMk cId="1444236082" sldId="414"/>
            <ac:picMk id="17" creationId="{01DE03EB-3EF1-7249-9A33-A9C3370F9ED9}"/>
          </ac:picMkLst>
        </pc:picChg>
        <pc:picChg chg="del">
          <ac:chgData name="SHUAI ZHAO" userId="5729ab2158e7fb06" providerId="LiveId" clId="{46A0994D-954F-4228-AA21-400F095CC26F}" dt="2026-02-25T13:14:34.585" v="14" actId="21"/>
          <ac:picMkLst>
            <pc:docMk/>
            <pc:sldMk cId="1444236082" sldId="414"/>
            <ac:picMk id="1026" creationId="{9BD77525-5504-D039-DE67-0734098BF8A9}"/>
          </ac:picMkLst>
        </pc:picChg>
        <pc:picChg chg="del">
          <ac:chgData name="SHUAI ZHAO" userId="5729ab2158e7fb06" providerId="LiveId" clId="{46A0994D-954F-4228-AA21-400F095CC26F}" dt="2026-02-25T13:14:34.585" v="14" actId="21"/>
          <ac:picMkLst>
            <pc:docMk/>
            <pc:sldMk cId="1444236082" sldId="414"/>
            <ac:picMk id="1030" creationId="{B7850E04-7584-BAFF-0133-BB040218CEB7}"/>
          </ac:picMkLst>
        </pc:picChg>
        <pc:picChg chg="del">
          <ac:chgData name="SHUAI ZHAO" userId="5729ab2158e7fb06" providerId="LiveId" clId="{46A0994D-954F-4228-AA21-400F095CC26F}" dt="2026-02-25T13:14:36.929" v="15" actId="21"/>
          <ac:picMkLst>
            <pc:docMk/>
            <pc:sldMk cId="1444236082" sldId="414"/>
            <ac:picMk id="2050" creationId="{ED79F455-14F2-F008-64FE-19E89AC9CA29}"/>
          </ac:picMkLst>
        </pc:picChg>
      </pc:sldChg>
      <pc:sldChg chg="add del">
        <pc:chgData name="SHUAI ZHAO" userId="5729ab2158e7fb06" providerId="LiveId" clId="{46A0994D-954F-4228-AA21-400F095CC26F}" dt="2026-02-25T13:15:01.271" v="17"/>
        <pc:sldMkLst>
          <pc:docMk/>
          <pc:sldMk cId="3724981680" sldId="199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83B88F-32B6-EA44-9D88-140ED3BC763F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4CCE4C-A7A9-1D44-ACDA-DE1AD7237531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4CCE4C-A7A9-1D44-ACDA-DE1AD723753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683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4CCE4C-A7A9-1D44-ACDA-DE1AD723753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678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4CCE4C-A7A9-1D44-ACDA-DE1AD723753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052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0" dirty="0"/>
              <a:t>实验中心大楼</a:t>
            </a:r>
            <a:r>
              <a:rPr lang="en-GB" altLang="zh-CN" sz="1200" b="0" dirty="0"/>
              <a:t>B203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CCE4C-A7A9-1D44-ACDA-DE1AD7237531}" type="slidenum">
              <a:rPr lang="en-GB" smtClean="0"/>
              <a:t>9</a:t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CCE4C-A7A9-1D44-ACDA-DE1AD7237531}" type="slidenum">
              <a:rPr lang="en-GB" smtClean="0"/>
              <a:t>13</a:t>
            </a:fld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CCE4C-A7A9-1D44-ACDA-DE1AD7237531}" type="slidenum">
              <a:rPr lang="en-GB" smtClean="0"/>
              <a:t>14</a:t>
            </a:fld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抽象的概念：信息表示（如数据结构）、数据变化（如算法），设计一次，应用多次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自顶向下：逐步求精</a:t>
            </a:r>
            <a:endParaRPr lang="en-US" altLang="zh-CN" dirty="0"/>
          </a:p>
          <a:p>
            <a:r>
              <a:rPr lang="zh-CN" altLang="en-US" dirty="0"/>
              <a:t>自底向上：逐步综合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语法分析中会详细展开介绍，怎么构建的自顶向下、自底向上的系统设计方法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计算思维能力：计算机理论知识、抽象思维理念、系统设计方法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理论：形式化与自动机，用语言来求解现实问题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CCE4C-A7A9-1D44-ACDA-DE1AD7237531}" type="slidenum">
              <a:rPr lang="en-GB" smtClean="0"/>
              <a:t>18</a:t>
            </a:fld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/>
              <a:t>Specification -&gt; Implementation</a:t>
            </a:r>
            <a:endParaRPr lang="zh-CN" altLang="en-US" sz="1200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4CCE4C-A7A9-1D44-ACDA-DE1AD7237531}" type="slidenum">
              <a:rPr lang="en-GB" smtClean="0"/>
              <a:t>22</a:t>
            </a:fld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CCE4C-A7A9-1D44-ACDA-DE1AD7237531}" type="slidenum">
              <a:rPr lang="en-GB" smtClean="0"/>
              <a:t>24</a:t>
            </a:fld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语义分析阶段，编译器会做语义理解和语义检查这两方面的工作</a:t>
            </a:r>
            <a:endParaRPr lang="en-US" altLang="zh-CN" b="0" i="0" dirty="0">
              <a:solidFill>
                <a:srgbClr val="4D4D4D"/>
              </a:solidFill>
              <a:effectLst/>
              <a:latin typeface="-apple-system"/>
            </a:endParaRPr>
          </a:p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文法 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-&gt;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属性文法，语义规则</a:t>
            </a:r>
            <a:endParaRPr lang="en-US" altLang="zh-CN" b="0" i="0" dirty="0">
              <a:solidFill>
                <a:srgbClr val="4D4D4D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1E512-6BEA-435C-852F-5C6627F1CF90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语义分析阶段，编译器会做语义理解和语义检查这两方面的工作</a:t>
            </a:r>
            <a:endParaRPr lang="en-US" altLang="zh-CN" b="0" i="0" dirty="0">
              <a:solidFill>
                <a:srgbClr val="4D4D4D"/>
              </a:solidFill>
              <a:effectLst/>
              <a:latin typeface="-apple-system"/>
            </a:endParaRPr>
          </a:p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文法 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-&gt;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属性文法，语义规则</a:t>
            </a:r>
            <a:endParaRPr lang="en-US" altLang="zh-CN" b="0" i="0" dirty="0">
              <a:solidFill>
                <a:srgbClr val="4D4D4D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D1E512-6BEA-435C-852F-5C6627F1CF90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4CCE4C-A7A9-1D44-ACDA-DE1AD7237531}" type="slidenum">
              <a:rPr lang="en-GB" smtClean="0"/>
              <a:t>30</a:t>
            </a:fld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IR</a:t>
            </a:r>
            <a:r>
              <a:rPr lang="zh-CN" altLang="en-US" dirty="0"/>
              <a:t>操作？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4CCE4C-A7A9-1D44-ACDA-DE1AD7237531}" type="slidenum">
              <a:rPr lang="en-GB" smtClean="0"/>
              <a:t>32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007911"/>
            <a:ext cx="12192000" cy="5740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665" b="1">
                <a:solidFill>
                  <a:srgbClr val="FF0000"/>
                </a:solidFill>
                <a:latin typeface="+mn-lt"/>
              </a:defRPr>
            </a:lvl1pPr>
          </a:lstStyle>
          <a:p>
            <a:pPr lvl="0"/>
            <a:r>
              <a:rPr lang="en-US" noProof="0" dirty="0"/>
              <a:t>Logos are allowed on this page only!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2" hasCustomPrompt="1"/>
          </p:nvPr>
        </p:nvSpPr>
        <p:spPr>
          <a:xfrm>
            <a:off x="1" y="4242124"/>
            <a:ext cx="12192000" cy="15901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665" b="1" baseline="0">
                <a:latin typeface="+mn-lt"/>
              </a:defRPr>
            </a:lvl1pPr>
          </a:lstStyle>
          <a:p>
            <a:pPr lvl="0"/>
            <a:r>
              <a:rPr lang="en-US" noProof="0" dirty="0"/>
              <a:t>Name(s) and Affiliation(s)</a:t>
            </a:r>
          </a:p>
        </p:txBody>
      </p:sp>
      <p:sp>
        <p:nvSpPr>
          <p:cNvPr id="17" name="Title 16"/>
          <p:cNvSpPr>
            <a:spLocks noGrp="1"/>
          </p:cNvSpPr>
          <p:nvPr>
            <p:ph type="title" hasCustomPrompt="1"/>
          </p:nvPr>
        </p:nvSpPr>
        <p:spPr>
          <a:xfrm>
            <a:off x="2" y="2379312"/>
            <a:ext cx="12191999" cy="1792041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5335" b="1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noProof="0" dirty="0"/>
              <a:t>Presentation 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8666" y="1355751"/>
            <a:ext cx="11294669" cy="4821213"/>
          </a:xfrm>
          <a:prstGeom prst="rect">
            <a:avLst/>
          </a:prstGeom>
        </p:spPr>
        <p:txBody>
          <a:bodyPr wrap="square">
            <a:normAutofit/>
          </a:bodyPr>
          <a:lstStyle>
            <a:lvl1pPr>
              <a:defRPr sz="3200" b="1"/>
            </a:lvl1pPr>
            <a:lvl2pPr>
              <a:defRPr sz="2665" b="1"/>
            </a:lvl2pPr>
            <a:lvl3pPr>
              <a:defRPr sz="2665" b="1"/>
            </a:lvl3pPr>
            <a:lvl4pPr>
              <a:defRPr sz="2665" b="1"/>
            </a:lvl4pPr>
            <a:lvl5pPr>
              <a:defRPr sz="2665" b="1"/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2665" b="1"/>
            </a:lvl6pPr>
            <a:lvl7pPr>
              <a:defRPr sz="2665" b="1"/>
            </a:lvl7pPr>
            <a:lvl8pPr>
              <a:defRPr sz="2665" b="1"/>
            </a:lvl8pPr>
            <a:lvl9pPr>
              <a:defRPr sz="2665" b="1"/>
            </a:lvl9pPr>
          </a:lstStyle>
          <a:p>
            <a:pPr lvl="0"/>
            <a:r>
              <a:rPr lang="en-US" noProof="0" dirty="0"/>
              <a:t>First Level Content</a:t>
            </a:r>
          </a:p>
          <a:p>
            <a:pPr lvl="1"/>
            <a:r>
              <a:rPr lang="en-US" noProof="0" dirty="0"/>
              <a:t>Second Level Content</a:t>
            </a:r>
          </a:p>
          <a:p>
            <a:pPr lvl="2"/>
            <a:r>
              <a:rPr lang="en-US" noProof="0" dirty="0"/>
              <a:t>Third Level Content</a:t>
            </a:r>
          </a:p>
          <a:p>
            <a:pPr lvl="3"/>
            <a:r>
              <a:rPr lang="en-US" noProof="0" dirty="0"/>
              <a:t>Fourth Level Content</a:t>
            </a:r>
          </a:p>
          <a:p>
            <a:pPr lvl="4"/>
            <a:r>
              <a:rPr lang="en-US" noProof="0" dirty="0"/>
              <a:t>Fifth Level Content</a:t>
            </a:r>
          </a:p>
          <a:p>
            <a:pPr marL="2514600" marR="0" lvl="5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noProof="0" dirty="0"/>
              <a:t>Sixth Level Content</a:t>
            </a:r>
          </a:p>
          <a:p>
            <a:pPr lvl="6"/>
            <a:r>
              <a:rPr lang="en-US" noProof="0" dirty="0"/>
              <a:t>Seventh Level Content</a:t>
            </a:r>
          </a:p>
          <a:p>
            <a:pPr lvl="7"/>
            <a:r>
              <a:rPr lang="en-US" noProof="0" dirty="0"/>
              <a:t>Eight Level Content</a:t>
            </a:r>
          </a:p>
          <a:p>
            <a:pPr lvl="8"/>
            <a:r>
              <a:rPr lang="en-US" noProof="0" dirty="0"/>
              <a:t>Ninth Level Content</a:t>
            </a:r>
          </a:p>
        </p:txBody>
      </p:sp>
      <p:sp>
        <p:nvSpPr>
          <p:cNvPr id="25" name="Title 24"/>
          <p:cNvSpPr>
            <a:spLocks noGrp="1"/>
          </p:cNvSpPr>
          <p:nvPr>
            <p:ph type="title" hasCustomPrompt="1"/>
          </p:nvPr>
        </p:nvSpPr>
        <p:spPr>
          <a:xfrm>
            <a:off x="181583" y="126792"/>
            <a:ext cx="11828835" cy="770536"/>
          </a:xfrm>
          <a:prstGeom prst="rect">
            <a:avLst/>
          </a:prstGeom>
        </p:spPr>
        <p:txBody>
          <a:bodyPr wrap="none" anchor="ctr" anchorCtr="0">
            <a:noAutofit/>
          </a:bodyPr>
          <a:lstStyle>
            <a:lvl1pPr>
              <a:defRPr b="1">
                <a:solidFill>
                  <a:sysClr val="windowText" lastClr="000000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sp>
        <p:nvSpPr>
          <p:cNvPr id="32" name="Date Placeholder 31"/>
          <p:cNvSpPr>
            <a:spLocks noGrp="1"/>
          </p:cNvSpPr>
          <p:nvPr>
            <p:ph type="dt" sz="half" idx="10"/>
          </p:nvPr>
        </p:nvSpPr>
        <p:spPr>
          <a:xfrm>
            <a:off x="448666" y="6356351"/>
            <a:ext cx="3132735" cy="365125"/>
          </a:xfrm>
          <a:prstGeom prst="rect">
            <a:avLst/>
          </a:prstGeom>
        </p:spPr>
        <p:txBody>
          <a:bodyPr anchor="b"/>
          <a:lstStyle>
            <a:lvl1pPr>
              <a:defRPr sz="1600"/>
            </a:lvl1pPr>
          </a:lstStyle>
          <a:p>
            <a:fld id="{84175BF1-37F0-45AF-AE8E-509AB62BA502}" type="datetime3">
              <a:rPr lang="en-US" noProof="1" smtClean="0"/>
              <a:t>25 February 2026</a:t>
            </a:fld>
            <a:endParaRPr lang="en-US" noProof="1"/>
          </a:p>
        </p:txBody>
      </p:sp>
      <p:sp>
        <p:nvSpPr>
          <p:cNvPr id="33" name="Footer Placeholder 3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anchor="b"/>
          <a:lstStyle>
            <a:lvl1pPr algn="ctr">
              <a:defRPr sz="1600"/>
            </a:lvl1pPr>
          </a:lstStyle>
          <a:p>
            <a:r>
              <a:rPr lang="en-US" noProof="1"/>
              <a:t>your name / affiliation here</a:t>
            </a: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>
          <a:xfrm>
            <a:off x="8610599" y="6356351"/>
            <a:ext cx="3132735" cy="365125"/>
          </a:xfrm>
          <a:prstGeom prst="rect">
            <a:avLst/>
          </a:prstGeom>
        </p:spPr>
        <p:txBody>
          <a:bodyPr anchor="b"/>
          <a:lstStyle>
            <a:lvl1pPr algn="r">
              <a:defRPr sz="1600"/>
            </a:lvl1pPr>
          </a:lstStyle>
          <a:p>
            <a:fld id="{22DECF6A-13F7-418C-BBFC-95033FFCD5F1}" type="slidenum">
              <a:rPr lang="en-US" noProof="1" smtClean="0"/>
              <a:t>‹#›</a:t>
            </a:fld>
            <a:endParaRPr lang="en-US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>
          <a:xfrm>
            <a:off x="448666" y="6356351"/>
            <a:ext cx="3132735" cy="365125"/>
          </a:xfrm>
          <a:prstGeom prst="rect">
            <a:avLst/>
          </a:prstGeom>
        </p:spPr>
        <p:txBody>
          <a:bodyPr anchor="b"/>
          <a:lstStyle>
            <a:lvl1pPr>
              <a:defRPr sz="1600"/>
            </a:lvl1pPr>
          </a:lstStyle>
          <a:p>
            <a:fld id="{0DC8E6F3-89B9-4F92-AFC5-576D70B3B720}" type="datetime3">
              <a:rPr lang="en-US" noProof="1" smtClean="0"/>
              <a:t>25 February 2026</a:t>
            </a:fld>
            <a:endParaRPr lang="en-US" noProof="1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anchor="b"/>
          <a:lstStyle>
            <a:lvl1pPr algn="ctr">
              <a:defRPr sz="1600"/>
            </a:lvl1pPr>
          </a:lstStyle>
          <a:p>
            <a:r>
              <a:rPr lang="en-US" noProof="1"/>
              <a:t>your name / affiliation here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>
          <a:xfrm>
            <a:off x="8610599" y="6356351"/>
            <a:ext cx="3132735" cy="365125"/>
          </a:xfrm>
          <a:prstGeom prst="rect">
            <a:avLst/>
          </a:prstGeom>
        </p:spPr>
        <p:txBody>
          <a:bodyPr anchor="b"/>
          <a:lstStyle>
            <a:lvl1pPr algn="r">
              <a:defRPr sz="1600"/>
            </a:lvl1pPr>
          </a:lstStyle>
          <a:p>
            <a:fld id="{22DECF6A-13F7-418C-BBFC-95033FFCD5F1}" type="slidenum">
              <a:rPr lang="en-US" noProof="1" smtClean="0"/>
              <a:t>‹#›</a:t>
            </a:fld>
            <a:endParaRPr lang="en-US" noProof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1583" y="126792"/>
            <a:ext cx="11828835" cy="770536"/>
          </a:xfrm>
          <a:prstGeom prst="rect">
            <a:avLst/>
          </a:prstGeom>
        </p:spPr>
        <p:txBody>
          <a:bodyPr wrap="none">
            <a:noAutofit/>
          </a:bodyPr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no watermark)">
  <p:cSld name="Blank (no watermark)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3"/>
          <p:cNvSpPr>
            <a:spLocks noChangeShapeType="1"/>
          </p:cNvSpPr>
          <p:nvPr userDrawn="1"/>
        </p:nvSpPr>
        <p:spPr bwMode="auto">
          <a:xfrm>
            <a:off x="0" y="897328"/>
            <a:ext cx="12192000" cy="0"/>
          </a:xfrm>
          <a:prstGeom prst="line">
            <a:avLst/>
          </a:prstGeom>
          <a:noFill/>
          <a:ln w="25400" cap="flat" cmpd="sng">
            <a:solidFill>
              <a:schemeClr val="accent6">
                <a:lumMod val="75000"/>
              </a:schemeClr>
            </a:solidFill>
            <a:prstDash val="solid"/>
            <a:round/>
          </a:ln>
          <a:effectLst/>
        </p:spPr>
        <p:txBody>
          <a:bodyPr lIns="0" tIns="0" rIns="0" bIns="0" anchor="ctr"/>
          <a:lstStyle/>
          <a:p>
            <a:pPr marL="0" marR="0" lvl="0" indent="0" defTabSz="1219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21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hyperlink" Target="https://web.uettaxila.edu.pk/cped/SwarmRoboticsLab.asp" TargetMode="External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12" Type="http://schemas.openxmlformats.org/officeDocument/2006/relationships/hyperlink" Target="https://ec.europa.eu/eurostat/web/products-eurostat-news/-/ddn-20171023-1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11" Type="http://schemas.openxmlformats.org/officeDocument/2006/relationships/hyperlink" Target="https://en.wikipedia.org/wiki/Regulation_of_unmanned_aerial_vehicles" TargetMode="External"/><Relationship Id="rId5" Type="http://schemas.openxmlformats.org/officeDocument/2006/relationships/image" Target="../media/image5.jpeg"/><Relationship Id="rId10" Type="http://schemas.openxmlformats.org/officeDocument/2006/relationships/hyperlink" Target="https://www.tiempo-secure.com/blog/" TargetMode="External"/><Relationship Id="rId4" Type="http://schemas.openxmlformats.org/officeDocument/2006/relationships/image" Target="../media/image4.jpeg"/><Relationship Id="rId9" Type="http://schemas.openxmlformats.org/officeDocument/2006/relationships/image" Target="../media/image9.png"/><Relationship Id="rId1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GIF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3.jpe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hyperlink" Target="https://rtscompiler2026.github.io/dcs290/2026Spring" TargetMode="External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hyperlink" Target="mailto:zhaosh56@mail.sysu.edu.cn" TargetMode="External"/><Relationship Id="rId4" Type="http://schemas.openxmlformats.org/officeDocument/2006/relationships/hyperlink" Target="https://rtscompiler.github.io/dcs290/2024Spring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2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23.png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image" Target="../media/image3.jpeg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image" Target="../media/image2.jpeg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1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tags" Target="../tags/tag51.xml"/><Relationship Id="rId18" Type="http://schemas.openxmlformats.org/officeDocument/2006/relationships/tags" Target="../tags/tag56.xml"/><Relationship Id="rId3" Type="http://schemas.openxmlformats.org/officeDocument/2006/relationships/tags" Target="../tags/tag41.xml"/><Relationship Id="rId21" Type="http://schemas.openxmlformats.org/officeDocument/2006/relationships/image" Target="../media/image24.jpeg"/><Relationship Id="rId7" Type="http://schemas.openxmlformats.org/officeDocument/2006/relationships/tags" Target="../tags/tag45.xml"/><Relationship Id="rId12" Type="http://schemas.openxmlformats.org/officeDocument/2006/relationships/tags" Target="../tags/tag50.xml"/><Relationship Id="rId17" Type="http://schemas.openxmlformats.org/officeDocument/2006/relationships/tags" Target="../tags/tag55.xml"/><Relationship Id="rId2" Type="http://schemas.openxmlformats.org/officeDocument/2006/relationships/tags" Target="../tags/tag40.xml"/><Relationship Id="rId16" Type="http://schemas.openxmlformats.org/officeDocument/2006/relationships/tags" Target="../tags/tag54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tags" Target="../tags/tag49.xml"/><Relationship Id="rId5" Type="http://schemas.openxmlformats.org/officeDocument/2006/relationships/tags" Target="../tags/tag43.xml"/><Relationship Id="rId15" Type="http://schemas.openxmlformats.org/officeDocument/2006/relationships/tags" Target="../tags/tag53.xml"/><Relationship Id="rId10" Type="http://schemas.openxmlformats.org/officeDocument/2006/relationships/tags" Target="../tags/tag48.xml"/><Relationship Id="rId19" Type="http://schemas.openxmlformats.org/officeDocument/2006/relationships/tags" Target="../tags/tag57.xml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tags" Target="../tags/tag52.xml"/><Relationship Id="rId22" Type="http://schemas.openxmlformats.org/officeDocument/2006/relationships/image" Target="../media/image25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1" y="4146328"/>
            <a:ext cx="12192000" cy="2392088"/>
          </a:xfrm>
        </p:spPr>
        <p:txBody>
          <a:bodyPr>
            <a:normAutofit/>
          </a:bodyPr>
          <a:lstStyle/>
          <a:p>
            <a:r>
              <a:rPr lang="zh-CN" altLang="en-US" sz="3735" dirty="0">
                <a:latin typeface="宋体" panose="02010600030101010101" pitchFamily="2" charset="-122"/>
                <a:ea typeface="宋体" panose="02010600030101010101" pitchFamily="2" charset="-122"/>
              </a:rPr>
              <a:t>赵帅</a:t>
            </a:r>
            <a:endParaRPr lang="en-US" altLang="zh-CN" sz="3735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535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计算机学院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中山大学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" y="1901419"/>
            <a:ext cx="12191999" cy="1621149"/>
          </a:xfrm>
        </p:spPr>
        <p:txBody>
          <a:bodyPr/>
          <a:lstStyle/>
          <a:p>
            <a:r>
              <a:rPr lang="en-US" altLang="zh-CN" dirty="0"/>
              <a:t>Introduction to </a:t>
            </a:r>
            <a:br>
              <a:rPr lang="en-US" altLang="zh-CN" dirty="0"/>
            </a:br>
            <a:r>
              <a:rPr lang="en-US" altLang="zh-CN" dirty="0"/>
              <a:t>Compilation Principle</a:t>
            </a:r>
            <a:endParaRPr lang="zh-CN" altLang="en-US" sz="4800" dirty="0"/>
          </a:p>
        </p:txBody>
      </p:sp>
      <p:grpSp>
        <p:nvGrpSpPr>
          <p:cNvPr id="5" name="组合 4"/>
          <p:cNvGrpSpPr/>
          <p:nvPr/>
        </p:nvGrpSpPr>
        <p:grpSpPr>
          <a:xfrm>
            <a:off x="219125" y="2"/>
            <a:ext cx="1521999" cy="1677172"/>
            <a:chOff x="4705866" y="0"/>
            <a:chExt cx="2236110" cy="2464091"/>
          </a:xfrm>
        </p:grpSpPr>
        <p:grpSp>
          <p:nvGrpSpPr>
            <p:cNvPr id="6" name="组合 5"/>
            <p:cNvGrpSpPr/>
            <p:nvPr/>
          </p:nvGrpSpPr>
          <p:grpSpPr>
            <a:xfrm>
              <a:off x="4705866" y="0"/>
              <a:ext cx="2236110" cy="2464091"/>
              <a:chOff x="4705866" y="0"/>
              <a:chExt cx="2780268" cy="3063728"/>
            </a:xfrm>
          </p:grpSpPr>
          <p:sp>
            <p:nvSpPr>
              <p:cNvPr id="8" name="任意多边形 27"/>
              <p:cNvSpPr/>
              <p:nvPr/>
            </p:nvSpPr>
            <p:spPr>
              <a:xfrm>
                <a:off x="4705866" y="0"/>
                <a:ext cx="2780268" cy="3063728"/>
              </a:xfrm>
              <a:custGeom>
                <a:avLst/>
                <a:gdLst>
                  <a:gd name="connsiteX0" fmla="*/ 0 w 2780268"/>
                  <a:gd name="connsiteY0" fmla="*/ 0 h 3063728"/>
                  <a:gd name="connsiteX1" fmla="*/ 2780268 w 2780268"/>
                  <a:gd name="connsiteY1" fmla="*/ 0 h 3063728"/>
                  <a:gd name="connsiteX2" fmla="*/ 2780268 w 2780268"/>
                  <a:gd name="connsiteY2" fmla="*/ 1673594 h 3063728"/>
                  <a:gd name="connsiteX3" fmla="*/ 1390134 w 2780268"/>
                  <a:gd name="connsiteY3" fmla="*/ 3063728 h 3063728"/>
                  <a:gd name="connsiteX4" fmla="*/ 0 w 2780268"/>
                  <a:gd name="connsiteY4" fmla="*/ 1673594 h 306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80268" h="3063728">
                    <a:moveTo>
                      <a:pt x="0" y="0"/>
                    </a:moveTo>
                    <a:lnTo>
                      <a:pt x="2780268" y="0"/>
                    </a:lnTo>
                    <a:lnTo>
                      <a:pt x="2780268" y="1673594"/>
                    </a:lnTo>
                    <a:cubicBezTo>
                      <a:pt x="2780268" y="2441344"/>
                      <a:pt x="2157884" y="3063728"/>
                      <a:pt x="1390134" y="3063728"/>
                    </a:cubicBezTo>
                    <a:cubicBezTo>
                      <a:pt x="622384" y="3063728"/>
                      <a:pt x="0" y="2441344"/>
                      <a:pt x="0" y="1673594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09600"/>
                <a:endParaRPr lang="zh-CN" altLang="en-US" sz="2400">
                  <a:solidFill>
                    <a:prstClr val="white"/>
                  </a:solidFill>
                  <a:latin typeface="Calibri" panose="020F0502020204030204"/>
                  <a:ea typeface="等线" panose="02010600030101010101" charset="-122"/>
                </a:endParaRPr>
              </a:p>
            </p:txBody>
          </p:sp>
          <p:grpSp>
            <p:nvGrpSpPr>
              <p:cNvPr id="9" name="组合 8"/>
              <p:cNvGrpSpPr/>
              <p:nvPr/>
            </p:nvGrpSpPr>
            <p:grpSpPr>
              <a:xfrm>
                <a:off x="4875891" y="408799"/>
                <a:ext cx="2439190" cy="2439192"/>
                <a:chOff x="5007734" y="902247"/>
                <a:chExt cx="2543685" cy="2543686"/>
              </a:xfrm>
            </p:grpSpPr>
            <p:sp>
              <p:nvSpPr>
                <p:cNvPr id="10" name="椭圆 9"/>
                <p:cNvSpPr/>
                <p:nvPr/>
              </p:nvSpPr>
              <p:spPr>
                <a:xfrm>
                  <a:off x="5007734" y="902247"/>
                  <a:ext cx="2543685" cy="254368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E8E8E8"/>
                    </a:gs>
                  </a:gsLst>
                  <a:lin ang="5400000" scaled="1"/>
                  <a:tileRect/>
                </a:gradFill>
                <a:ln>
                  <a:noFill/>
                </a:ln>
                <a:effectLst>
                  <a:outerShdw blurRad="139700" dist="38100" dir="5400000" algn="t" rotWithShape="0">
                    <a:prstClr val="black">
                      <a:alpha val="1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09600"/>
                  <a:endParaRPr lang="zh-CN" altLang="en-US" sz="2400">
                    <a:solidFill>
                      <a:prstClr val="white"/>
                    </a:solidFill>
                    <a:latin typeface="Calibri" panose="020F0502020204030204"/>
                    <a:ea typeface="等线" panose="02010600030101010101" charset="-122"/>
                  </a:endParaRPr>
                </a:p>
              </p:txBody>
            </p:sp>
            <p:sp>
              <p:nvSpPr>
                <p:cNvPr id="11" name="椭圆 10"/>
                <p:cNvSpPr/>
                <p:nvPr/>
              </p:nvSpPr>
              <p:spPr>
                <a:xfrm rot="10800000">
                  <a:off x="5160137" y="1054647"/>
                  <a:ext cx="2213120" cy="22131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rgbClr val="E8E8E8"/>
                    </a:gs>
                  </a:gsLst>
                  <a:lin ang="5400000" scaled="1"/>
                  <a:tileRect/>
                </a:gradFill>
                <a:ln>
                  <a:noFill/>
                </a:ln>
                <a:effectLst>
                  <a:innerShdw blurRad="88900">
                    <a:prstClr val="black">
                      <a:alpha val="16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09600"/>
                  <a:endParaRPr lang="zh-CN" altLang="en-US" sz="2400">
                    <a:solidFill>
                      <a:prstClr val="white"/>
                    </a:solidFill>
                    <a:latin typeface="Calibri" panose="020F0502020204030204"/>
                    <a:ea typeface="等线" panose="02010600030101010101" charset="-122"/>
                  </a:endParaRPr>
                </a:p>
              </p:txBody>
            </p:sp>
          </p:grpSp>
        </p:grp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5222" y="650635"/>
              <a:ext cx="1557399" cy="1552910"/>
            </a:xfrm>
            <a:prstGeom prst="rect">
              <a:avLst/>
            </a:prstGeom>
          </p:spPr>
        </p:pic>
      </p:grpSp>
      <p:sp>
        <p:nvSpPr>
          <p:cNvPr id="12" name="Line 3"/>
          <p:cNvSpPr>
            <a:spLocks noChangeShapeType="1"/>
          </p:cNvSpPr>
          <p:nvPr/>
        </p:nvSpPr>
        <p:spPr bwMode="auto">
          <a:xfrm>
            <a:off x="129966" y="3834448"/>
            <a:ext cx="11870181" cy="0"/>
          </a:xfrm>
          <a:prstGeom prst="line">
            <a:avLst/>
          </a:prstGeom>
          <a:noFill/>
          <a:ln w="25400" cap="flat" cmpd="sng">
            <a:solidFill>
              <a:schemeClr val="accent6">
                <a:lumMod val="75000"/>
              </a:schemeClr>
            </a:solidFill>
            <a:prstDash val="solid"/>
            <a:round/>
          </a:ln>
          <a:effectLst/>
        </p:spPr>
        <p:txBody>
          <a:bodyPr lIns="0" tIns="0" rIns="0" bIns="0" anchor="ctr"/>
          <a:lstStyle/>
          <a:p>
            <a:pPr defTabSz="1219200">
              <a:defRPr/>
            </a:pPr>
            <a:endParaRPr lang="zh-CN" altLang="zh-CN" sz="2135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48666" y="1216233"/>
            <a:ext cx="11294669" cy="5209967"/>
          </a:xfrm>
        </p:spPr>
        <p:txBody>
          <a:bodyPr>
            <a:normAutofit/>
          </a:bodyPr>
          <a:lstStyle/>
          <a:p>
            <a:r>
              <a:rPr lang="zh-CN" altLang="en-US" sz="2800" b="0" dirty="0"/>
              <a:t>年级：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大三年</a:t>
            </a:r>
            <a:r>
              <a:rPr lang="zh-CN" altLang="en-US" sz="2400" b="0" dirty="0">
                <a:sym typeface="+mn-ea"/>
              </a:rPr>
              <a:t>级</a:t>
            </a:r>
            <a:r>
              <a:rPr lang="zh-CN" altLang="en-US" sz="2400" b="0" dirty="0"/>
              <a:t>学生、第二学期</a:t>
            </a:r>
            <a:endParaRPr lang="en-US" altLang="zh-CN" sz="2400" b="0" dirty="0"/>
          </a:p>
          <a:p>
            <a:r>
              <a:rPr lang="zh-CN" altLang="en-US" sz="2800" b="0" dirty="0"/>
              <a:t>先修课程：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计算机组成原理、汇编语言、数据结构、编程语言设计等</a:t>
            </a:r>
            <a:endParaRPr lang="en-US" altLang="zh-CN" sz="2400" b="0" dirty="0"/>
          </a:p>
          <a:p>
            <a:r>
              <a:rPr lang="zh-CN" altLang="en-US" sz="2800" b="0" dirty="0"/>
              <a:t>理论课：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核心问题：</a:t>
            </a:r>
            <a:r>
              <a:rPr lang="zh-CN" altLang="en-US" sz="2400" dirty="0">
                <a:solidFill>
                  <a:srgbClr val="C00000"/>
                </a:solidFill>
              </a:rPr>
              <a:t>一个高级语言编写的程序，最后如何在计算机上运行？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讲解编译原理中的核心理论与技术方法</a:t>
            </a:r>
            <a:endParaRPr lang="en-US" altLang="zh-CN" sz="2400" b="0" dirty="0"/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b="0" dirty="0"/>
              <a:t>词法分析、语法分析、语义分析、代码生成、代码优化等</a:t>
            </a:r>
            <a:endParaRPr lang="en-US" altLang="zh-CN" sz="2000" b="0" dirty="0"/>
          </a:p>
          <a:p>
            <a:r>
              <a:rPr lang="zh-CN" altLang="en-US" sz="2800" b="0" dirty="0"/>
              <a:t>实验课：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独立课程、配合理论课协同进行</a:t>
            </a:r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应用编译原理中的技术方法</a:t>
            </a:r>
            <a:endParaRPr lang="en-US" altLang="zh-CN" sz="2400" b="0" dirty="0"/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en-US" altLang="zh-CN" sz="2000" b="0" dirty="0"/>
              <a:t>Java</a:t>
            </a:r>
            <a:r>
              <a:rPr lang="zh-CN" altLang="en-US" sz="2000" b="0" dirty="0"/>
              <a:t>编程、语言处理、逆向工程工具等</a:t>
            </a:r>
            <a:endParaRPr lang="en-US" altLang="zh-CN" sz="2000" b="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Module</a:t>
            </a:r>
            <a:r>
              <a:rPr lang="en-US" altLang="zh-CN" sz="3600" b="0" dirty="0">
                <a:latin typeface="+mn-ea"/>
                <a:ea typeface="+mn-ea"/>
              </a:rPr>
              <a:t>[</a:t>
            </a:r>
            <a:r>
              <a:rPr lang="zh-CN" altLang="en-US" sz="3600" b="0" dirty="0">
                <a:latin typeface="+mn-ea"/>
                <a:ea typeface="+mn-ea"/>
              </a:rPr>
              <a:t>课程介绍</a:t>
            </a:r>
            <a:r>
              <a:rPr lang="en-US" altLang="zh-CN" sz="3600" b="0" dirty="0">
                <a:latin typeface="+mn-ea"/>
                <a:ea typeface="+mn-ea"/>
              </a:rPr>
              <a:t>]</a:t>
            </a:r>
            <a:endParaRPr lang="zh-CN" altLang="en-US" b="0" dirty="0">
              <a:latin typeface="+mn-ea"/>
              <a:ea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2</a:t>
            </a:fld>
            <a:endParaRPr lang="en-US" noProof="1"/>
          </a:p>
        </p:txBody>
      </p:sp>
      <p:pic>
        <p:nvPicPr>
          <p:cNvPr id="7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48666" y="1216231"/>
            <a:ext cx="11294669" cy="5505245"/>
          </a:xfrm>
        </p:spPr>
        <p:txBody>
          <a:bodyPr>
            <a:normAutofit/>
          </a:bodyPr>
          <a:lstStyle/>
          <a:p>
            <a:r>
              <a:rPr lang="zh-CN" altLang="en-US" sz="2400" b="0" dirty="0"/>
              <a:t>教育经历：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en-US" altLang="zh-CN" sz="2000" b="0" dirty="0"/>
              <a:t>2013.10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-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2018.08</a:t>
            </a:r>
            <a:r>
              <a:rPr lang="zh-CN" altLang="en-US" sz="2000" b="0" dirty="0"/>
              <a:t>，硕</a:t>
            </a:r>
            <a:r>
              <a:rPr lang="en-US" altLang="zh-CN" sz="2000" b="0" dirty="0"/>
              <a:t>&amp;</a:t>
            </a:r>
            <a:r>
              <a:rPr lang="zh-CN" altLang="en-US" sz="2000" b="0" dirty="0"/>
              <a:t>博，约克大学</a:t>
            </a:r>
            <a:endParaRPr lang="en-US" altLang="zh-CN" sz="20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en-US" altLang="zh-CN" sz="2000" b="0" dirty="0"/>
              <a:t>2008.09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–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2012.07</a:t>
            </a:r>
            <a:r>
              <a:rPr lang="zh-CN" altLang="en-US" sz="2000" b="0" dirty="0"/>
              <a:t>，本科，西安工业大学</a:t>
            </a:r>
            <a:endParaRPr lang="en-US" altLang="zh-CN" sz="2000" b="0" dirty="0"/>
          </a:p>
          <a:p>
            <a:r>
              <a:rPr lang="zh-CN" altLang="en-US" sz="2400" b="0" dirty="0"/>
              <a:t>工作经历：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en-US" altLang="zh-CN" sz="2000" b="0" dirty="0"/>
              <a:t>2022.09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-</a:t>
            </a:r>
            <a:r>
              <a:rPr lang="zh-CN" altLang="en-US" sz="2000" b="0" dirty="0"/>
              <a:t> 至今，中山大学，副教授</a:t>
            </a:r>
            <a:endParaRPr lang="en-US" altLang="zh-CN" sz="20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en-US" altLang="zh-CN" sz="2000" b="0" dirty="0"/>
              <a:t>2018.10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-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2022.09</a:t>
            </a:r>
            <a:r>
              <a:rPr lang="zh-CN" altLang="en-US" sz="2000" b="0" dirty="0"/>
              <a:t>，博士后，约克大学</a:t>
            </a:r>
            <a:endParaRPr lang="en-US" altLang="zh-CN" sz="2000" b="0" dirty="0"/>
          </a:p>
          <a:p>
            <a:r>
              <a:rPr lang="zh-CN" altLang="en-US" sz="2400" b="0" dirty="0"/>
              <a:t>研究方向：嵌入式与实时系统，操作系统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000" b="0" dirty="0"/>
              <a:t>任务调度与分配</a:t>
            </a:r>
            <a:endParaRPr lang="en-US" altLang="zh-CN" sz="20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000" b="0" dirty="0"/>
              <a:t>系统资源管理</a:t>
            </a:r>
            <a:endParaRPr lang="en-US" altLang="zh-CN" sz="20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000" b="0" dirty="0"/>
              <a:t>软硬件协同设计</a:t>
            </a:r>
            <a:endParaRPr lang="en-US" altLang="zh-CN" sz="20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000" b="0" dirty="0"/>
              <a:t>安全关键编程</a:t>
            </a:r>
            <a:endParaRPr lang="en-US" altLang="zh-CN" sz="2000" b="0" dirty="0"/>
          </a:p>
          <a:p>
            <a:r>
              <a:rPr lang="zh-CN" altLang="en-US" sz="2400" b="0" dirty="0"/>
              <a:t>课程：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000" b="0" dirty="0"/>
              <a:t>本科</a:t>
            </a:r>
            <a:r>
              <a:rPr lang="en-US" altLang="zh-CN" sz="2000" b="0" dirty="0"/>
              <a:t>《</a:t>
            </a:r>
            <a:r>
              <a:rPr lang="zh-CN" altLang="en-US" sz="2000" b="0" dirty="0"/>
              <a:t>编译原理</a:t>
            </a:r>
            <a:r>
              <a:rPr lang="en-US" altLang="zh-CN" sz="2000" b="0" dirty="0"/>
              <a:t>》</a:t>
            </a:r>
            <a:r>
              <a:rPr lang="zh-CN" altLang="en-US" sz="2000" b="0" dirty="0"/>
              <a:t>、</a:t>
            </a:r>
            <a:r>
              <a:rPr lang="en-US" altLang="zh-CN" sz="2000" b="0" dirty="0"/>
              <a:t>《</a:t>
            </a:r>
            <a:r>
              <a:rPr lang="zh-CN" altLang="en-US" sz="2000" b="0" dirty="0"/>
              <a:t>编译器构造实验</a:t>
            </a:r>
            <a:r>
              <a:rPr lang="en-US" altLang="zh-CN" sz="2000" b="0" dirty="0"/>
              <a:t>》</a:t>
            </a:r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000" b="0" dirty="0"/>
              <a:t>研究生</a:t>
            </a:r>
            <a:r>
              <a:rPr lang="en-US" altLang="zh-CN" sz="2000" b="0" dirty="0"/>
              <a:t>《</a:t>
            </a:r>
            <a:r>
              <a:rPr lang="zh-CN" altLang="en-US" sz="2000" b="0" dirty="0"/>
              <a:t>嵌入式系统</a:t>
            </a:r>
            <a:r>
              <a:rPr lang="en-US" altLang="zh-CN" sz="2000" b="0" dirty="0"/>
              <a:t>》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Instructor</a:t>
            </a:r>
            <a:r>
              <a:rPr lang="en-US" altLang="zh-CN" sz="3600" b="0" dirty="0">
                <a:latin typeface="+mn-ea"/>
                <a:ea typeface="+mn-ea"/>
              </a:rPr>
              <a:t>[</a:t>
            </a:r>
            <a:r>
              <a:rPr lang="zh-CN" altLang="en-US" sz="3600" b="0" dirty="0">
                <a:latin typeface="+mn-ea"/>
                <a:ea typeface="+mn-ea"/>
              </a:rPr>
              <a:t>关于教师</a:t>
            </a:r>
            <a:r>
              <a:rPr lang="en-US" altLang="zh-CN" sz="3600" b="0" dirty="0">
                <a:latin typeface="+mn-ea"/>
                <a:ea typeface="+mn-ea"/>
              </a:rPr>
              <a:t>]</a:t>
            </a:r>
            <a:endParaRPr lang="zh-CN" altLang="en-US" b="0" dirty="0">
              <a:latin typeface="+mn-ea"/>
              <a:ea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3</a:t>
            </a:fld>
            <a:endParaRPr lang="en-US" noProof="1"/>
          </a:p>
        </p:txBody>
      </p:sp>
      <p:pic>
        <p:nvPicPr>
          <p:cNvPr id="7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组合 9"/>
          <p:cNvGrpSpPr/>
          <p:nvPr/>
        </p:nvGrpSpPr>
        <p:grpSpPr>
          <a:xfrm>
            <a:off x="6685165" y="2969778"/>
            <a:ext cx="4396583" cy="2721006"/>
            <a:chOff x="6430699" y="3453289"/>
            <a:chExt cx="4690747" cy="2903062"/>
          </a:xfrm>
        </p:grpSpPr>
        <p:pic>
          <p:nvPicPr>
            <p:cNvPr id="4" name="图片 3" descr="图片包含 桌子, 设备, 大, 男人&#10;&#10;描述已自动生成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0699" y="4945655"/>
              <a:ext cx="2305945" cy="1410696"/>
            </a:xfrm>
            <a:prstGeom prst="rect">
              <a:avLst/>
            </a:prstGeom>
          </p:spPr>
        </p:pic>
        <p:pic>
          <p:nvPicPr>
            <p:cNvPr id="5" name="图片 4" descr="公路上的汽车&#10;&#10;描述已自动生成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0700" y="3460463"/>
              <a:ext cx="2305945" cy="1410696"/>
            </a:xfrm>
            <a:prstGeom prst="rect">
              <a:avLst/>
            </a:prstGeom>
          </p:spPr>
        </p:pic>
        <p:pic>
          <p:nvPicPr>
            <p:cNvPr id="8" name="图片 7" descr="飞机在飞行&#10;&#10;描述已自动生成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15501" y="3453289"/>
              <a:ext cx="2305945" cy="1410696"/>
            </a:xfrm>
            <a:prstGeom prst="rect">
              <a:avLst/>
            </a:prstGeom>
          </p:spPr>
        </p:pic>
        <p:pic>
          <p:nvPicPr>
            <p:cNvPr id="9" name="图片 8" descr="许多汽车在行驶&#10;&#10;描述已自动生成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15501" y="4941364"/>
              <a:ext cx="2305945" cy="1410696"/>
            </a:xfrm>
            <a:prstGeom prst="rect">
              <a:avLst/>
            </a:prstGeom>
          </p:spPr>
        </p:pic>
      </p:grpSp>
      <p:pic>
        <p:nvPicPr>
          <p:cNvPr id="1026" name="Picture 2" descr="西安工业大学校徽设计图__企业LOGO标志_标志图标_设计图库_昵图网nipic.com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1122" y="1432200"/>
            <a:ext cx="1094543" cy="1094543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York logo transparent PNG - Stick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456" y="1433177"/>
            <a:ext cx="1094543" cy="1094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/>
          <p:cNvSpPr txBox="1"/>
          <p:nvPr/>
        </p:nvSpPr>
        <p:spPr>
          <a:xfrm>
            <a:off x="6611795" y="5752984"/>
            <a:ext cx="45433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050" dirty="0">
                <a:solidFill>
                  <a:schemeClr val="bg1">
                    <a:lumMod val="85000"/>
                  </a:schemeClr>
                </a:solidFill>
                <a:hlinkClick r:id="rId10"/>
              </a:rPr>
              <a:t>https://www.tiempo-secure.com/blog/</a:t>
            </a:r>
            <a:endParaRPr lang="en-GB" altLang="zh-CN" sz="105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GB" sz="1050" dirty="0">
                <a:solidFill>
                  <a:schemeClr val="bg1">
                    <a:lumMod val="85000"/>
                  </a:schemeClr>
                </a:solidFill>
                <a:hlinkClick r:id="rId11"/>
              </a:rPr>
              <a:t>https://en.wikipedia.org/wiki/Regulation_of_unmanned_aerial_vehicles</a:t>
            </a:r>
            <a:endParaRPr lang="en-GB" sz="105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GB" sz="1050" dirty="0">
                <a:solidFill>
                  <a:schemeClr val="bg1">
                    <a:lumMod val="85000"/>
                  </a:schemeClr>
                </a:solidFill>
                <a:hlinkClick r:id="rId12"/>
              </a:rPr>
              <a:t>https://ec.europa.eu/eurostat/web/products-eurostat-news/-/ddn-20171023-1</a:t>
            </a:r>
            <a:endParaRPr lang="en-GB" sz="105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GB" sz="1050" dirty="0">
                <a:solidFill>
                  <a:schemeClr val="bg1">
                    <a:lumMod val="85000"/>
                  </a:schemeClr>
                </a:solidFill>
                <a:hlinkClick r:id="rId13"/>
              </a:rPr>
              <a:t>https://web.uettaxila.edu.pk/cped/SwarmRoboticsLab.asp</a:t>
            </a:r>
            <a:endParaRPr lang="en-GB" sz="105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1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6625790" y="1432200"/>
            <a:ext cx="1094543" cy="1110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365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888E-B914-5EC0-FAD4-FCCCD07E8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B6F11D3-C937-8252-4D66-016D73A47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Instructor</a:t>
            </a:r>
            <a:r>
              <a:rPr lang="en-US" altLang="zh-CN" sz="3600" b="0" dirty="0">
                <a:latin typeface="+mn-ea"/>
                <a:ea typeface="+mn-ea"/>
              </a:rPr>
              <a:t>[</a:t>
            </a:r>
            <a:r>
              <a:rPr lang="zh-CN" altLang="en-US" sz="3600" b="0" dirty="0">
                <a:latin typeface="+mn-ea"/>
                <a:ea typeface="+mn-ea"/>
              </a:rPr>
              <a:t>关于教师</a:t>
            </a:r>
            <a:r>
              <a:rPr lang="en-US" altLang="zh-CN" sz="3600" b="0" dirty="0">
                <a:latin typeface="+mn-ea"/>
                <a:ea typeface="+mn-ea"/>
              </a:rPr>
              <a:t>]</a:t>
            </a:r>
            <a:endParaRPr lang="zh-CN" altLang="en-US" b="0" dirty="0">
              <a:latin typeface="+mn-ea"/>
              <a:ea typeface="+mn-ea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BB9A04-FCDF-EBED-7C88-0186A097D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4</a:t>
            </a:fld>
            <a:endParaRPr lang="en-US" noProof="1"/>
          </a:p>
        </p:txBody>
      </p:sp>
      <p:pic>
        <p:nvPicPr>
          <p:cNvPr id="7" name="Picture 2" descr="大学校徽系列:中山大学标志矢量图 - 设计之家">
            <a:extLst>
              <a:ext uri="{FF2B5EF4-FFF2-40B4-BE49-F238E27FC236}">
                <a16:creationId xmlns:a16="http://schemas.microsoft.com/office/drawing/2014/main" id="{7DD5EDF5-E900-D78F-B21D-4174CBF387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3">
            <a:extLst>
              <a:ext uri="{FF2B5EF4-FFF2-40B4-BE49-F238E27FC236}">
                <a16:creationId xmlns:a16="http://schemas.microsoft.com/office/drawing/2014/main" id="{0919FA3F-41A9-A611-1269-EAE58128B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877" y="3898615"/>
            <a:ext cx="132107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000" b="1" u="sng">
                <a:solidFill>
                  <a:schemeClr val="accent1"/>
                </a:solidFill>
                <a:latin typeface="Lucida Sans Unicode" panose="020B060203050402020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 sz="2000" b="1" u="sng">
                <a:solidFill>
                  <a:schemeClr val="accent1"/>
                </a:solidFill>
                <a:latin typeface="Lucida Sans Unicode" panose="020B060203050402020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 sz="2000" b="1" u="sng">
                <a:solidFill>
                  <a:schemeClr val="accent1"/>
                </a:solidFill>
                <a:latin typeface="Lucida Sans Unicode" panose="020B060203050402020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 sz="2000" b="1" u="sng">
                <a:solidFill>
                  <a:schemeClr val="accent1"/>
                </a:solidFill>
                <a:latin typeface="Lucida Sans Unicode" panose="020B060203050402020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 sz="2000" b="1" u="sng">
                <a:solidFill>
                  <a:schemeClr val="accent1"/>
                </a:solidFill>
                <a:latin typeface="Lucida Sans Unicode" panose="020B060203050402020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u="sng">
                <a:solidFill>
                  <a:schemeClr val="accent1"/>
                </a:solidFill>
                <a:latin typeface="Lucida Sans Unicode" panose="020B060203050402020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u="sng">
                <a:solidFill>
                  <a:schemeClr val="accent1"/>
                </a:solidFill>
                <a:latin typeface="Lucida Sans Unicode" panose="020B060203050402020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u="sng">
                <a:solidFill>
                  <a:schemeClr val="accent1"/>
                </a:solidFill>
                <a:latin typeface="Lucida Sans Unicode" panose="020B060203050402020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 u="sng">
                <a:solidFill>
                  <a:schemeClr val="accent1"/>
                </a:solidFill>
                <a:latin typeface="Lucida Sans Unicode" panose="020B0602030504020204" charset="0"/>
                <a:ea typeface="华文细黑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u="non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赵帅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18A5447D-B98E-E09D-7B76-703E4981D410}"/>
              </a:ext>
            </a:extLst>
          </p:cNvPr>
          <p:cNvGraphicFramePr>
            <a:graphicFrameLocks noGrp="1"/>
          </p:cNvGraphicFramePr>
          <p:nvPr/>
        </p:nvGraphicFramePr>
        <p:xfrm>
          <a:off x="2237582" y="1170655"/>
          <a:ext cx="9187036" cy="545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7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4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5447">
                  <a:extLst>
                    <a:ext uri="{9D8B030D-6E8A-4147-A177-3AD203B41FA5}">
                      <a16:colId xmlns:a16="http://schemas.microsoft.com/office/drawing/2014/main" val="2309638964"/>
                    </a:ext>
                  </a:extLst>
                </a:gridCol>
                <a:gridCol w="1352158">
                  <a:extLst>
                    <a:ext uri="{9D8B030D-6E8A-4147-A177-3AD203B41FA5}">
                      <a16:colId xmlns:a16="http://schemas.microsoft.com/office/drawing/2014/main" val="2230474661"/>
                    </a:ext>
                  </a:extLst>
                </a:gridCol>
                <a:gridCol w="2757527">
                  <a:extLst>
                    <a:ext uri="{9D8B030D-6E8A-4147-A177-3AD203B41FA5}">
                      <a16:colId xmlns:a16="http://schemas.microsoft.com/office/drawing/2014/main" val="905441509"/>
                    </a:ext>
                  </a:extLst>
                </a:gridCol>
              </a:tblGrid>
              <a:tr h="0">
                <a:tc gridSpan="5">
                  <a:txBody>
                    <a:bodyPr/>
                    <a:lstStyle/>
                    <a:p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研究方向及成果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智能安全攸关工业软件：自动驾驶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无人机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工业机器人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手术机器人系统、实时操作系统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r>
                        <a:rPr kumimoji="1" lang="zh-CN" altLang="en-US" sz="1400" b="1" kern="1200" dirty="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安全攸关系统顶会</a:t>
                      </a:r>
                      <a:r>
                        <a:rPr kumimoji="1" lang="en-US" altLang="zh-CN" sz="1400" b="1" kern="1200" dirty="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RTSS 7 </a:t>
                      </a:r>
                      <a:r>
                        <a:rPr kumimoji="1" lang="zh-CN" altLang="en-US" sz="1400" b="1" kern="1200" dirty="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篇，</a:t>
                      </a:r>
                      <a:r>
                        <a:rPr kumimoji="1" lang="en-US" altLang="zh-CN" sz="1400" b="1" kern="1200" dirty="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DAC 6 </a:t>
                      </a:r>
                      <a:r>
                        <a:rPr kumimoji="1" lang="zh-CN" altLang="en-US" sz="1400" b="1" kern="1200" dirty="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篇</a:t>
                      </a:r>
                      <a:r>
                        <a:rPr kumimoji="1" lang="zh-CN" altLang="en-US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、顶刊</a:t>
                      </a:r>
                      <a:r>
                        <a:rPr kumimoji="1"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TC</a:t>
                      </a:r>
                      <a:r>
                        <a:rPr kumimoji="1" lang="zh-CN" altLang="en-US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kumimoji="1"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TPDS</a:t>
                      </a:r>
                      <a:r>
                        <a:rPr kumimoji="1" lang="zh-CN" altLang="en-US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kumimoji="1"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TCAD </a:t>
                      </a:r>
                      <a:r>
                        <a:rPr kumimoji="1" lang="zh-CN" altLang="en-US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等</a:t>
                      </a:r>
                      <a:r>
                        <a:rPr kumimoji="1"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</a:t>
                      </a:r>
                      <a:r>
                        <a:rPr kumimoji="1" lang="zh-CN" altLang="en-US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篇，共发表论文</a:t>
                      </a:r>
                      <a:r>
                        <a:rPr kumimoji="1"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60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余篇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8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indent="0" eaLnBrk="1" hangingPunct="1">
                        <a:lnSpc>
                          <a:spcPct val="100000"/>
                        </a:lnSpc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1400" b="1" kern="1200" dirty="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RTSS'25</a:t>
                      </a:r>
                      <a:r>
                        <a:rPr kumimoji="1" lang="zh-CN" altLang="en-US" sz="1400" b="1" kern="1200" dirty="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kumimoji="1" lang="en-US" altLang="zh-CN" sz="1400" b="1" kern="1200" dirty="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RTSS'24</a:t>
                      </a:r>
                      <a:r>
                        <a:rPr kumimoji="1" lang="zh-CN" altLang="en-US" sz="1400" b="1" kern="1200" dirty="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杰出论文</a:t>
                      </a:r>
                      <a:r>
                        <a:rPr kumimoji="1" lang="zh-CN" altLang="en-US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kumimoji="1"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kumimoji="1"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SIES'24</a:t>
                      </a:r>
                      <a:r>
                        <a:rPr kumimoji="1" lang="zh-CN" altLang="en-US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、</a:t>
                      </a:r>
                      <a:r>
                        <a:rPr kumimoji="1" lang="en-US" altLang="zh-CN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ICITES'24 </a:t>
                      </a:r>
                      <a:r>
                        <a:rPr kumimoji="1" lang="zh-CN" altLang="en-US" sz="14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最佳论文</a:t>
                      </a:r>
                      <a:r>
                        <a:rPr lang="zh-CN" altLang="en-US" sz="1400" kern="12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等 </a:t>
                      </a:r>
                      <a:r>
                        <a:rPr lang="en-US" altLang="zh-CN" sz="1400" b="1" kern="1200" baseline="0" dirty="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 </a:t>
                      </a:r>
                      <a:r>
                        <a:rPr lang="zh-CN" altLang="en-US" sz="1400" b="1" kern="1200" baseline="0" dirty="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次</a:t>
                      </a:r>
                      <a:r>
                        <a:rPr lang="zh-CN" altLang="en-US" sz="1400" b="1" kern="1200" baseline="0" dirty="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最佳</a:t>
                      </a:r>
                      <a:r>
                        <a:rPr lang="zh-CN" altLang="en-US" sz="1400" b="1" baseline="0" dirty="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论文奖</a:t>
                      </a:r>
                      <a:r>
                        <a:rPr lang="en-US" altLang="zh-CN" sz="1400" b="1" baseline="0" dirty="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r>
                        <a:rPr lang="zh-CN" altLang="en-US" sz="1400" b="1" baseline="0" dirty="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提名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8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indent="0" eaLnBrk="1" hangingPunct="1">
                        <a:lnSpc>
                          <a:spcPct val="100000"/>
                        </a:lnSpc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获得</a:t>
                      </a:r>
                      <a:r>
                        <a:rPr kumimoji="1" lang="en-US" altLang="zh-CN" sz="1400" b="1" kern="1200" dirty="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ACM SIGBED</a:t>
                      </a:r>
                      <a:r>
                        <a:rPr kumimoji="1" lang="zh-CN" altLang="en-US" sz="1400" b="1" kern="1200" dirty="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中国新星奖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（全国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人）、约克大学海外研究生奖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89326"/>
                  </a:ext>
                </a:extLst>
              </a:tr>
              <a:tr h="27985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  <a:endParaRPr lang="zh-CN" altLang="en-US" sz="14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indent="0" eaLnBrk="1" hangingPunct="1">
                        <a:lnSpc>
                          <a:spcPct val="100000"/>
                        </a:lnSpc>
                        <a:buSzPct val="10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入选教育部海外引才专项、广东省青年拔尖人才等项目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56974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教育和工作经历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b="1" dirty="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2022.09 - </a:t>
                      </a:r>
                      <a:r>
                        <a:rPr lang="en-US" altLang="zh-CN" sz="1400" b="1" dirty="0" err="1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至今</a:t>
                      </a:r>
                      <a:endParaRPr lang="en-US" altLang="zh-CN" sz="1400" b="1" dirty="0">
                        <a:solidFill>
                          <a:srgbClr val="7030A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中山大学，计算机学院</a:t>
                      </a:r>
                      <a:endParaRPr lang="en-US" altLang="zh-CN" sz="1400" b="1" dirty="0">
                        <a:solidFill>
                          <a:srgbClr val="7030A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副教授</a:t>
                      </a:r>
                      <a:endParaRPr lang="en-US" altLang="zh-CN" sz="1400" b="1" dirty="0">
                        <a:solidFill>
                          <a:srgbClr val="7030A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 dirty="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人工智能与机器人研究所</a:t>
                      </a:r>
                      <a:endParaRPr lang="en-US" altLang="zh-CN" sz="1400" b="1" dirty="0">
                        <a:solidFill>
                          <a:srgbClr val="7030A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2018.10 - 2022.09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英国约克大学，计算机学院</a:t>
                      </a:r>
                      <a:endParaRPr lang="zh-CN" alt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博士后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导师：</a:t>
                      </a:r>
                      <a:r>
                        <a:rPr lang="en-US" altLang="zh-CN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Iain Bate </a:t>
                      </a:r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教授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2014.10 - 2018.10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英国约克大学</a:t>
                      </a:r>
                      <a:r>
                        <a:rPr lang="zh-CN" altLang="en-US" sz="1400" b="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，计算机学院</a:t>
                      </a:r>
                      <a:endParaRPr lang="zh-CN" alt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博士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导师：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Alan Burns 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院士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2013.10 - 2014.10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英国约克大学</a:t>
                      </a:r>
                      <a:r>
                        <a:rPr lang="zh-CN" altLang="en-US" sz="1400" b="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，计算机学院</a:t>
                      </a:r>
                      <a:endParaRPr lang="zh-CN" altLang="en-US" sz="1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硕士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导师：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Andy Wellings </a:t>
                      </a:r>
                      <a:r>
                        <a:rPr lang="zh-CN" altLang="en-US" sz="14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教授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96165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项目经历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国家重点研发计划青年科学家项目，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2024.11~2027.12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，课题负责人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国家重点研发计划，</a:t>
                      </a:r>
                      <a:r>
                        <a:rPr lang="en-US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2023.11~2026.10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，子课题负责人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242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国家自然科学基金青年科学基金项目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 2024.01~2026.12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，项目负责人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广东省基础与应用基础研究基金自然科学基金面上项目，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2024.01~2026.12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，项目负责人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CCF-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华为胡杨林基金系统软件专项，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2023.07~2024.06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，项目负责人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4981985"/>
                  </a:ext>
                </a:extLst>
              </a:tr>
            </a:tbl>
          </a:graphicData>
        </a:graphic>
      </p:graphicFrame>
      <p:pic>
        <p:nvPicPr>
          <p:cNvPr id="17" name="图片 16">
            <a:extLst>
              <a:ext uri="{FF2B5EF4-FFF2-40B4-BE49-F238E27FC236}">
                <a16:creationId xmlns:a16="http://schemas.microsoft.com/office/drawing/2014/main" id="{01DE03EB-3EF1-7249-9A33-A9C3370F9E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019" y="2083962"/>
            <a:ext cx="1214796" cy="170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580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48665" y="1216232"/>
            <a:ext cx="11294669" cy="5505243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</a:pPr>
            <a:r>
              <a:rPr lang="zh-CN" altLang="en-US" sz="2400" b="0" dirty="0">
                <a:solidFill>
                  <a:prstClr val="black"/>
                </a:solidFill>
                <a:latin typeface="+mn-ea"/>
              </a:rPr>
              <a:t>常年招收硕</a:t>
            </a:r>
            <a:r>
              <a:rPr lang="en-US" altLang="zh-CN" sz="2400" b="0" dirty="0">
                <a:solidFill>
                  <a:prstClr val="black"/>
                </a:solidFill>
                <a:latin typeface="+mn-ea"/>
              </a:rPr>
              <a:t>/</a:t>
            </a:r>
            <a:r>
              <a:rPr lang="zh-CN" altLang="en-US" sz="2400" b="0" dirty="0">
                <a:solidFill>
                  <a:prstClr val="black"/>
                </a:solidFill>
                <a:latin typeface="+mn-ea"/>
              </a:rPr>
              <a:t>博士研究生（推荐大三暑假进组），也欢迎感兴趣的本科生加入</a:t>
            </a:r>
            <a:endParaRPr lang="en-US" altLang="zh-CN" sz="2400" b="0" dirty="0">
              <a:solidFill>
                <a:prstClr val="black"/>
              </a:solidFill>
              <a:latin typeface="+mn-ea"/>
            </a:endParaRPr>
          </a:p>
          <a:p>
            <a:pPr marL="800100" lvl="2" indent="-342900">
              <a:spcBef>
                <a:spcPts val="1000"/>
              </a:spcBef>
              <a:buSzPct val="60000"/>
              <a:buFont typeface="Wingdings" panose="05000000000000000000" pitchFamily="2" charset="2"/>
              <a:buChar char="u"/>
            </a:pPr>
            <a:r>
              <a:rPr lang="zh-CN" altLang="en-US" sz="2000" b="0" dirty="0"/>
              <a:t>研究</a:t>
            </a:r>
            <a:r>
              <a:rPr lang="zh-CN" altLang="en-US" sz="2000" b="0" dirty="0">
                <a:solidFill>
                  <a:prstClr val="black"/>
                </a:solidFill>
                <a:latin typeface="+mn-ea"/>
              </a:rPr>
              <a:t>招收</a:t>
            </a:r>
            <a:r>
              <a:rPr lang="zh-CN" altLang="en-US" sz="2000" b="0" dirty="0"/>
              <a:t>方向：操作系统、</a:t>
            </a:r>
            <a:r>
              <a:rPr lang="en-US" altLang="zh-CN" sz="2000" b="0" dirty="0"/>
              <a:t>CPU+GPU/NPU</a:t>
            </a:r>
            <a:r>
              <a:rPr lang="zh-CN" altLang="en-US" sz="2000" b="0" dirty="0"/>
              <a:t>异构系统设计优化，无人车</a:t>
            </a:r>
            <a:r>
              <a:rPr lang="en-US" altLang="zh-CN" sz="2000" b="0" dirty="0"/>
              <a:t>/</a:t>
            </a:r>
            <a:r>
              <a:rPr lang="zh-CN" altLang="en-US" sz="2000" b="0" dirty="0"/>
              <a:t>无人机</a:t>
            </a:r>
            <a:r>
              <a:rPr lang="en-US" altLang="zh-CN" sz="2000" b="0" dirty="0"/>
              <a:t>/</a:t>
            </a:r>
            <a:r>
              <a:rPr lang="zh-CN" altLang="en-US" sz="2000" b="0" dirty="0"/>
              <a:t>机器人系统设计优化、端到端时延分析技术、安全攸关编程语言</a:t>
            </a:r>
            <a:r>
              <a:rPr lang="en-US" altLang="zh-CN" sz="2000" b="0"/>
              <a:t>/</a:t>
            </a:r>
            <a:r>
              <a:rPr lang="zh-CN" altLang="en-US" sz="2000" b="0"/>
              <a:t>模型设计等</a:t>
            </a:r>
            <a:endParaRPr lang="en-US" altLang="zh-CN" sz="2000" b="0" dirty="0"/>
          </a:p>
          <a:p>
            <a:pPr>
              <a:buSzPct val="100000"/>
            </a:pPr>
            <a:r>
              <a:rPr lang="zh-CN" altLang="en-US" sz="2400" dirty="0">
                <a:solidFill>
                  <a:srgbClr val="C00000"/>
                </a:solidFill>
              </a:rPr>
              <a:t>课题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lvl="1">
              <a:buSzPct val="60000"/>
              <a:buFont typeface="Wingdings" panose="05000000000000000000" pitchFamily="2" charset="2"/>
              <a:buChar char="u"/>
            </a:pPr>
            <a:r>
              <a:rPr lang="zh-CN" altLang="en-US" sz="2000" b="0" dirty="0"/>
              <a:t> 复杂实时系统设计与分析：</a:t>
            </a:r>
            <a:r>
              <a:rPr lang="en-US" altLang="zh-CN" sz="2000" b="0" dirty="0"/>
              <a:t>《</a:t>
            </a:r>
            <a:r>
              <a:rPr lang="zh-CN" altLang="en-US" sz="2000" b="0" dirty="0"/>
              <a:t>面向</a:t>
            </a:r>
            <a:r>
              <a:rPr lang="en-US" altLang="zh-CN" sz="2000" b="0" dirty="0"/>
              <a:t>CPU+GPU/NPU</a:t>
            </a:r>
            <a:r>
              <a:rPr lang="zh-CN" altLang="en-US" sz="2000" b="0" dirty="0"/>
              <a:t>的高性能实时系统关键技术</a:t>
            </a:r>
            <a:r>
              <a:rPr lang="en-US" altLang="zh-CN" sz="2000" b="0" dirty="0"/>
              <a:t>》</a:t>
            </a:r>
          </a:p>
          <a:p>
            <a:pPr lvl="1">
              <a:buSzPct val="60000"/>
              <a:buFont typeface="Wingdings" panose="05000000000000000000" pitchFamily="2" charset="2"/>
              <a:buChar char="u"/>
            </a:pPr>
            <a:r>
              <a:rPr lang="zh-CN" altLang="en-US" sz="2000" b="0" dirty="0"/>
              <a:t> 大模型驱动机器人</a:t>
            </a:r>
            <a:r>
              <a:rPr lang="en-US" altLang="zh-CN" sz="2000" b="0" dirty="0"/>
              <a:t>/</a:t>
            </a:r>
            <a:r>
              <a:rPr lang="zh-CN" altLang="en-US" sz="2000" b="0" dirty="0"/>
              <a:t>无人机控制：</a:t>
            </a:r>
            <a:r>
              <a:rPr lang="en-US" altLang="zh-CN" sz="2000" b="0" dirty="0"/>
              <a:t>《</a:t>
            </a:r>
            <a:r>
              <a:rPr lang="zh-CN" altLang="en-US" sz="2000" b="0" dirty="0"/>
              <a:t>大模型驱动的机器人</a:t>
            </a:r>
            <a:r>
              <a:rPr lang="en-US" altLang="zh-CN" sz="2000" b="0" dirty="0"/>
              <a:t>/</a:t>
            </a:r>
            <a:r>
              <a:rPr lang="zh-CN" altLang="en-US" sz="2000" b="0" dirty="0"/>
              <a:t>无人机控制技术及可靠性保障</a:t>
            </a:r>
            <a:r>
              <a:rPr lang="en-US" altLang="zh-CN" sz="2000" b="0" dirty="0"/>
              <a:t>》</a:t>
            </a:r>
          </a:p>
          <a:p>
            <a:pPr lvl="1">
              <a:buSzPct val="60000"/>
              <a:buFont typeface="Wingdings" panose="05000000000000000000" pitchFamily="2" charset="2"/>
              <a:buChar char="u"/>
            </a:pPr>
            <a:r>
              <a:rPr lang="zh-CN" altLang="en-US" sz="2000" b="0" dirty="0"/>
              <a:t> 大规模</a:t>
            </a:r>
            <a:r>
              <a:rPr lang="en-US" altLang="zh-CN" sz="2000" b="0" dirty="0"/>
              <a:t>SoC</a:t>
            </a:r>
            <a:r>
              <a:rPr lang="zh-CN" altLang="en-US" sz="2000" b="0" dirty="0"/>
              <a:t>设计：</a:t>
            </a:r>
            <a:r>
              <a:rPr lang="en-US" altLang="zh-CN" sz="2000" b="0" dirty="0"/>
              <a:t>《</a:t>
            </a:r>
            <a:r>
              <a:rPr lang="zh-CN" altLang="en-US" sz="2000" b="0" dirty="0"/>
              <a:t>面向多芯粒的差异化缓存一致性保障及设计优化</a:t>
            </a:r>
            <a:r>
              <a:rPr lang="en-US" altLang="zh-CN" sz="2000" b="0" dirty="0"/>
              <a:t>》</a:t>
            </a:r>
          </a:p>
          <a:p>
            <a:pPr lvl="1">
              <a:buSzPct val="60000"/>
              <a:buFont typeface="Wingdings" panose="05000000000000000000" pitchFamily="2" charset="2"/>
              <a:buChar char="u"/>
            </a:pPr>
            <a:r>
              <a:rPr lang="zh-CN" altLang="en-US" sz="2000" b="0" dirty="0">
                <a:solidFill>
                  <a:prstClr val="black"/>
                </a:solidFill>
              </a:rPr>
              <a:t> 共同感兴趣的研究题目（如</a:t>
            </a:r>
            <a:r>
              <a:rPr lang="en-US" altLang="zh-CN" sz="2000" b="0" dirty="0">
                <a:solidFill>
                  <a:prstClr val="black"/>
                </a:solidFill>
              </a:rPr>
              <a:t>LLM-Driven 3D sense generation</a:t>
            </a:r>
            <a:r>
              <a:rPr lang="zh-CN" altLang="en-US" sz="2000" b="0" dirty="0">
                <a:solidFill>
                  <a:prstClr val="black"/>
                </a:solidFill>
              </a:rPr>
              <a:t>）</a:t>
            </a:r>
            <a:endParaRPr lang="en-US" altLang="zh-CN" sz="2000" b="0" dirty="0"/>
          </a:p>
          <a:p>
            <a:r>
              <a:rPr lang="zh-CN" altLang="en-US" sz="2400" dirty="0">
                <a:solidFill>
                  <a:srgbClr val="C00000"/>
                </a:solidFill>
              </a:rPr>
              <a:t>竞赛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lvl="1">
              <a:buSzPct val="60000"/>
              <a:buFont typeface="Wingdings" panose="05000000000000000000" pitchFamily="2" charset="2"/>
              <a:buChar char="u"/>
            </a:pPr>
            <a:r>
              <a:rPr lang="zh-CN" altLang="en-US" sz="2000" b="0" dirty="0"/>
              <a:t>全国大学生计算机系统能力大赛 </a:t>
            </a:r>
            <a:r>
              <a:rPr lang="en-US" altLang="zh-CN" sz="2000" b="0" dirty="0"/>
              <a:t>— </a:t>
            </a:r>
            <a:r>
              <a:rPr lang="zh-CN" altLang="en-US" sz="2000" b="0" dirty="0"/>
              <a:t>操作系统设计赛 </a:t>
            </a:r>
            <a:r>
              <a:rPr lang="en-US" altLang="zh-CN" sz="2000" dirty="0">
                <a:solidFill>
                  <a:srgbClr val="C00000"/>
                </a:solidFill>
              </a:rPr>
              <a:t>[</a:t>
            </a:r>
            <a:r>
              <a:rPr lang="zh-CN" altLang="en-US" sz="2000" dirty="0">
                <a:solidFill>
                  <a:srgbClr val="C00000"/>
                </a:solidFill>
              </a:rPr>
              <a:t>组队中</a:t>
            </a:r>
            <a:r>
              <a:rPr lang="en-US" altLang="zh-CN" sz="2000" dirty="0">
                <a:solidFill>
                  <a:srgbClr val="C00000"/>
                </a:solidFill>
              </a:rPr>
              <a:t>]</a:t>
            </a:r>
          </a:p>
          <a:p>
            <a:pPr lvl="1">
              <a:buSzPct val="60000"/>
              <a:buFont typeface="Wingdings" panose="05000000000000000000" pitchFamily="2" charset="2"/>
              <a:buChar char="u"/>
            </a:pPr>
            <a:r>
              <a:rPr lang="zh-CN" altLang="en-US" sz="2000" b="0" dirty="0"/>
              <a:t> </a:t>
            </a:r>
            <a:r>
              <a:rPr lang="en-US" altLang="zh-CN" sz="2000" b="0" dirty="0"/>
              <a:t>“</a:t>
            </a:r>
            <a:r>
              <a:rPr lang="zh-CN" altLang="en-US" sz="2000" b="0" dirty="0"/>
              <a:t>挑战杯</a:t>
            </a:r>
            <a:r>
              <a:rPr lang="en-US" altLang="zh-CN" sz="2000" b="0" dirty="0"/>
              <a:t>” </a:t>
            </a:r>
            <a:r>
              <a:rPr lang="zh-CN" altLang="en-US" sz="2000" b="0" dirty="0"/>
              <a:t>大学生创业大赛 </a:t>
            </a:r>
            <a:r>
              <a:rPr lang="en-US" altLang="zh-CN" sz="2000" dirty="0">
                <a:solidFill>
                  <a:srgbClr val="C00000"/>
                </a:solidFill>
              </a:rPr>
              <a:t>[</a:t>
            </a:r>
            <a:r>
              <a:rPr lang="zh-CN" altLang="en-US" sz="2000" dirty="0">
                <a:solidFill>
                  <a:srgbClr val="C00000"/>
                </a:solidFill>
              </a:rPr>
              <a:t>组队中</a:t>
            </a:r>
            <a:r>
              <a:rPr lang="en-US" altLang="zh-CN" sz="2000" dirty="0">
                <a:solidFill>
                  <a:srgbClr val="C00000"/>
                </a:solidFill>
              </a:rPr>
              <a:t>]</a:t>
            </a:r>
            <a:endParaRPr lang="en-US" altLang="zh-CN" sz="2000" b="0" dirty="0"/>
          </a:p>
          <a:p>
            <a:pPr>
              <a:buSzPct val="100000"/>
            </a:pPr>
            <a:r>
              <a:rPr lang="zh-CN" altLang="en-US" sz="2400" b="0" dirty="0"/>
              <a:t>往届竞赛</a:t>
            </a:r>
            <a:endParaRPr lang="en-US" altLang="zh-CN" sz="2400" b="0" dirty="0"/>
          </a:p>
          <a:p>
            <a:pPr lvl="1">
              <a:buSzPct val="60000"/>
              <a:buFont typeface="Wingdings" panose="05000000000000000000" pitchFamily="2" charset="2"/>
              <a:buChar char="u"/>
            </a:pPr>
            <a:r>
              <a:rPr lang="zh-CN" altLang="en-US" sz="2000" b="0" dirty="0"/>
              <a:t> </a:t>
            </a:r>
            <a:r>
              <a:rPr lang="en-US" altLang="zh-CN" sz="2000" b="0" dirty="0"/>
              <a:t>2023</a:t>
            </a:r>
            <a:r>
              <a:rPr lang="zh-CN" altLang="en-US" sz="2000" b="0" dirty="0"/>
              <a:t>年中国计算机学会（</a:t>
            </a:r>
            <a:r>
              <a:rPr lang="en-US" altLang="zh-CN" sz="2000" b="0" dirty="0"/>
              <a:t>CCF</a:t>
            </a:r>
            <a:r>
              <a:rPr lang="zh-CN" altLang="en-US" sz="2000" b="0" dirty="0"/>
              <a:t>）移动机器人抓取和导航挑战赛          </a:t>
            </a:r>
            <a:r>
              <a:rPr lang="zh-CN" altLang="en-US" sz="2000" b="0" dirty="0">
                <a:solidFill>
                  <a:srgbClr val="C00000"/>
                </a:solidFill>
              </a:rPr>
              <a:t>全国一等奖</a:t>
            </a:r>
            <a:r>
              <a:rPr lang="zh-CN" altLang="en-US" sz="2000" b="0" dirty="0"/>
              <a:t> </a:t>
            </a:r>
            <a:endParaRPr lang="en-US" altLang="zh-CN" sz="2000" b="0" dirty="0"/>
          </a:p>
          <a:p>
            <a:pPr lvl="1">
              <a:buSzPct val="60000"/>
              <a:buFont typeface="Wingdings" panose="05000000000000000000" pitchFamily="2" charset="2"/>
              <a:buChar char="u"/>
            </a:pPr>
            <a:r>
              <a:rPr lang="en-US" altLang="zh-CN" sz="2000" b="0" dirty="0"/>
              <a:t> 2023</a:t>
            </a:r>
            <a:r>
              <a:rPr lang="zh-CN" altLang="en-US" sz="2000" b="0" dirty="0"/>
              <a:t>年全国大学生计算机系统能力大赛操作系统功能挑战赛            </a:t>
            </a:r>
            <a:r>
              <a:rPr lang="zh-CN" altLang="en-US" sz="2000" b="0" dirty="0">
                <a:solidFill>
                  <a:srgbClr val="C00000"/>
                </a:solidFill>
              </a:rPr>
              <a:t>全国二、三等奖</a:t>
            </a:r>
            <a:endParaRPr lang="en-US" altLang="zh-CN" sz="2000" b="0" dirty="0">
              <a:solidFill>
                <a:srgbClr val="C00000"/>
              </a:solidFill>
            </a:endParaRPr>
          </a:p>
          <a:p>
            <a:pPr lvl="1">
              <a:buSzPct val="60000"/>
              <a:buFont typeface="Wingdings" panose="05000000000000000000" pitchFamily="2" charset="2"/>
              <a:buChar char="u"/>
            </a:pPr>
            <a:r>
              <a:rPr lang="en-US" altLang="zh-CN" sz="2000" b="0" dirty="0"/>
              <a:t> 2024</a:t>
            </a:r>
            <a:r>
              <a:rPr lang="zh-CN" altLang="en-US" sz="2000" b="0" dirty="0"/>
              <a:t>年粤港澳大湾区</a:t>
            </a:r>
            <a:r>
              <a:rPr lang="en-US" altLang="zh-CN" sz="2000" b="0" dirty="0"/>
              <a:t>IT</a:t>
            </a:r>
            <a:r>
              <a:rPr lang="zh-CN" altLang="en-US" sz="2000" b="0" dirty="0"/>
              <a:t>应用系统开发大赛</a:t>
            </a:r>
            <a:r>
              <a:rPr lang="en-US" altLang="zh-CN" sz="2000" b="0" dirty="0"/>
              <a:t>			             </a:t>
            </a:r>
            <a:r>
              <a:rPr lang="zh-CN" altLang="en-US" sz="2000" b="0" dirty="0">
                <a:solidFill>
                  <a:srgbClr val="C00000"/>
                </a:solidFill>
              </a:rPr>
              <a:t>一等奖、技术创新先锋奖</a:t>
            </a:r>
            <a:endParaRPr lang="en-US" altLang="zh-CN" sz="2000" b="0" dirty="0">
              <a:solidFill>
                <a:srgbClr val="C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Laboratory</a:t>
            </a:r>
            <a:r>
              <a:rPr lang="en-US" altLang="zh-CN" sz="3600" b="0" dirty="0">
                <a:latin typeface="+mn-ea"/>
                <a:ea typeface="+mn-ea"/>
              </a:rPr>
              <a:t>[</a:t>
            </a:r>
            <a:r>
              <a:rPr lang="zh-CN" altLang="en-US" sz="3600" b="0" dirty="0">
                <a:latin typeface="+mn-ea"/>
                <a:ea typeface="+mn-ea"/>
              </a:rPr>
              <a:t>关于实验室</a:t>
            </a:r>
            <a:r>
              <a:rPr lang="en-US" altLang="zh-CN" sz="3600" b="0" dirty="0">
                <a:latin typeface="+mn-ea"/>
                <a:ea typeface="+mn-ea"/>
              </a:rPr>
              <a:t>]</a:t>
            </a:r>
            <a:endParaRPr lang="zh-CN" altLang="en-US" sz="3600" b="0" dirty="0">
              <a:latin typeface="+mn-ea"/>
              <a:ea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5</a:t>
            </a:fld>
            <a:endParaRPr lang="en-US" noProof="1"/>
          </a:p>
        </p:txBody>
      </p:sp>
      <p:sp>
        <p:nvSpPr>
          <p:cNvPr id="4" name="AutoShape 2" descr="https://www.caairobot.com/wp-content/uploads/2021/07/CRAIC_2021071607040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" name="AutoShape 4" descr="https://www.caairobot.com/wp-content/uploads/2021/07/CRAIC_20210716070408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AutoShape 6" descr="https://www.caairobot.com/wp-content/uploads/2021/07/CRAIC_20210716070408.jp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12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8350191" y="3803393"/>
            <a:ext cx="2977029" cy="1398199"/>
            <a:chOff x="8850071" y="3947785"/>
            <a:chExt cx="2564071" cy="1204248"/>
          </a:xfrm>
        </p:grpSpPr>
        <p:pic>
          <p:nvPicPr>
            <p:cNvPr id="1026" name="Picture 2" descr="https://os.educg.net/img/logo.5daf9029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71330" y="4007788"/>
              <a:ext cx="1442812" cy="3185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" name="组合 10"/>
            <p:cNvGrpSpPr/>
            <p:nvPr/>
          </p:nvGrpSpPr>
          <p:grpSpPr>
            <a:xfrm>
              <a:off x="8850071" y="3947785"/>
              <a:ext cx="1092984" cy="1204248"/>
              <a:chOff x="8827485" y="3358962"/>
              <a:chExt cx="1092984" cy="1204248"/>
            </a:xfrm>
          </p:grpSpPr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83449" y="3358962"/>
                <a:ext cx="781549" cy="781549"/>
              </a:xfrm>
              <a:prstGeom prst="rect">
                <a:avLst/>
              </a:prstGeom>
            </p:spPr>
          </p:pic>
          <p:sp>
            <p:nvSpPr>
              <p:cNvPr id="10" name="文本框 9"/>
              <p:cNvSpPr txBox="1"/>
              <p:nvPr/>
            </p:nvSpPr>
            <p:spPr>
              <a:xfrm>
                <a:off x="8827485" y="4086060"/>
                <a:ext cx="1092984" cy="4771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>
                    <a:solidFill>
                      <a:schemeClr val="bg1">
                        <a:lumMod val="50000"/>
                      </a:schemeClr>
                    </a:solidFill>
                  </a:rPr>
                  <a:t>中国机器人及人工智能大赛</a:t>
                </a:r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</a:rPr>
                  <a:t>(CRAIC)</a:t>
                </a:r>
                <a:r>
                  <a:rPr lang="zh-CN" altLang="en-US" sz="1000" dirty="0">
                    <a:solidFill>
                      <a:schemeClr val="bg1">
                        <a:lumMod val="50000"/>
                      </a:schemeClr>
                    </a:solidFill>
                  </a:rPr>
                  <a:t>官方公众号</a:t>
                </a:r>
              </a:p>
            </p:txBody>
          </p:sp>
        </p:grpSp>
        <p:pic>
          <p:nvPicPr>
            <p:cNvPr id="13" name="Picture 8" descr="挑战杯官网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07513" y="4550876"/>
              <a:ext cx="1370445" cy="3832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6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250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Teaching Assistants</a:t>
            </a:r>
            <a:r>
              <a:rPr lang="en-US" altLang="zh-CN" sz="3600" b="0" dirty="0">
                <a:solidFill>
                  <a:schemeClr val="tx1"/>
                </a:solidFill>
                <a:latin typeface="+mn-ea"/>
                <a:ea typeface="+mn-ea"/>
              </a:rPr>
              <a:t>[</a:t>
            </a:r>
            <a:r>
              <a:rPr lang="zh-CN" altLang="en-US" sz="3600" b="0" dirty="0">
                <a:solidFill>
                  <a:schemeClr val="tx1"/>
                </a:solidFill>
                <a:latin typeface="+mn-ea"/>
                <a:ea typeface="+mn-ea"/>
              </a:rPr>
              <a:t>助教</a:t>
            </a:r>
            <a:r>
              <a:rPr lang="en-US" altLang="zh-CN" sz="3600" b="0" dirty="0">
                <a:solidFill>
                  <a:schemeClr val="tx1"/>
                </a:solidFill>
                <a:latin typeface="+mn-ea"/>
                <a:ea typeface="+mn-ea"/>
              </a:rPr>
              <a:t>]</a:t>
            </a:r>
            <a:endParaRPr lang="zh-CN" altLang="en-US" sz="36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6</a:t>
            </a:fld>
            <a:endParaRPr lang="en-US" noProof="1"/>
          </a:p>
        </p:txBody>
      </p:sp>
      <p:grpSp>
        <p:nvGrpSpPr>
          <p:cNvPr id="15" name="组合 14"/>
          <p:cNvGrpSpPr/>
          <p:nvPr/>
        </p:nvGrpSpPr>
        <p:grpSpPr>
          <a:xfrm>
            <a:off x="1726780" y="3905391"/>
            <a:ext cx="1950650" cy="2076587"/>
            <a:chOff x="3849864" y="3725371"/>
            <a:chExt cx="1950650" cy="2076587"/>
          </a:xfrm>
        </p:grpSpPr>
        <p:sp>
          <p:nvSpPr>
            <p:cNvPr id="13" name="文本框 12"/>
            <p:cNvSpPr txBox="1"/>
            <p:nvPr/>
          </p:nvSpPr>
          <p:spPr>
            <a:xfrm>
              <a:off x="3849864" y="5156798"/>
              <a:ext cx="1950650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26</a:t>
              </a:r>
              <a:r>
                <a:rPr lang="zh-CN" altLang="en-US" dirty="0"/>
                <a:t>级硕士研究生</a:t>
              </a:r>
              <a:endParaRPr lang="en-US" altLang="zh-CN" dirty="0"/>
            </a:p>
            <a:p>
              <a:pPr algn="ctr"/>
              <a:r>
                <a:rPr lang="zh-CN" altLang="en-US" b="0" i="0" u="sng" strike="noStrike" dirty="0">
                  <a:effectLst/>
                  <a:latin typeface="-apple-system"/>
                </a:rPr>
                <a:t>苟睿哲</a:t>
              </a:r>
              <a:endParaRPr lang="en-US" altLang="zh-CN" b="0" i="0" u="sng" strike="noStrike" dirty="0">
                <a:effectLst/>
                <a:latin typeface="-apple-system"/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144409" y="3725371"/>
              <a:ext cx="1361561" cy="1361561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/>
        </p:nvGrpSpPr>
        <p:grpSpPr>
          <a:xfrm>
            <a:off x="9554768" y="1277890"/>
            <a:ext cx="2049828" cy="2061292"/>
            <a:chOff x="730175" y="3707011"/>
            <a:chExt cx="2049828" cy="2061292"/>
          </a:xfrm>
        </p:grpSpPr>
        <p:sp>
          <p:nvSpPr>
            <p:cNvPr id="11" name="文本框 10"/>
            <p:cNvSpPr txBox="1"/>
            <p:nvPr/>
          </p:nvSpPr>
          <p:spPr>
            <a:xfrm>
              <a:off x="730175" y="5123143"/>
              <a:ext cx="2049828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ym typeface="+mn-ea"/>
                </a:rPr>
                <a:t>26</a:t>
              </a:r>
              <a:r>
                <a:rPr lang="zh-CN" altLang="en-US" dirty="0">
                  <a:sym typeface="+mn-ea"/>
                </a:rPr>
                <a:t>级硕士研究生</a:t>
              </a:r>
              <a:endParaRPr lang="en-US" altLang="zh-CN" dirty="0"/>
            </a:p>
            <a:p>
              <a:pPr algn="ctr">
                <a:buClrTx/>
                <a:buSzTx/>
                <a:buFontTx/>
              </a:pPr>
              <a:r>
                <a:rPr lang="zh-CN" altLang="en-US" b="0" i="0" dirty="0">
                  <a:effectLst/>
                  <a:latin typeface="-apple-system"/>
                </a:rPr>
                <a:t> </a:t>
              </a:r>
              <a:r>
                <a:rPr lang="zh-CN" altLang="en-US" b="0" i="0" u="sng" strike="noStrike" dirty="0"/>
                <a:t>罗宇烔</a:t>
              </a:r>
              <a:endParaRPr lang="zh-CN" altLang="en-US" u="sng" dirty="0"/>
            </a:p>
          </p:txBody>
        </p:sp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5130" y="3707011"/>
              <a:ext cx="1379921" cy="1379921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/>
        </p:nvGrpSpPr>
        <p:grpSpPr>
          <a:xfrm>
            <a:off x="4047195" y="3905391"/>
            <a:ext cx="1961624" cy="2076588"/>
            <a:chOff x="6484472" y="3725371"/>
            <a:chExt cx="1961624" cy="2076588"/>
          </a:xfrm>
        </p:grpSpPr>
        <p:sp>
          <p:nvSpPr>
            <p:cNvPr id="14" name="文本框 13"/>
            <p:cNvSpPr txBox="1"/>
            <p:nvPr/>
          </p:nvSpPr>
          <p:spPr>
            <a:xfrm>
              <a:off x="6484472" y="5156799"/>
              <a:ext cx="1961624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ym typeface="+mn-ea"/>
                </a:rPr>
                <a:t>26</a:t>
              </a:r>
              <a:r>
                <a:rPr lang="zh-CN" altLang="en-US" dirty="0">
                  <a:sym typeface="+mn-ea"/>
                </a:rPr>
                <a:t>级硕士研究生</a:t>
              </a:r>
              <a:endParaRPr lang="en-US" altLang="zh-CN" dirty="0"/>
            </a:p>
            <a:p>
              <a:pPr algn="ctr"/>
              <a:r>
                <a:rPr lang="zh-CN" altLang="en-US" b="0" i="0" u="sng" strike="noStrike" dirty="0">
                  <a:effectLst/>
                  <a:latin typeface="-apple-system"/>
                </a:rPr>
                <a:t>姚凯文</a:t>
              </a:r>
              <a:endParaRPr lang="en-US" altLang="zh-CN" u="sng" dirty="0"/>
            </a:p>
          </p:txBody>
        </p:sp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784504" y="3725371"/>
              <a:ext cx="1361561" cy="1361561"/>
            </a:xfrm>
            <a:prstGeom prst="rect">
              <a:avLst/>
            </a:prstGeom>
          </p:spPr>
        </p:pic>
      </p:grpSp>
      <p:pic>
        <p:nvPicPr>
          <p:cNvPr id="24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组合 1"/>
          <p:cNvGrpSpPr/>
          <p:nvPr/>
        </p:nvGrpSpPr>
        <p:grpSpPr>
          <a:xfrm>
            <a:off x="570422" y="1297434"/>
            <a:ext cx="1973476" cy="2053565"/>
            <a:chOff x="778772" y="1117414"/>
            <a:chExt cx="1973476" cy="2053565"/>
          </a:xfrm>
        </p:grpSpPr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85387" y="1117414"/>
              <a:ext cx="1361561" cy="1361561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778772" y="2525819"/>
              <a:ext cx="1973476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ym typeface="+mn-ea"/>
                </a:rPr>
                <a:t>25</a:t>
              </a:r>
              <a:r>
                <a:rPr lang="zh-CN" altLang="en-US" dirty="0">
                  <a:sym typeface="+mn-ea"/>
                </a:rPr>
                <a:t>级硕士研究生</a:t>
              </a:r>
              <a:r>
                <a:rPr lang="en-US" altLang="zh-CN" dirty="0"/>
                <a:t> </a:t>
              </a:r>
            </a:p>
            <a:p>
              <a:pPr algn="ctr"/>
              <a:r>
                <a:rPr lang="zh-CN" altLang="en-US" u="sng" dirty="0"/>
                <a:t>林志扬（组长）</a:t>
              </a:r>
              <a:endParaRPr lang="en-US" altLang="zh-CN" u="sng" dirty="0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857267" y="1278715"/>
            <a:ext cx="1868250" cy="2072284"/>
            <a:chOff x="3660811" y="1098695"/>
            <a:chExt cx="1868250" cy="2072284"/>
          </a:xfrm>
        </p:grpSpPr>
        <p:sp>
          <p:nvSpPr>
            <p:cNvPr id="9" name="文本框 8"/>
            <p:cNvSpPr txBox="1"/>
            <p:nvPr/>
          </p:nvSpPr>
          <p:spPr>
            <a:xfrm>
              <a:off x="3660811" y="2525819"/>
              <a:ext cx="1868250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ym typeface="+mn-ea"/>
                </a:rPr>
                <a:t>25</a:t>
              </a:r>
              <a:r>
                <a:rPr lang="zh-CN" altLang="en-US" dirty="0">
                  <a:sym typeface="+mn-ea"/>
                </a:rPr>
                <a:t>级硕士研究生</a:t>
              </a:r>
              <a:endParaRPr lang="en-US" altLang="zh-CN" dirty="0"/>
            </a:p>
            <a:p>
              <a:pPr algn="ctr"/>
              <a:r>
                <a:rPr lang="zh-CN" altLang="en-US" u="sng" dirty="0">
                  <a:sym typeface="+mn-ea"/>
                </a:rPr>
                <a:t>聂湛尚（组长）</a:t>
              </a:r>
              <a:endParaRPr lang="en-US" altLang="zh-CN" dirty="0"/>
            </a:p>
          </p:txBody>
        </p: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04976" y="1098695"/>
              <a:ext cx="1379921" cy="1379921"/>
            </a:xfrm>
            <a:prstGeom prst="rect">
              <a:avLst/>
            </a:prstGeom>
          </p:spPr>
        </p:pic>
      </p:grpSp>
      <p:grpSp>
        <p:nvGrpSpPr>
          <p:cNvPr id="5" name="组合 4"/>
          <p:cNvGrpSpPr/>
          <p:nvPr/>
        </p:nvGrpSpPr>
        <p:grpSpPr>
          <a:xfrm>
            <a:off x="5038886" y="1276707"/>
            <a:ext cx="1967954" cy="2069251"/>
            <a:chOff x="6525679" y="1096687"/>
            <a:chExt cx="1967954" cy="2069251"/>
          </a:xfrm>
        </p:grpSpPr>
        <p:sp>
          <p:nvSpPr>
            <p:cNvPr id="10" name="文本框 9"/>
            <p:cNvSpPr txBox="1"/>
            <p:nvPr/>
          </p:nvSpPr>
          <p:spPr>
            <a:xfrm>
              <a:off x="6525679" y="2520778"/>
              <a:ext cx="1967954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ym typeface="+mn-ea"/>
                </a:rPr>
                <a:t>25</a:t>
              </a:r>
              <a:r>
                <a:rPr lang="zh-CN" altLang="en-US" dirty="0">
                  <a:sym typeface="+mn-ea"/>
                </a:rPr>
                <a:t>级硕士研究生</a:t>
              </a:r>
              <a:endParaRPr lang="en-US" altLang="zh-CN" dirty="0"/>
            </a:p>
            <a:p>
              <a:pPr algn="ctr"/>
              <a:r>
                <a:rPr lang="zh-CN" altLang="en-US" b="0" i="0" dirty="0">
                  <a:effectLst/>
                  <a:latin typeface="-apple-system"/>
                </a:rPr>
                <a:t> </a:t>
              </a:r>
              <a:r>
                <a:rPr lang="zh-CN" altLang="en-US" u="sng" dirty="0">
                  <a:effectLst/>
                  <a:latin typeface="-apple-system"/>
                  <a:sym typeface="+mn-ea"/>
                </a:rPr>
                <a:t>程彤</a:t>
              </a:r>
              <a:endParaRPr lang="en-US" altLang="zh-CN" dirty="0"/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19697" y="1096687"/>
              <a:ext cx="1379921" cy="1379921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7320209" y="1270529"/>
            <a:ext cx="1921192" cy="2069251"/>
            <a:chOff x="9374532" y="1090509"/>
            <a:chExt cx="1921192" cy="2069251"/>
          </a:xfrm>
        </p:grpSpPr>
        <p:sp>
          <p:nvSpPr>
            <p:cNvPr id="26" name="文本框 25"/>
            <p:cNvSpPr txBox="1"/>
            <p:nvPr/>
          </p:nvSpPr>
          <p:spPr>
            <a:xfrm>
              <a:off x="9374532" y="2514600"/>
              <a:ext cx="1921192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ym typeface="+mn-ea"/>
                </a:rPr>
                <a:t>25</a:t>
              </a:r>
              <a:r>
                <a:rPr lang="zh-CN" altLang="en-US" dirty="0">
                  <a:sym typeface="+mn-ea"/>
                </a:rPr>
                <a:t>级硕士研究生</a:t>
              </a:r>
              <a:endParaRPr lang="en-US" altLang="zh-CN" dirty="0"/>
            </a:p>
            <a:p>
              <a:pPr algn="ctr">
                <a:buClrTx/>
                <a:buSzTx/>
                <a:buFontTx/>
              </a:pPr>
              <a:r>
                <a:rPr lang="zh-CN" altLang="en-US" b="0" i="0" u="sng" strike="noStrike" dirty="0"/>
                <a:t>何松阳</a:t>
              </a:r>
              <a:endParaRPr lang="zh-CN" altLang="en-US" u="sng" dirty="0"/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45169" y="1090509"/>
              <a:ext cx="1379921" cy="1379921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6378584" y="3902870"/>
            <a:ext cx="1900864" cy="2076588"/>
            <a:chOff x="9186518" y="3722850"/>
            <a:chExt cx="1900864" cy="2076588"/>
          </a:xfrm>
        </p:grpSpPr>
        <p:sp>
          <p:nvSpPr>
            <p:cNvPr id="28" name="文本框 27"/>
            <p:cNvSpPr txBox="1"/>
            <p:nvPr/>
          </p:nvSpPr>
          <p:spPr>
            <a:xfrm>
              <a:off x="9186518" y="5154278"/>
              <a:ext cx="1900864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ym typeface="+mn-ea"/>
                </a:rPr>
                <a:t>26</a:t>
              </a:r>
              <a:r>
                <a:rPr lang="zh-CN" altLang="en-US" dirty="0">
                  <a:sym typeface="+mn-ea"/>
                </a:rPr>
                <a:t>级硕士研究生</a:t>
              </a:r>
              <a:endParaRPr lang="en-US" altLang="zh-CN" dirty="0"/>
            </a:p>
            <a:p>
              <a:pPr algn="ctr"/>
              <a:r>
                <a:rPr lang="zh-CN" altLang="en-US" b="0" i="0" dirty="0">
                  <a:effectLst/>
                  <a:latin typeface="-apple-system"/>
                </a:rPr>
                <a:t>  </a:t>
              </a:r>
              <a:r>
                <a:rPr lang="zh-CN" altLang="en-US" b="0" i="0" u="sng" strike="noStrike" dirty="0">
                  <a:effectLst/>
                  <a:latin typeface="-apple-system"/>
                </a:rPr>
                <a:t>丁海桐</a:t>
              </a:r>
              <a:endParaRPr lang="en-US" altLang="zh-CN" u="sng" dirty="0"/>
            </a:p>
          </p:txBody>
        </p:sp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456170" y="3722850"/>
              <a:ext cx="1361561" cy="1361561"/>
            </a:xfrm>
            <a:prstGeom prst="rect">
              <a:avLst/>
            </a:prstGeom>
          </p:spPr>
        </p:pic>
      </p:grpSp>
      <p:grpSp>
        <p:nvGrpSpPr>
          <p:cNvPr id="30" name="组合 29"/>
          <p:cNvGrpSpPr/>
          <p:nvPr/>
        </p:nvGrpSpPr>
        <p:grpSpPr>
          <a:xfrm>
            <a:off x="8649213" y="3902870"/>
            <a:ext cx="1811110" cy="2076588"/>
            <a:chOff x="9231395" y="3722850"/>
            <a:chExt cx="1811110" cy="2076588"/>
          </a:xfrm>
        </p:grpSpPr>
        <p:sp>
          <p:nvSpPr>
            <p:cNvPr id="31" name="文本框 30"/>
            <p:cNvSpPr txBox="1"/>
            <p:nvPr/>
          </p:nvSpPr>
          <p:spPr>
            <a:xfrm>
              <a:off x="9231395" y="5154278"/>
              <a:ext cx="1811110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ym typeface="+mn-ea"/>
                </a:rPr>
                <a:t>26</a:t>
              </a:r>
              <a:r>
                <a:rPr lang="zh-CN" altLang="en-US" dirty="0">
                  <a:sym typeface="+mn-ea"/>
                </a:rPr>
                <a:t>级硕士研究生</a:t>
              </a:r>
              <a:endParaRPr lang="en-US" altLang="zh-CN" dirty="0"/>
            </a:p>
            <a:p>
              <a:pPr algn="ctr"/>
              <a:r>
                <a:rPr lang="zh-CN" altLang="en-US" b="0" i="0" dirty="0">
                  <a:effectLst/>
                  <a:latin typeface="-apple-system"/>
                </a:rPr>
                <a:t>  </a:t>
              </a:r>
              <a:r>
                <a:rPr lang="zh-CN" altLang="en-US" u="sng" dirty="0"/>
                <a:t>談卓恒</a:t>
              </a:r>
            </a:p>
          </p:txBody>
        </p:sp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456170" y="3722850"/>
              <a:ext cx="1361561" cy="13615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69418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48666" y="1216233"/>
            <a:ext cx="11294669" cy="5537123"/>
          </a:xfrm>
        </p:spPr>
        <p:txBody>
          <a:bodyPr>
            <a:normAutofit/>
          </a:bodyPr>
          <a:lstStyle/>
          <a:p>
            <a:r>
              <a:rPr lang="zh-CN" altLang="en-US" sz="2800" b="0" dirty="0"/>
              <a:t>任课教师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计算机学院，人工智能与机器人研究所，</a:t>
            </a:r>
            <a:r>
              <a:rPr lang="en-US" altLang="zh-CN" sz="2400" b="0" dirty="0"/>
              <a:t>D104C</a:t>
            </a:r>
            <a:endParaRPr lang="en-US" altLang="zh-CN" sz="2000" b="0" dirty="0"/>
          </a:p>
          <a:p>
            <a:endParaRPr lang="en-US" altLang="zh-CN" sz="2800" b="0" dirty="0"/>
          </a:p>
          <a:p>
            <a:r>
              <a:rPr lang="zh-CN" altLang="en-US" sz="2800" b="0" dirty="0"/>
              <a:t>课程主页：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en-GB" altLang="zh-CN" sz="2400" b="0" u="sng" dirty="0">
                <a:hlinkClick r:id="rId3"/>
              </a:rPr>
              <a:t>https://rtscompiler</a:t>
            </a:r>
            <a:r>
              <a:rPr lang="en-US" altLang="zh-CN" sz="2400" b="0" u="sng" dirty="0">
                <a:hlinkClick r:id="rId3"/>
              </a:rPr>
              <a:t>2026</a:t>
            </a:r>
            <a:r>
              <a:rPr lang="en-GB" altLang="zh-CN" sz="2400" b="0" u="sng" dirty="0">
                <a:hlinkClick r:id="rId3"/>
              </a:rPr>
              <a:t>.github.io/dcs290/202</a:t>
            </a:r>
            <a:r>
              <a:rPr lang="en-US" altLang="en-GB" sz="2400" b="0" u="sng" dirty="0">
                <a:hlinkClick r:id="rId3"/>
              </a:rPr>
              <a:t>6</a:t>
            </a:r>
            <a:r>
              <a:rPr lang="en-GB" altLang="zh-CN" sz="2400" b="0" u="sng" dirty="0">
                <a:hlinkClick r:id="rId3"/>
              </a:rPr>
              <a:t>Spring</a:t>
            </a:r>
            <a:r>
              <a:rPr lang="en-GB" altLang="zh-CN" sz="2400" b="0" u="sng" dirty="0">
                <a:hlinkClick r:id="rId4"/>
              </a:rPr>
              <a:t>/</a:t>
            </a:r>
            <a:endParaRPr lang="en-GB" altLang="zh-CN" sz="2400" b="0" u="sng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u="sng" dirty="0"/>
              <a:t>教材，资料</a:t>
            </a:r>
            <a:endParaRPr lang="en-US" altLang="zh-CN" sz="2400" b="0" u="sng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u="sng" dirty="0"/>
              <a:t>作业，公告</a:t>
            </a:r>
            <a:endParaRPr lang="en-GB" altLang="zh-CN" sz="2400" b="0" u="sng" dirty="0"/>
          </a:p>
          <a:p>
            <a:endParaRPr lang="en-US" altLang="zh-CN" sz="2800" b="0" dirty="0"/>
          </a:p>
          <a:p>
            <a:r>
              <a:rPr lang="zh-CN" altLang="en-US" sz="2800" b="0" dirty="0"/>
              <a:t>交流方式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邮件：</a:t>
            </a:r>
            <a:r>
              <a:rPr lang="en-US" altLang="zh-CN" sz="2400" b="0" dirty="0">
                <a:solidFill>
                  <a:schemeClr val="accent5"/>
                </a:solidFill>
                <a:hlinkClick r:id="rId5"/>
              </a:rPr>
              <a:t>zhaosh56@mail.sysu.edu.cn</a:t>
            </a:r>
            <a:endParaRPr lang="en-US" altLang="zh-CN" sz="2400" b="0" dirty="0">
              <a:solidFill>
                <a:schemeClr val="accent5"/>
              </a:solidFill>
            </a:endParaRPr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en-US" altLang="zh-CN" sz="2400" dirty="0"/>
              <a:t>QQ</a:t>
            </a:r>
            <a:r>
              <a:rPr lang="zh-CN" altLang="en-US" sz="2400" dirty="0"/>
              <a:t>群：</a:t>
            </a:r>
            <a:r>
              <a:rPr lang="en-US" altLang="zh-CN" sz="2400" dirty="0"/>
              <a:t>1083702060</a:t>
            </a:r>
            <a:r>
              <a:rPr lang="zh-CN" altLang="en-US" sz="2400" b="0" dirty="0"/>
              <a:t>（进群更改名称：学号</a:t>
            </a:r>
            <a:r>
              <a:rPr lang="en-US" altLang="zh-CN" sz="2400" b="0" dirty="0"/>
              <a:t>+</a:t>
            </a:r>
            <a:r>
              <a:rPr lang="zh-CN" altLang="en-US" sz="2400" b="0" dirty="0"/>
              <a:t>姓名）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Contacts</a:t>
            </a:r>
            <a:r>
              <a:rPr lang="en-US" altLang="zh-CN" sz="3600" b="0" dirty="0">
                <a:latin typeface="+mn-ea"/>
                <a:ea typeface="+mn-ea"/>
              </a:rPr>
              <a:t>[</a:t>
            </a:r>
            <a:r>
              <a:rPr lang="zh-CN" altLang="en-US" sz="3600" b="0" dirty="0">
                <a:latin typeface="+mn-ea"/>
                <a:ea typeface="+mn-ea"/>
              </a:rPr>
              <a:t>联系方式</a:t>
            </a:r>
            <a:r>
              <a:rPr lang="en-US" altLang="zh-CN" sz="3600" b="0" dirty="0">
                <a:latin typeface="+mn-ea"/>
                <a:ea typeface="+mn-ea"/>
              </a:rPr>
              <a:t>]</a:t>
            </a:r>
            <a:endParaRPr lang="zh-CN" altLang="en-US" b="0" dirty="0">
              <a:latin typeface="+mn-ea"/>
              <a:ea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7</a:t>
            </a:fld>
            <a:endParaRPr lang="en-US" noProof="1"/>
          </a:p>
        </p:txBody>
      </p:sp>
      <p:pic>
        <p:nvPicPr>
          <p:cNvPr id="7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0600" y="1149985"/>
            <a:ext cx="2999105" cy="533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438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48665" y="1215439"/>
            <a:ext cx="11294669" cy="5209967"/>
          </a:xfrm>
        </p:spPr>
        <p:txBody>
          <a:bodyPr>
            <a:normAutofit/>
          </a:bodyPr>
          <a:lstStyle/>
          <a:p>
            <a:r>
              <a:rPr lang="zh-CN" altLang="en-US" sz="2800" b="0" dirty="0"/>
              <a:t>主要教材：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en-US" altLang="zh-CN" sz="2400" b="0" dirty="0"/>
              <a:t>《Compilers: Principles, Techniques, and Tools》, </a:t>
            </a:r>
            <a:r>
              <a:rPr lang="zh-CN" altLang="en-US" sz="2400" b="0" dirty="0"/>
              <a:t>第二版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  课程将覆盖章节</a:t>
            </a:r>
            <a:r>
              <a:rPr lang="en-US" altLang="zh-CN" sz="2400" b="0" dirty="0"/>
              <a:t>1-6</a:t>
            </a:r>
            <a:r>
              <a:rPr lang="zh-CN" altLang="en-US" sz="2400" b="0" dirty="0"/>
              <a:t>与附件</a:t>
            </a:r>
            <a:r>
              <a:rPr lang="en-US" altLang="zh-CN" sz="2400" b="0" dirty="0"/>
              <a:t>A</a:t>
            </a:r>
          </a:p>
          <a:p>
            <a:r>
              <a:rPr lang="zh-CN" altLang="en-US" sz="2400" b="0" dirty="0"/>
              <a:t>其他参考材料：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en-US" altLang="zh-CN" sz="2400" b="0" dirty="0"/>
              <a:t>《Modern compiler implementation in Java》</a:t>
            </a:r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en-US" altLang="zh-CN" sz="2400" b="0" dirty="0"/>
              <a:t>《Advanced Compiler Design and Implementation》 </a:t>
            </a:r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en-US" altLang="zh-CN" sz="2400" b="0" dirty="0"/>
              <a:t>《</a:t>
            </a:r>
            <a:r>
              <a:rPr lang="zh-CN" altLang="en-US" sz="2400" b="0" dirty="0"/>
              <a:t>程序员的自我修养 </a:t>
            </a:r>
            <a:r>
              <a:rPr lang="en-US" altLang="zh-CN" sz="2400" b="0" dirty="0"/>
              <a:t>– </a:t>
            </a:r>
            <a:r>
              <a:rPr lang="zh-CN" altLang="en-US" sz="2400" b="0" dirty="0"/>
              <a:t>链接、装载与库</a:t>
            </a:r>
            <a:r>
              <a:rPr lang="en-US" altLang="zh-CN" sz="2400" b="0" dirty="0"/>
              <a:t>》</a:t>
            </a:r>
            <a:r>
              <a:rPr lang="zh-CN" altLang="en-US" sz="2400" b="0" dirty="0"/>
              <a:t>等等</a:t>
            </a:r>
          </a:p>
          <a:p>
            <a:pPr lvl="1"/>
            <a:endParaRPr lang="en-US" altLang="zh-CN" sz="2400" b="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Textbook &amp; Materials</a:t>
            </a:r>
            <a:r>
              <a:rPr lang="en-US" altLang="zh-CN" sz="3600" b="0" dirty="0">
                <a:latin typeface="+mn-ea"/>
                <a:ea typeface="+mn-ea"/>
              </a:rPr>
              <a:t>[</a:t>
            </a:r>
            <a:r>
              <a:rPr lang="zh-CN" altLang="en-US" sz="3600" b="0" dirty="0">
                <a:latin typeface="+mn-ea"/>
                <a:ea typeface="+mn-ea"/>
              </a:rPr>
              <a:t>教材资料</a:t>
            </a:r>
            <a:r>
              <a:rPr lang="en-US" altLang="zh-CN" sz="3600" b="0" dirty="0">
                <a:latin typeface="+mn-ea"/>
                <a:ea typeface="+mn-ea"/>
              </a:rPr>
              <a:t>]</a:t>
            </a:r>
            <a:endParaRPr lang="zh-CN" altLang="en-US" b="0" dirty="0">
              <a:latin typeface="+mn-ea"/>
              <a:ea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8</a:t>
            </a:fld>
            <a:endParaRPr lang="en-US" noProof="1"/>
          </a:p>
        </p:txBody>
      </p:sp>
      <p:pic>
        <p:nvPicPr>
          <p:cNvPr id="7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程序员的自我修养 (豆瓣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703" y="4301543"/>
            <a:ext cx="1398210" cy="2123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编译原理（2008年机械工业出版社出版图书） - 搜狗百科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7" r="8285"/>
          <a:stretch>
            <a:fillRect/>
          </a:stretch>
        </p:blipFill>
        <p:spPr bwMode="auto">
          <a:xfrm>
            <a:off x="8945280" y="1306683"/>
            <a:ext cx="2338598" cy="3548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odern Compiler Implementation in Jav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2" r="1948"/>
          <a:stretch>
            <a:fillRect/>
          </a:stretch>
        </p:blipFill>
        <p:spPr bwMode="auto">
          <a:xfrm>
            <a:off x="1782205" y="4301543"/>
            <a:ext cx="1399611" cy="2123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龙虎鲸------------编程原理之三大经书_hnjyzqq的博客-CSDN博客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0" r="9563"/>
          <a:stretch>
            <a:fillRect/>
          </a:stretch>
        </p:blipFill>
        <p:spPr bwMode="auto">
          <a:xfrm>
            <a:off x="3787541" y="4301844"/>
            <a:ext cx="1399611" cy="2123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2420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48666" y="1216233"/>
            <a:ext cx="9844865" cy="5537123"/>
          </a:xfrm>
        </p:spPr>
        <p:txBody>
          <a:bodyPr numCol="2">
            <a:normAutofit/>
          </a:bodyPr>
          <a:lstStyle/>
          <a:p>
            <a:pPr algn="l">
              <a:buClrTx/>
              <a:buSzTx/>
            </a:pPr>
            <a:r>
              <a:rPr lang="zh-CN" altLang="en-US" b="0" dirty="0"/>
              <a:t>理论课</a:t>
            </a:r>
            <a:endParaRPr lang="en-US" altLang="zh-CN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800" b="0" dirty="0"/>
              <a:t>排课：</a:t>
            </a:r>
            <a:endParaRPr lang="en-US" altLang="zh-CN" sz="3200" b="0" dirty="0"/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zh-CN" altLang="en-US" sz="2400" b="0" dirty="0"/>
              <a:t>周一：第 </a:t>
            </a:r>
            <a:r>
              <a:rPr lang="en-US" altLang="zh-CN" sz="2400" b="0" dirty="0"/>
              <a:t>1-9</a:t>
            </a:r>
            <a:r>
              <a:rPr lang="zh-CN" altLang="en-US" sz="2400" b="0" dirty="0"/>
              <a:t> 周</a:t>
            </a:r>
            <a:endParaRPr lang="en-US" altLang="zh-CN" sz="2400" b="0" dirty="0"/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zh-CN" altLang="en-US" sz="2400" b="0" dirty="0"/>
              <a:t>周三：第 </a:t>
            </a:r>
            <a:r>
              <a:rPr lang="en-US" altLang="zh-CN" sz="2400" b="0" dirty="0"/>
              <a:t>1-17</a:t>
            </a:r>
            <a:r>
              <a:rPr lang="zh-CN" altLang="en-US" sz="2400" b="0" dirty="0"/>
              <a:t> 周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endParaRPr lang="en-US" altLang="zh-CN" sz="10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800" b="0" dirty="0"/>
              <a:t>时间：</a:t>
            </a:r>
            <a:endParaRPr lang="en-US" altLang="zh-CN" sz="2800" b="0" dirty="0"/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zh-CN" altLang="en-US" sz="2400" b="0" dirty="0"/>
              <a:t>第  </a:t>
            </a:r>
            <a:r>
              <a:rPr lang="en-US" altLang="zh-CN" sz="2400" b="0" dirty="0"/>
              <a:t>5</a:t>
            </a:r>
            <a:r>
              <a:rPr lang="zh-CN" altLang="en-US" sz="2400" b="0" dirty="0"/>
              <a:t>  节：</a:t>
            </a:r>
            <a:r>
              <a:rPr lang="en-US" altLang="zh-CN" sz="2400" b="0" dirty="0"/>
              <a:t>14:20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–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15:05</a:t>
            </a:r>
            <a:endParaRPr lang="zh-CN" altLang="en-US" sz="3200" b="0" dirty="0"/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zh-CN" altLang="en-US" sz="2400" b="0" dirty="0"/>
              <a:t>第  </a:t>
            </a:r>
            <a:r>
              <a:rPr lang="en-US" altLang="zh-CN" sz="2400" b="0" dirty="0"/>
              <a:t>6 </a:t>
            </a:r>
            <a:r>
              <a:rPr lang="zh-CN" altLang="en-US" sz="2400" b="0" dirty="0"/>
              <a:t> 节：</a:t>
            </a:r>
            <a:r>
              <a:rPr lang="en-US" altLang="zh-CN" sz="2400" b="0" dirty="0"/>
              <a:t>15:15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–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16:00</a:t>
            </a:r>
          </a:p>
          <a:p>
            <a:pPr lvl="1">
              <a:buSzPct val="50000"/>
              <a:buFont typeface="Wingdings" panose="05000000000000000000" pitchFamily="2" charset="2"/>
              <a:buChar char="u"/>
            </a:pPr>
            <a:endParaRPr lang="en-US" altLang="zh-CN" sz="10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800" b="0" dirty="0"/>
              <a:t>地点：</a:t>
            </a:r>
            <a:endParaRPr lang="en-US" altLang="zh-CN" sz="2800" b="0" dirty="0"/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zh-CN" altLang="en-US" sz="2400" b="0" dirty="0"/>
              <a:t>教学大楼东</a:t>
            </a:r>
            <a:r>
              <a:rPr lang="en-US" altLang="zh-CN" sz="2400" b="0" dirty="0"/>
              <a:t>D302</a:t>
            </a:r>
            <a:endParaRPr lang="en-US" altLang="zh-CN" b="0" dirty="0"/>
          </a:p>
          <a:p>
            <a:pPr lvl="2">
              <a:buSzPct val="50000"/>
              <a:buFont typeface="Wingdings" panose="05000000000000000000" pitchFamily="2" charset="2"/>
              <a:buChar char="u"/>
            </a:pPr>
            <a:endParaRPr lang="en-US" altLang="zh-CN" sz="2000" b="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Module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  <a:r>
              <a:rPr lang="zh-CN" altLang="en-US" dirty="0"/>
              <a:t> </a:t>
            </a:r>
            <a:r>
              <a:rPr lang="en-US" altLang="zh-CN" dirty="0"/>
              <a:t>&amp;</a:t>
            </a:r>
            <a:r>
              <a:rPr lang="zh-CN" altLang="en-US" dirty="0"/>
              <a:t> </a:t>
            </a:r>
            <a:r>
              <a:rPr lang="en-US" altLang="zh-CN" dirty="0"/>
              <a:t>Location</a:t>
            </a:r>
            <a:r>
              <a:rPr lang="en-US" altLang="zh-CN" sz="3600" b="0" dirty="0">
                <a:latin typeface="+mn-ea"/>
                <a:ea typeface="+mn-ea"/>
              </a:rPr>
              <a:t>[</a:t>
            </a:r>
            <a:r>
              <a:rPr lang="zh-CN" altLang="en-US" sz="3600" b="0" dirty="0">
                <a:latin typeface="+mn-ea"/>
                <a:ea typeface="+mn-ea"/>
              </a:rPr>
              <a:t>时间地点</a:t>
            </a:r>
            <a:r>
              <a:rPr lang="en-US" altLang="zh-CN" sz="3600" b="0" dirty="0">
                <a:latin typeface="+mn-ea"/>
                <a:ea typeface="+mn-ea"/>
              </a:rPr>
              <a:t>]</a:t>
            </a:r>
            <a:endParaRPr lang="zh-CN" altLang="en-US" b="0" dirty="0">
              <a:latin typeface="+mn-ea"/>
              <a:ea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9</a:t>
            </a:fld>
            <a:endParaRPr lang="en-US" noProof="1"/>
          </a:p>
        </p:txBody>
      </p:sp>
      <p:pic>
        <p:nvPicPr>
          <p:cNvPr id="7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5991860" y="829945"/>
            <a:ext cx="6096000" cy="48907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 altLang="zh-CN" b="0" dirty="0"/>
          </a:p>
          <a:p>
            <a:pPr marL="228600" indent="-228600" algn="l">
              <a:lnSpc>
                <a:spcPct val="9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3200" dirty="0">
                <a:sym typeface="+mn-ea"/>
              </a:rPr>
              <a:t>实验课</a:t>
            </a:r>
            <a:endParaRPr lang="en-US" altLang="zh-CN" sz="32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800" dirty="0">
                <a:sym typeface="+mn-ea"/>
              </a:rPr>
              <a:t>排课：</a:t>
            </a:r>
            <a:endParaRPr lang="zh-CN" altLang="en-US" sz="2800" b="0" dirty="0"/>
          </a:p>
          <a:p>
            <a:pPr marL="1143000" lvl="2" indent="-228600" algn="l">
              <a:lnSpc>
                <a:spcPct val="90000"/>
              </a:lnSpc>
              <a:spcBef>
                <a:spcPts val="500"/>
              </a:spcBef>
              <a:buClrTx/>
              <a:buSzPct val="50000"/>
              <a:buFont typeface="Wingdings" panose="05000000000000000000" pitchFamily="2" charset="2"/>
              <a:buChar char="p"/>
            </a:pPr>
            <a:r>
              <a:rPr lang="zh-CN" altLang="en-US" sz="2400" dirty="0">
                <a:sym typeface="+mn-ea"/>
              </a:rPr>
              <a:t>周三：第 1-1</a:t>
            </a:r>
            <a:r>
              <a:rPr lang="en-US" altLang="zh-CN" sz="2400" dirty="0">
                <a:sym typeface="+mn-ea"/>
              </a:rPr>
              <a:t>7</a:t>
            </a:r>
            <a:r>
              <a:rPr lang="zh-CN" altLang="en-US" sz="2400" dirty="0">
                <a:sym typeface="+mn-ea"/>
              </a:rPr>
              <a:t> 周</a:t>
            </a:r>
          </a:p>
          <a:p>
            <a:pPr marL="1143000" lvl="2" indent="-228600" algn="l">
              <a:lnSpc>
                <a:spcPct val="90000"/>
              </a:lnSpc>
              <a:spcBef>
                <a:spcPts val="500"/>
              </a:spcBef>
              <a:buClrTx/>
              <a:buSzPct val="50000"/>
              <a:buFont typeface="Wingdings" panose="05000000000000000000" pitchFamily="2" charset="2"/>
              <a:buChar char="p"/>
            </a:pPr>
            <a:endParaRPr lang="zh-CN" altLang="en-US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endParaRPr lang="en-US" altLang="zh-CN" sz="10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800" dirty="0">
                <a:sym typeface="+mn-ea"/>
              </a:rPr>
              <a:t>时间：</a:t>
            </a:r>
            <a:endParaRPr lang="zh-CN" altLang="en-US" sz="2800" b="0" dirty="0"/>
          </a:p>
          <a:p>
            <a:pPr marL="1143000" lvl="2" indent="-228600" algn="l">
              <a:lnSpc>
                <a:spcPct val="90000"/>
              </a:lnSpc>
              <a:spcBef>
                <a:spcPts val="500"/>
              </a:spcBef>
              <a:buClrTx/>
              <a:buSzPct val="50000"/>
              <a:buFont typeface="Wingdings" panose="05000000000000000000" pitchFamily="2" charset="2"/>
              <a:buChar char="p"/>
            </a:pPr>
            <a:r>
              <a:rPr lang="zh-CN" altLang="en-US" sz="2400" dirty="0">
                <a:sym typeface="+mn-ea"/>
              </a:rPr>
              <a:t>第  7  节：16:30 – 17:15</a:t>
            </a:r>
            <a:endParaRPr lang="zh-CN" altLang="en-US" sz="2400" b="0" dirty="0"/>
          </a:p>
          <a:p>
            <a:pPr marL="1143000" lvl="2" indent="-228600" algn="l">
              <a:lnSpc>
                <a:spcPct val="90000"/>
              </a:lnSpc>
              <a:spcBef>
                <a:spcPts val="500"/>
              </a:spcBef>
              <a:buClrTx/>
              <a:buSzPct val="50000"/>
              <a:buFont typeface="Wingdings" panose="05000000000000000000" pitchFamily="2" charset="2"/>
              <a:buChar char="p"/>
            </a:pPr>
            <a:r>
              <a:rPr lang="zh-CN" altLang="en-US" sz="2400" dirty="0">
                <a:sym typeface="+mn-ea"/>
              </a:rPr>
              <a:t>第  8  节：17:25 – 18:10</a:t>
            </a:r>
            <a:endParaRPr lang="zh-CN" altLang="en-US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endParaRPr lang="en-US" altLang="zh-CN" sz="10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800" dirty="0">
                <a:sym typeface="+mn-ea"/>
              </a:rPr>
              <a:t>地点：</a:t>
            </a:r>
            <a:endParaRPr lang="zh-CN" altLang="en-US" sz="2800" b="0" dirty="0"/>
          </a:p>
          <a:p>
            <a:pPr marL="1143000" lvl="2" indent="-228600" algn="l">
              <a:lnSpc>
                <a:spcPct val="90000"/>
              </a:lnSpc>
              <a:spcBef>
                <a:spcPts val="500"/>
              </a:spcBef>
              <a:buClrTx/>
              <a:buSzPct val="50000"/>
              <a:buFont typeface="Wingdings" panose="05000000000000000000" pitchFamily="2" charset="2"/>
              <a:buChar char="p"/>
            </a:pPr>
            <a:r>
              <a:rPr lang="zh-CN" altLang="en-US" sz="2400" dirty="0">
                <a:sym typeface="+mn-ea"/>
              </a:rPr>
              <a:t>北实验楼</a:t>
            </a:r>
            <a:r>
              <a:rPr lang="en-US" altLang="zh-CN" sz="2400" dirty="0">
                <a:sym typeface="+mn-ea"/>
              </a:rPr>
              <a:t> </a:t>
            </a:r>
            <a:r>
              <a:rPr lang="zh-CN" altLang="en-US" sz="2400" dirty="0">
                <a:sym typeface="+mn-ea"/>
              </a:rPr>
              <a:t>B202</a:t>
            </a:r>
            <a:endParaRPr lang="zh-CN" altLang="en-US" sz="2400" b="0" dirty="0"/>
          </a:p>
          <a:p>
            <a:pPr lvl="2">
              <a:buSzPct val="50000"/>
              <a:buFont typeface="Wingdings" panose="05000000000000000000" pitchFamily="2" charset="2"/>
              <a:buChar char="u"/>
            </a:pPr>
            <a:endParaRPr lang="en-GB" altLang="zh-CN" sz="2400" b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Schedule</a:t>
            </a:r>
            <a:r>
              <a:rPr lang="en-US" altLang="zh-CN" sz="3600" b="0" dirty="0">
                <a:latin typeface="+mn-ea"/>
                <a:ea typeface="+mn-ea"/>
              </a:rPr>
              <a:t>[</a:t>
            </a:r>
            <a:r>
              <a:rPr lang="zh-CN" altLang="en-US" sz="3600" b="0" dirty="0">
                <a:latin typeface="+mn-ea"/>
                <a:ea typeface="+mn-ea"/>
              </a:rPr>
              <a:t>进度安排</a:t>
            </a:r>
            <a:r>
              <a:rPr lang="en-US" altLang="zh-CN" sz="3600" b="0" dirty="0">
                <a:latin typeface="+mn-ea"/>
                <a:ea typeface="+mn-ea"/>
              </a:rPr>
              <a:t>]</a:t>
            </a:r>
            <a:endParaRPr lang="zh-CN" altLang="en-US" b="0" dirty="0">
              <a:latin typeface="+mn-ea"/>
              <a:ea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10</a:t>
            </a:fld>
            <a:endParaRPr lang="en-US" noProof="1"/>
          </a:p>
        </p:txBody>
      </p:sp>
      <p:pic>
        <p:nvPicPr>
          <p:cNvPr id="7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1145689" y="1087162"/>
          <a:ext cx="8930240" cy="5097258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810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0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4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4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17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周次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课程内容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周次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课程内容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第</a:t>
                      </a:r>
                      <a:r>
                        <a:rPr lang="en-US" altLang="zh-CN" sz="1400" dirty="0"/>
                        <a:t>1</a:t>
                      </a:r>
                      <a:r>
                        <a:rPr lang="zh-CN" altLang="en-US" sz="1400" dirty="0"/>
                        <a:t>周 </a:t>
                      </a:r>
                      <a:r>
                        <a:rPr lang="en-US" altLang="zh-CN" sz="1400" dirty="0"/>
                        <a:t>(3.2</a:t>
                      </a:r>
                      <a:r>
                        <a:rPr lang="zh-CN" altLang="en-US" sz="1400" dirty="0"/>
                        <a:t> </a:t>
                      </a:r>
                      <a:r>
                        <a:rPr lang="en-US" altLang="zh-CN" sz="1400" dirty="0"/>
                        <a:t>&amp;</a:t>
                      </a:r>
                      <a:r>
                        <a:rPr lang="zh-CN" altLang="en-US" sz="1400" dirty="0"/>
                        <a:t> </a:t>
                      </a:r>
                      <a:r>
                        <a:rPr lang="en-US" altLang="zh-CN" sz="1400" dirty="0"/>
                        <a:t>3.4)</a:t>
                      </a:r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周一：课程介绍、周三：词法分析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第</a:t>
                      </a:r>
                      <a:r>
                        <a:rPr lang="en-US" altLang="zh-CN" sz="1400" dirty="0"/>
                        <a:t>10</a:t>
                      </a:r>
                      <a:r>
                        <a:rPr lang="zh-CN" altLang="en-US" sz="1400" dirty="0"/>
                        <a:t>周</a:t>
                      </a:r>
                      <a:r>
                        <a:rPr lang="en-US" altLang="zh-CN" sz="1400" dirty="0"/>
                        <a:t> (5.6)</a:t>
                      </a:r>
                      <a:endParaRPr lang="zh-CN" altLang="en-US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ym typeface="+mn-ea"/>
                        </a:rPr>
                        <a:t>周三</a:t>
                      </a:r>
                      <a:r>
                        <a:rPr lang="zh-CN" altLang="en-US" sz="1400" dirty="0"/>
                        <a:t>：中间代码</a:t>
                      </a:r>
                      <a:endParaRPr lang="en-US" altLang="zh-C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第</a:t>
                      </a:r>
                      <a:r>
                        <a:rPr lang="en-US" altLang="zh-CN" sz="1400" dirty="0"/>
                        <a:t>2</a:t>
                      </a:r>
                      <a:r>
                        <a:rPr lang="zh-CN" altLang="en-US" sz="1400" dirty="0"/>
                        <a:t>周</a:t>
                      </a:r>
                      <a:r>
                        <a:rPr lang="en-US" altLang="zh-CN" sz="1400" dirty="0"/>
                        <a:t> (3.9 &amp; 3.11)</a:t>
                      </a:r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周</a:t>
                      </a:r>
                      <a:r>
                        <a:rPr lang="zh-CN" altLang="en-US" sz="1400" dirty="0">
                          <a:sym typeface="+mn-ea"/>
                        </a:rPr>
                        <a:t>一</a:t>
                      </a:r>
                      <a:r>
                        <a:rPr lang="zh-CN" altLang="en-US" sz="1400" dirty="0"/>
                        <a:t>：词法分析、周</a:t>
                      </a:r>
                      <a:r>
                        <a:rPr lang="zh-CN" altLang="en-US" sz="1400" dirty="0">
                          <a:sym typeface="+mn-ea"/>
                        </a:rPr>
                        <a:t>三</a:t>
                      </a:r>
                      <a:r>
                        <a:rPr lang="zh-CN" altLang="en-US" sz="1400" dirty="0"/>
                        <a:t>：词法分析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第</a:t>
                      </a:r>
                      <a:r>
                        <a:rPr lang="en-US" altLang="zh-CN" sz="1400" dirty="0"/>
                        <a:t>11</a:t>
                      </a:r>
                      <a:r>
                        <a:rPr lang="zh-CN" altLang="en-US" sz="1400" dirty="0"/>
                        <a:t>周</a:t>
                      </a:r>
                      <a:r>
                        <a:rPr lang="en-US" altLang="zh-CN" sz="1400" dirty="0"/>
                        <a:t> (5.13)</a:t>
                      </a:r>
                      <a:endParaRPr lang="zh-CN" altLang="en-US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ym typeface="+mn-ea"/>
                        </a:rPr>
                        <a:t>周三</a:t>
                      </a:r>
                      <a:r>
                        <a:rPr lang="zh-CN" altLang="en-US" sz="1400" dirty="0"/>
                        <a:t>：中间代码</a:t>
                      </a:r>
                      <a:endParaRPr lang="en-US" altLang="zh-C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第</a:t>
                      </a:r>
                      <a:r>
                        <a:rPr lang="en-US" altLang="zh-CN" sz="1400" dirty="0"/>
                        <a:t>3</a:t>
                      </a:r>
                      <a:r>
                        <a:rPr lang="zh-CN" altLang="en-US" sz="1400" dirty="0"/>
                        <a:t>周 </a:t>
                      </a:r>
                      <a:r>
                        <a:rPr lang="en-US" altLang="zh-CN" sz="1400" dirty="0"/>
                        <a:t>(3.16</a:t>
                      </a:r>
                      <a:r>
                        <a:rPr lang="zh-CN" altLang="en-US" sz="1400" dirty="0"/>
                        <a:t> </a:t>
                      </a:r>
                      <a:r>
                        <a:rPr lang="en-US" altLang="zh-CN" sz="1400" dirty="0"/>
                        <a:t>&amp;</a:t>
                      </a:r>
                      <a:r>
                        <a:rPr lang="zh-CN" altLang="en-US" sz="1400" dirty="0"/>
                        <a:t> </a:t>
                      </a:r>
                      <a:r>
                        <a:rPr lang="en-US" altLang="zh-CN" sz="1400" dirty="0"/>
                        <a:t>3.18)</a:t>
                      </a:r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周</a:t>
                      </a:r>
                      <a:r>
                        <a:rPr lang="zh-CN" altLang="en-US" sz="1400" dirty="0">
                          <a:sym typeface="+mn-ea"/>
                        </a:rPr>
                        <a:t>一</a:t>
                      </a:r>
                      <a:r>
                        <a:rPr lang="zh-CN" altLang="en-US" sz="1400" dirty="0"/>
                        <a:t>：词法分析、</a:t>
                      </a:r>
                      <a:r>
                        <a:rPr lang="zh-CN" altLang="en-US" sz="1400" dirty="0">
                          <a:sym typeface="+mn-ea"/>
                        </a:rPr>
                        <a:t>周三</a:t>
                      </a:r>
                      <a:r>
                        <a:rPr lang="zh-CN" altLang="en-US" sz="1400" dirty="0"/>
                        <a:t>：语法分析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第</a:t>
                      </a:r>
                      <a:r>
                        <a:rPr lang="en-US" altLang="zh-CN" sz="1400" dirty="0"/>
                        <a:t>12</a:t>
                      </a:r>
                      <a:r>
                        <a:rPr lang="zh-CN" altLang="en-US" sz="1400" dirty="0"/>
                        <a:t>周</a:t>
                      </a:r>
                      <a:r>
                        <a:rPr lang="en-US" altLang="zh-CN" sz="1400" dirty="0"/>
                        <a:t> (5.20)</a:t>
                      </a:r>
                      <a:endParaRPr lang="zh-CN" altLang="en-US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ym typeface="+mn-ea"/>
                        </a:rPr>
                        <a:t>周三</a:t>
                      </a:r>
                      <a:r>
                        <a:rPr lang="zh-CN" altLang="en-US" sz="1400" dirty="0"/>
                        <a:t>：代码优化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第</a:t>
                      </a:r>
                      <a:r>
                        <a:rPr lang="en-US" altLang="zh-CN" sz="1400" dirty="0"/>
                        <a:t>4</a:t>
                      </a:r>
                      <a:r>
                        <a:rPr lang="zh-CN" altLang="en-US" sz="1400" dirty="0"/>
                        <a:t>周 </a:t>
                      </a:r>
                      <a:r>
                        <a:rPr lang="en-US" altLang="zh-CN" sz="1400" dirty="0"/>
                        <a:t>(3.23</a:t>
                      </a:r>
                      <a:r>
                        <a:rPr lang="zh-CN" altLang="en-US" sz="1400" dirty="0"/>
                        <a:t> </a:t>
                      </a:r>
                      <a:r>
                        <a:rPr lang="en-US" altLang="zh-CN" sz="1400" dirty="0"/>
                        <a:t>&amp;</a:t>
                      </a:r>
                      <a:r>
                        <a:rPr lang="zh-CN" altLang="en-US" sz="1400" dirty="0"/>
                        <a:t> </a:t>
                      </a:r>
                      <a:r>
                        <a:rPr lang="en-US" altLang="zh-CN" sz="1400" dirty="0"/>
                        <a:t>3.25)</a:t>
                      </a:r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周</a:t>
                      </a:r>
                      <a:r>
                        <a:rPr lang="zh-CN" altLang="en-US" sz="1400" dirty="0">
                          <a:sym typeface="+mn-ea"/>
                        </a:rPr>
                        <a:t>一</a:t>
                      </a:r>
                      <a:r>
                        <a:rPr lang="zh-CN" altLang="en-US" sz="1400" dirty="0"/>
                        <a:t>：语法分析、</a:t>
                      </a:r>
                      <a:r>
                        <a:rPr lang="zh-CN" altLang="en-US" sz="1400" dirty="0">
                          <a:sym typeface="+mn-ea"/>
                        </a:rPr>
                        <a:t>周三</a:t>
                      </a:r>
                      <a:r>
                        <a:rPr lang="zh-CN" altLang="en-US" sz="1400" dirty="0"/>
                        <a:t>：语法分析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第</a:t>
                      </a:r>
                      <a:r>
                        <a:rPr lang="en-US" altLang="zh-CN" sz="1400" dirty="0"/>
                        <a:t>13</a:t>
                      </a:r>
                      <a:r>
                        <a:rPr lang="zh-CN" altLang="en-US" sz="1400" dirty="0"/>
                        <a:t>周</a:t>
                      </a:r>
                      <a:r>
                        <a:rPr lang="en-US" altLang="zh-CN" sz="1400" dirty="0"/>
                        <a:t> (5.27)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ym typeface="+mn-ea"/>
                        </a:rPr>
                        <a:t>周三</a:t>
                      </a:r>
                      <a:r>
                        <a:rPr lang="zh-CN" altLang="en-US" sz="1400" dirty="0"/>
                        <a:t>：代码优化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/>
                        <a:t>第</a:t>
                      </a:r>
                      <a:r>
                        <a:rPr lang="en-US" altLang="zh-CN" sz="1400" dirty="0"/>
                        <a:t>5</a:t>
                      </a:r>
                      <a:r>
                        <a:rPr lang="zh-CN" altLang="en-US" sz="1400" dirty="0"/>
                        <a:t>周 </a:t>
                      </a:r>
                      <a:r>
                        <a:rPr lang="en-US" altLang="zh-CN" sz="1400" dirty="0"/>
                        <a:t>(3.30</a:t>
                      </a:r>
                      <a:r>
                        <a:rPr lang="zh-CN" altLang="en-US" sz="1400" dirty="0"/>
                        <a:t> </a:t>
                      </a:r>
                      <a:r>
                        <a:rPr lang="en-US" altLang="zh-CN" sz="1400" dirty="0"/>
                        <a:t>&amp;</a:t>
                      </a:r>
                      <a:r>
                        <a:rPr lang="zh-CN" altLang="en-US" sz="1400" dirty="0"/>
                        <a:t> </a:t>
                      </a:r>
                      <a:r>
                        <a:rPr lang="en-US" altLang="zh-CN" sz="1400" dirty="0"/>
                        <a:t>4.1)</a:t>
                      </a:r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周</a:t>
                      </a:r>
                      <a:r>
                        <a:rPr lang="zh-CN" altLang="en-US" sz="1400" dirty="0">
                          <a:sym typeface="+mn-ea"/>
                        </a:rPr>
                        <a:t>一</a:t>
                      </a:r>
                      <a:r>
                        <a:rPr lang="zh-CN" altLang="en-US" sz="1400" dirty="0"/>
                        <a:t>：语法分析、</a:t>
                      </a:r>
                      <a:r>
                        <a:rPr lang="zh-CN" altLang="en-US" sz="1400" dirty="0">
                          <a:sym typeface="+mn-ea"/>
                        </a:rPr>
                        <a:t>周三</a:t>
                      </a:r>
                      <a:r>
                        <a:rPr lang="zh-CN" altLang="en-US" sz="1400" dirty="0"/>
                        <a:t>：语法分析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第</a:t>
                      </a:r>
                      <a:r>
                        <a:rPr lang="en-US" altLang="zh-CN" sz="1400" dirty="0"/>
                        <a:t>14</a:t>
                      </a:r>
                      <a:r>
                        <a:rPr lang="zh-CN" altLang="en-US" sz="1400" dirty="0"/>
                        <a:t>周</a:t>
                      </a:r>
                      <a:r>
                        <a:rPr lang="en-US" altLang="zh-CN" sz="1400" dirty="0"/>
                        <a:t> (6.3)</a:t>
                      </a:r>
                      <a:endParaRPr lang="zh-CN" altLang="en-US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ym typeface="+mn-ea"/>
                        </a:rPr>
                        <a:t>周三</a:t>
                      </a:r>
                      <a:r>
                        <a:rPr lang="zh-CN" altLang="en-US" sz="1400" dirty="0"/>
                        <a:t>：代码优化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7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第</a:t>
                      </a:r>
                      <a:r>
                        <a:rPr lang="en-US" altLang="zh-CN" sz="1400" dirty="0"/>
                        <a:t>6</a:t>
                      </a:r>
                      <a:r>
                        <a:rPr lang="zh-CN" altLang="en-US" sz="1400" dirty="0"/>
                        <a:t>周</a:t>
                      </a:r>
                      <a:r>
                        <a:rPr lang="en-US" altLang="zh-CN" sz="1400" dirty="0"/>
                        <a:t> (4.6 &amp;</a:t>
                      </a:r>
                      <a:r>
                        <a:rPr lang="en-US" altLang="zh-CN" sz="1400" baseline="0" dirty="0"/>
                        <a:t> 4.8</a:t>
                      </a:r>
                      <a:r>
                        <a:rPr lang="en-US" altLang="zh-CN" sz="1400" dirty="0"/>
                        <a:t>)</a:t>
                      </a:r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周</a:t>
                      </a:r>
                      <a:r>
                        <a:rPr lang="zh-CN" altLang="en-US" sz="1400" dirty="0">
                          <a:sym typeface="+mn-ea"/>
                        </a:rPr>
                        <a:t>一</a:t>
                      </a:r>
                      <a:r>
                        <a:rPr lang="zh-CN" altLang="en-US" sz="1400" dirty="0"/>
                        <a:t>：语法分析、</a:t>
                      </a:r>
                      <a:r>
                        <a:rPr lang="zh-CN" altLang="en-US" sz="1400" dirty="0">
                          <a:sym typeface="+mn-ea"/>
                        </a:rPr>
                        <a:t>周三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：语法分析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第</a:t>
                      </a:r>
                      <a:r>
                        <a:rPr lang="en-US" altLang="zh-CN" sz="1400" dirty="0"/>
                        <a:t>15</a:t>
                      </a:r>
                      <a:r>
                        <a:rPr lang="zh-CN" altLang="en-US" sz="1400" dirty="0"/>
                        <a:t>周</a:t>
                      </a:r>
                      <a:r>
                        <a:rPr lang="en-US" altLang="zh-CN" sz="1400" dirty="0"/>
                        <a:t> (6.10)</a:t>
                      </a:r>
                      <a:endParaRPr lang="zh-CN" altLang="en-US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ym typeface="+mn-ea"/>
                        </a:rPr>
                        <a:t>周三</a:t>
                      </a:r>
                      <a:r>
                        <a:rPr lang="zh-CN" altLang="en-US" sz="1400" dirty="0"/>
                        <a:t>：目标代码生成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7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第</a:t>
                      </a:r>
                      <a:r>
                        <a:rPr lang="en-US" altLang="zh-CN" sz="1400" dirty="0"/>
                        <a:t>7</a:t>
                      </a:r>
                      <a:r>
                        <a:rPr lang="zh-CN" altLang="en-US" sz="1400" dirty="0"/>
                        <a:t>周</a:t>
                      </a:r>
                      <a:r>
                        <a:rPr lang="en-US" altLang="zh-CN" sz="1400" dirty="0"/>
                        <a:t> (4.13 &amp; 4.15)</a:t>
                      </a:r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周</a:t>
                      </a:r>
                      <a:r>
                        <a:rPr lang="zh-CN" altLang="en-US" sz="1400" dirty="0">
                          <a:sym typeface="+mn-ea"/>
                        </a:rPr>
                        <a:t>一</a:t>
                      </a:r>
                      <a:r>
                        <a:rPr lang="zh-CN" altLang="en-US" sz="1400" dirty="0"/>
                        <a:t>：语法分析、</a:t>
                      </a:r>
                      <a:r>
                        <a:rPr lang="zh-CN" altLang="en-US" sz="1400" dirty="0">
                          <a:sym typeface="+mn-ea"/>
                        </a:rPr>
                        <a:t>周三</a:t>
                      </a:r>
                      <a:r>
                        <a:rPr lang="zh-CN" altLang="en-US" sz="1400" dirty="0"/>
                        <a:t>：语义分析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第</a:t>
                      </a:r>
                      <a:r>
                        <a:rPr lang="en-US" altLang="zh-CN" sz="1400" dirty="0"/>
                        <a:t>16</a:t>
                      </a:r>
                      <a:r>
                        <a:rPr lang="zh-CN" altLang="en-US" sz="1400" dirty="0"/>
                        <a:t>周</a:t>
                      </a:r>
                      <a:r>
                        <a:rPr lang="en-US" altLang="zh-CN" sz="1400" dirty="0"/>
                        <a:t> (6.17)</a:t>
                      </a:r>
                      <a:endParaRPr lang="zh-CN" altLang="en-US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ym typeface="+mn-ea"/>
                        </a:rPr>
                        <a:t>周三</a:t>
                      </a:r>
                      <a:r>
                        <a:rPr lang="zh-CN" altLang="en-US" sz="1400" dirty="0"/>
                        <a:t>：目标代码生成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57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第</a:t>
                      </a:r>
                      <a:r>
                        <a:rPr lang="en-US" altLang="zh-CN" sz="1400" dirty="0"/>
                        <a:t>8</a:t>
                      </a:r>
                      <a:r>
                        <a:rPr lang="zh-CN" altLang="en-US" sz="1400" dirty="0"/>
                        <a:t>周</a:t>
                      </a:r>
                      <a:r>
                        <a:rPr lang="en-US" altLang="zh-CN" sz="1400" dirty="0"/>
                        <a:t> (4.20 &amp; 4.22)</a:t>
                      </a:r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周</a:t>
                      </a:r>
                      <a:r>
                        <a:rPr lang="zh-CN" altLang="en-US" sz="1400" dirty="0">
                          <a:sym typeface="+mn-ea"/>
                        </a:rPr>
                        <a:t>一</a:t>
                      </a:r>
                      <a:r>
                        <a:rPr lang="zh-CN" altLang="en-US" sz="1400" dirty="0"/>
                        <a:t>：语义分析、</a:t>
                      </a:r>
                      <a:r>
                        <a:rPr lang="zh-CN" altLang="en-US" sz="1400" dirty="0">
                          <a:sym typeface="+mn-ea"/>
                        </a:rPr>
                        <a:t>周三</a:t>
                      </a:r>
                      <a:r>
                        <a:rPr lang="zh-CN" altLang="en-US" sz="1400" dirty="0"/>
                        <a:t>：语义分析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第</a:t>
                      </a:r>
                      <a:r>
                        <a:rPr lang="en-US" altLang="zh-CN" sz="1400" dirty="0"/>
                        <a:t>17</a:t>
                      </a:r>
                      <a:r>
                        <a:rPr lang="zh-CN" altLang="en-US" sz="1400" dirty="0"/>
                        <a:t>周</a:t>
                      </a:r>
                      <a:r>
                        <a:rPr lang="en-US" altLang="zh-CN" sz="1400" dirty="0"/>
                        <a:t> (6.24)</a:t>
                      </a:r>
                      <a:endParaRPr lang="zh-CN" altLang="en-US" sz="14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>
                          <a:sym typeface="+mn-ea"/>
                        </a:rPr>
                        <a:t>周三</a:t>
                      </a:r>
                      <a:r>
                        <a:rPr lang="zh-CN" altLang="en-US" sz="1400" dirty="0"/>
                        <a:t>：课程复习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572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第</a:t>
                      </a:r>
                      <a:r>
                        <a:rPr lang="en-US" altLang="zh-CN" sz="1400" dirty="0"/>
                        <a:t>9</a:t>
                      </a:r>
                      <a:r>
                        <a:rPr lang="zh-CN" altLang="en-US" sz="1400" dirty="0"/>
                        <a:t>周</a:t>
                      </a:r>
                      <a:r>
                        <a:rPr lang="en-US" altLang="zh-CN" sz="1400" dirty="0"/>
                        <a:t> (4.27 &amp; 4.29)</a:t>
                      </a:r>
                      <a:endParaRPr lang="zh-CN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周</a:t>
                      </a:r>
                      <a:r>
                        <a:rPr lang="zh-CN" altLang="en-US" sz="1400" dirty="0">
                          <a:sym typeface="+mn-ea"/>
                        </a:rPr>
                        <a:t>一</a:t>
                      </a:r>
                      <a:r>
                        <a:rPr lang="zh-CN" altLang="en-US" sz="1400" dirty="0"/>
                        <a:t>：语义分析、</a:t>
                      </a:r>
                      <a:r>
                        <a:rPr lang="zh-CN" altLang="en-US" sz="1400" dirty="0">
                          <a:sym typeface="+mn-ea"/>
                        </a:rPr>
                        <a:t>周三</a:t>
                      </a:r>
                      <a:r>
                        <a:rPr lang="zh-CN" altLang="en-US" sz="1400" dirty="0"/>
                        <a:t>：中间代码</a:t>
                      </a:r>
                      <a:endParaRPr lang="en-US" altLang="zh-CN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第</a:t>
                      </a:r>
                      <a:r>
                        <a:rPr lang="en-US" altLang="zh-CN" sz="1400" dirty="0"/>
                        <a:t>18-19</a:t>
                      </a:r>
                      <a:r>
                        <a:rPr lang="zh-CN" altLang="en-US" sz="1400" dirty="0"/>
                        <a:t>周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dirty="0"/>
                        <a:t>考试周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400522" y="1457521"/>
            <a:ext cx="1609896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/>
              <a:t>词法分析 </a:t>
            </a:r>
            <a:r>
              <a:rPr lang="en-US" altLang="zh-CN" dirty="0"/>
              <a:t>(4)</a:t>
            </a:r>
            <a:endParaRPr lang="en-US" altLang="zh-CN" sz="1800" dirty="0"/>
          </a:p>
          <a:p>
            <a:endParaRPr lang="en-US" altLang="zh-CN" sz="1800" dirty="0"/>
          </a:p>
          <a:p>
            <a:r>
              <a:rPr lang="zh-CN" altLang="en-US" sz="1800" dirty="0"/>
              <a:t>语法分析 </a:t>
            </a:r>
            <a:r>
              <a:rPr lang="en-US" altLang="zh-CN" sz="1800" dirty="0"/>
              <a:t>(8)</a:t>
            </a:r>
          </a:p>
          <a:p>
            <a:endParaRPr lang="en-US" altLang="zh-CN" sz="1800" dirty="0"/>
          </a:p>
          <a:p>
            <a:r>
              <a:rPr lang="zh-CN" altLang="en-US" sz="1800" dirty="0"/>
              <a:t>语义分析 </a:t>
            </a:r>
            <a:r>
              <a:rPr lang="en-US" altLang="zh-CN" sz="1800" dirty="0"/>
              <a:t>(4)</a:t>
            </a:r>
          </a:p>
          <a:p>
            <a:endParaRPr lang="en-US" altLang="zh-CN" dirty="0"/>
          </a:p>
          <a:p>
            <a:r>
              <a:rPr lang="zh-CN" altLang="en-US" dirty="0"/>
              <a:t>中间代码 </a:t>
            </a:r>
            <a:r>
              <a:rPr lang="en-US" altLang="zh-CN" dirty="0"/>
              <a:t>(3)</a:t>
            </a:r>
          </a:p>
          <a:p>
            <a:endParaRPr lang="en-US" altLang="zh-CN" dirty="0"/>
          </a:p>
          <a:p>
            <a:r>
              <a:rPr lang="zh-CN" altLang="en-US" dirty="0"/>
              <a:t>代码优化 </a:t>
            </a:r>
            <a:r>
              <a:rPr lang="en-US" altLang="zh-CN" dirty="0"/>
              <a:t>(3)</a:t>
            </a:r>
          </a:p>
          <a:p>
            <a:endParaRPr lang="en-US" altLang="zh-CN" dirty="0"/>
          </a:p>
          <a:p>
            <a:r>
              <a:rPr lang="zh-CN" altLang="en-US" dirty="0"/>
              <a:t>代码生成 </a:t>
            </a:r>
            <a:r>
              <a:rPr lang="en-US" altLang="zh-CN" dirty="0"/>
              <a:t>(2)</a:t>
            </a:r>
          </a:p>
          <a:p>
            <a:endParaRPr lang="en-US" altLang="zh-CN" dirty="0"/>
          </a:p>
          <a:p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</a:rPr>
              <a:t>Subject to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</a:rPr>
              <a:t>changes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48667" y="1216233"/>
            <a:ext cx="10477000" cy="5209967"/>
          </a:xfrm>
        </p:spPr>
        <p:txBody>
          <a:bodyPr>
            <a:normAutofit/>
          </a:bodyPr>
          <a:lstStyle/>
          <a:p>
            <a:r>
              <a:rPr lang="zh-CN" altLang="en-US" sz="2800" b="0" dirty="0"/>
              <a:t>学分与学时：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  理论课：</a:t>
            </a:r>
            <a:r>
              <a:rPr lang="en-US" altLang="zh-CN" sz="2400" b="0" dirty="0"/>
              <a:t>3</a:t>
            </a:r>
            <a:r>
              <a:rPr lang="zh-CN" altLang="en-US" sz="2400" b="0" dirty="0"/>
              <a:t>学分、</a:t>
            </a:r>
            <a:r>
              <a:rPr lang="en-US" altLang="zh-CN" sz="2400" b="0" dirty="0"/>
              <a:t>54</a:t>
            </a:r>
            <a:r>
              <a:rPr lang="zh-CN" altLang="en-US" sz="2400" b="0" dirty="0"/>
              <a:t>学时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  实验课：</a:t>
            </a:r>
            <a:r>
              <a:rPr lang="en-US" altLang="zh-CN" sz="2400" b="0" dirty="0"/>
              <a:t>1</a:t>
            </a:r>
            <a:r>
              <a:rPr lang="zh-CN" altLang="en-US" sz="2400" b="0" dirty="0"/>
              <a:t>学分、</a:t>
            </a:r>
            <a:r>
              <a:rPr lang="en-US" altLang="zh-CN" sz="2400" b="0" dirty="0"/>
              <a:t>36</a:t>
            </a:r>
            <a:r>
              <a:rPr lang="zh-CN" altLang="en-US" sz="2400" b="0" dirty="0"/>
              <a:t>学时</a:t>
            </a:r>
            <a:endParaRPr lang="en-US" altLang="zh-CN" sz="2400" b="0" dirty="0"/>
          </a:p>
          <a:p>
            <a:r>
              <a:rPr lang="zh-CN" altLang="en-US" sz="2800" b="0" dirty="0"/>
              <a:t>理论课分数：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（</a:t>
            </a:r>
            <a:r>
              <a:rPr lang="en-US" altLang="zh-CN" sz="2400" dirty="0"/>
              <a:t>40%</a:t>
            </a:r>
            <a:r>
              <a:rPr lang="zh-CN" altLang="en-US" sz="2400" b="0"/>
              <a:t>）平时成绩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（</a:t>
            </a:r>
            <a:r>
              <a:rPr lang="en-US" altLang="zh-CN" sz="2400" dirty="0"/>
              <a:t>60%</a:t>
            </a:r>
            <a:r>
              <a:rPr lang="zh-CN" altLang="en-US" sz="2400" b="0" dirty="0"/>
              <a:t>）闭卷考试</a:t>
            </a:r>
            <a:endParaRPr lang="en-US" altLang="zh-CN" sz="2400" b="0" dirty="0"/>
          </a:p>
          <a:p>
            <a:r>
              <a:rPr lang="zh-CN" altLang="en-US" sz="2800" b="0" dirty="0"/>
              <a:t>实验课分数：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（</a:t>
            </a:r>
            <a:r>
              <a:rPr lang="en-US" altLang="zh-CN" sz="2400" dirty="0"/>
              <a:t>10%</a:t>
            </a:r>
            <a:r>
              <a:rPr lang="zh-CN" altLang="en-US" sz="2400" b="0" dirty="0"/>
              <a:t>）实验一：使用</a:t>
            </a:r>
            <a:r>
              <a:rPr lang="en-US" altLang="zh-CN" sz="2400" b="0" dirty="0"/>
              <a:t>Java</a:t>
            </a:r>
            <a:r>
              <a:rPr lang="zh-CN" altLang="en-US" sz="2400" b="0" dirty="0"/>
              <a:t>实现一个所得税计算器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（</a:t>
            </a:r>
            <a:r>
              <a:rPr lang="en-US" altLang="zh-CN" sz="2400" dirty="0"/>
              <a:t>25%</a:t>
            </a:r>
            <a:r>
              <a:rPr lang="zh-CN" altLang="en-US" sz="2400" b="0" dirty="0"/>
              <a:t>）实验二：改进一个已有的语言处理程序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（</a:t>
            </a:r>
            <a:r>
              <a:rPr lang="en-US" altLang="zh-CN" sz="2400" dirty="0"/>
              <a:t>30%</a:t>
            </a:r>
            <a:r>
              <a:rPr lang="zh-CN" altLang="en-US" sz="2400" b="0" dirty="0"/>
              <a:t>）实验三：实现一个基于表达式的计算器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（</a:t>
            </a:r>
            <a:r>
              <a:rPr lang="en-US" altLang="zh-CN" sz="2400" dirty="0"/>
              <a:t>35%</a:t>
            </a:r>
            <a:r>
              <a:rPr lang="zh-CN" altLang="en-US" sz="2400" b="0" dirty="0"/>
              <a:t>）实验四：开发一个程序逆向工程工具</a:t>
            </a:r>
            <a:endParaRPr lang="en-US" altLang="zh-CN" sz="2265" b="0" dirty="0"/>
          </a:p>
          <a:p>
            <a:pPr lvl="1"/>
            <a:endParaRPr lang="zh-CN" altLang="en-US" sz="1865" b="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Grading</a:t>
            </a:r>
            <a:r>
              <a:rPr lang="en-US" altLang="zh-CN" sz="3600" b="0" dirty="0">
                <a:latin typeface="+mn-ea"/>
                <a:ea typeface="+mn-ea"/>
              </a:rPr>
              <a:t>[</a:t>
            </a:r>
            <a:r>
              <a:rPr lang="zh-CN" altLang="en-US" sz="3600" b="0" dirty="0">
                <a:latin typeface="+mn-ea"/>
                <a:ea typeface="+mn-ea"/>
              </a:rPr>
              <a:t>成绩构成</a:t>
            </a:r>
            <a:r>
              <a:rPr lang="en-US" altLang="zh-CN" sz="3600" b="0" dirty="0">
                <a:latin typeface="+mn-ea"/>
                <a:ea typeface="+mn-ea"/>
              </a:rPr>
              <a:t>]</a:t>
            </a:r>
            <a:endParaRPr lang="zh-CN" altLang="en-US" b="0" dirty="0">
              <a:latin typeface="+mn-ea"/>
              <a:ea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11</a:t>
            </a:fld>
            <a:endParaRPr lang="en-US" noProof="1"/>
          </a:p>
        </p:txBody>
      </p:sp>
      <p:pic>
        <p:nvPicPr>
          <p:cNvPr id="7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Compilation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j-cs"/>
              </a:rPr>
              <a:t>[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j-cs"/>
              </a:rPr>
              <a:t>什么是编译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j-cs"/>
              </a:rPr>
              <a:t>]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00"/>
            <a:fld id="{22DECF6A-13F7-418C-BBFC-95033FFCD5F1}" type="slidenum">
              <a:rPr lang="en-US" noProof="1">
                <a:solidFill>
                  <a:prstClr val="black"/>
                </a:solidFill>
                <a:latin typeface="Calibri" panose="020F0502020204030204"/>
              </a:rPr>
              <a:t>12</a:t>
            </a:fld>
            <a:endParaRPr lang="en-US" noProof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26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48666" y="1216233"/>
            <a:ext cx="11294669" cy="5209967"/>
          </a:xfrm>
        </p:spPr>
        <p:txBody>
          <a:bodyPr>
            <a:normAutofit/>
          </a:bodyPr>
          <a:lstStyle/>
          <a:p>
            <a:r>
              <a:rPr lang="zh-CN" altLang="en-US" sz="2800" b="0" dirty="0"/>
              <a:t>问题：大家写程序都用过什么语言？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265" b="0" dirty="0"/>
              <a:t>高级语言</a:t>
            </a:r>
            <a:r>
              <a:rPr lang="en-US" altLang="zh-CN" sz="2265" b="0" dirty="0"/>
              <a:t>C</a:t>
            </a:r>
            <a:r>
              <a:rPr lang="zh-CN" altLang="en-US" sz="2265" b="0" dirty="0"/>
              <a:t>、</a:t>
            </a:r>
            <a:r>
              <a:rPr lang="en-US" altLang="zh-CN" sz="2265" b="0" dirty="0"/>
              <a:t>C++</a:t>
            </a:r>
            <a:r>
              <a:rPr lang="zh-CN" altLang="en-US" sz="2265" b="0" dirty="0"/>
              <a:t>、</a:t>
            </a:r>
            <a:r>
              <a:rPr lang="en-US" altLang="zh-CN" sz="2265" b="0" dirty="0"/>
              <a:t>Java</a:t>
            </a:r>
            <a:r>
              <a:rPr lang="zh-CN" altLang="en-US" sz="2265" b="0" dirty="0"/>
              <a:t>、</a:t>
            </a:r>
            <a:r>
              <a:rPr lang="en-US" altLang="zh-CN" sz="2265" b="0" dirty="0"/>
              <a:t>Python</a:t>
            </a:r>
            <a:r>
              <a:rPr lang="zh-CN" altLang="en-US" sz="2265" b="0" dirty="0"/>
              <a:t>、</a:t>
            </a:r>
            <a:r>
              <a:rPr lang="en-US" altLang="zh-CN" sz="2265" b="0" dirty="0"/>
              <a:t>Ruby</a:t>
            </a:r>
            <a:r>
              <a:rPr lang="zh-CN" altLang="en-US" sz="2265" b="0" dirty="0"/>
              <a:t>等等</a:t>
            </a:r>
            <a:endParaRPr lang="en-US" altLang="zh-CN" sz="2265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265" dirty="0">
                <a:solidFill>
                  <a:srgbClr val="C00000"/>
                </a:solidFill>
              </a:rPr>
              <a:t>系统工程师</a:t>
            </a:r>
            <a:r>
              <a:rPr lang="zh-CN" altLang="en-US" sz="2265" b="0" dirty="0"/>
              <a:t>可以理解、使用这些语言</a:t>
            </a:r>
            <a:endParaRPr lang="en-US" altLang="zh-CN" sz="2265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265" b="0" dirty="0"/>
              <a:t>专注于程序功能，不过多考虑计算机底层运行细节</a:t>
            </a:r>
            <a:endParaRPr lang="en-US" altLang="zh-CN" sz="2265" b="0" dirty="0"/>
          </a:p>
          <a:p>
            <a:pPr lvl="1"/>
            <a:endParaRPr lang="en-US" altLang="zh-CN" sz="2800" b="0" dirty="0"/>
          </a:p>
          <a:p>
            <a:r>
              <a:rPr lang="zh-CN" altLang="en-US" sz="2800" b="0" dirty="0"/>
              <a:t>计算机理解这些高级编程语言吗？</a:t>
            </a:r>
            <a:endParaRPr lang="en-US" altLang="zh-CN" sz="2800" b="0" dirty="0"/>
          </a:p>
          <a:p>
            <a:pPr lvl="1">
              <a:buClr>
                <a:schemeClr val="tx1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en-US" sz="2265" dirty="0">
                <a:solidFill>
                  <a:srgbClr val="C00000"/>
                </a:solidFill>
              </a:rPr>
              <a:t>计算机</a:t>
            </a:r>
            <a:r>
              <a:rPr lang="zh-CN" altLang="en-US" sz="2265" b="0" dirty="0"/>
              <a:t>只懂得机器语言，即二进制码</a:t>
            </a:r>
            <a:endParaRPr lang="en-US" altLang="zh-CN" sz="2265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265" b="0" dirty="0"/>
              <a:t>不能直接理解并执行高级语言</a:t>
            </a:r>
            <a:endParaRPr lang="en-US" altLang="zh-CN" sz="2265" b="0" dirty="0"/>
          </a:p>
          <a:p>
            <a:pPr marL="457200" lvl="1" indent="0">
              <a:buNone/>
            </a:pPr>
            <a:endParaRPr lang="en-US" altLang="zh-CN" sz="2800" b="0" dirty="0"/>
          </a:p>
          <a:p>
            <a:r>
              <a:rPr lang="zh-CN" altLang="en-US" sz="2800" b="0" dirty="0"/>
              <a:t>如何让计算机执行高级语言编写的程序？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265" b="0" dirty="0"/>
              <a:t>需要</a:t>
            </a:r>
            <a:r>
              <a:rPr lang="zh-CN" altLang="en-US" sz="2265" dirty="0">
                <a:solidFill>
                  <a:srgbClr val="C00000"/>
                </a:solidFill>
              </a:rPr>
              <a:t>将高级语言翻译为机器码</a:t>
            </a:r>
            <a:endParaRPr lang="en-US" altLang="zh-CN" sz="2265" dirty="0">
              <a:solidFill>
                <a:srgbClr val="C00000"/>
              </a:solidFill>
            </a:endParaRPr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265" b="0" dirty="0"/>
              <a:t>兼具查错功能、性能、移植性等</a:t>
            </a:r>
            <a:endParaRPr lang="en-US" altLang="zh-CN" sz="2265" b="0" dirty="0"/>
          </a:p>
        </p:txBody>
      </p:sp>
      <p:sp>
        <p:nvSpPr>
          <p:cNvPr id="4" name="文本框 3"/>
          <p:cNvSpPr txBox="1"/>
          <p:nvPr/>
        </p:nvSpPr>
        <p:spPr>
          <a:xfrm>
            <a:off x="8477591" y="1743242"/>
            <a:ext cx="1809921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while (y&lt;z){</a:t>
            </a:r>
          </a:p>
          <a:p>
            <a:r>
              <a:rPr lang="en-US" altLang="zh-CN" dirty="0"/>
              <a:t>    int x = a + b;</a:t>
            </a:r>
          </a:p>
          <a:p>
            <a:r>
              <a:rPr lang="en-US" altLang="zh-CN" dirty="0"/>
              <a:t>    y += x;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cxnSp>
        <p:nvCxnSpPr>
          <p:cNvPr id="7" name="直线箭头连接符 6"/>
          <p:cNvCxnSpPr>
            <a:stCxn id="4" idx="2"/>
            <a:endCxn id="5" idx="0"/>
          </p:cNvCxnSpPr>
          <p:nvPr/>
        </p:nvCxnSpPr>
        <p:spPr>
          <a:xfrm>
            <a:off x="9382552" y="2943571"/>
            <a:ext cx="1" cy="9313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9382552" y="3171664"/>
            <a:ext cx="10054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HOW</a:t>
            </a:r>
            <a:r>
              <a:rPr lang="zh-CN" altLang="en-US" sz="2000" b="1" dirty="0">
                <a:solidFill>
                  <a:srgbClr val="C00000"/>
                </a:solidFill>
              </a:rPr>
              <a:t>？</a:t>
            </a:r>
            <a:endParaRPr lang="en-GB" sz="2000" b="1" dirty="0">
              <a:solidFill>
                <a:srgbClr val="C0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08824" y="3874961"/>
            <a:ext cx="3547457" cy="17851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100" b="0" dirty="0">
                <a:effectLst/>
                <a:latin typeface="Consolas" panose="020B0609020204030204" pitchFamily="49" charset="0"/>
              </a:rPr>
              <a:t>   eb 06     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jmp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   L2</a:t>
            </a:r>
          </a:p>
          <a:p>
            <a:r>
              <a:rPr lang="en-US" altLang="zh-CN" sz="1100" b="0" dirty="0">
                <a:effectLst/>
                <a:latin typeface="Consolas" panose="020B0609020204030204" pitchFamily="49" charset="0"/>
              </a:rPr>
              <a:t>   8b 55 f4   mov  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edx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, DWORD PTR [rbp-12]</a:t>
            </a:r>
          </a:p>
          <a:p>
            <a:r>
              <a:rPr lang="en-US" altLang="zh-CN" sz="1100" b="0" dirty="0">
                <a:effectLst/>
                <a:latin typeface="Consolas" panose="020B0609020204030204" pitchFamily="49" charset="0"/>
              </a:rPr>
              <a:t>   8b 45 f0   mov  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eax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, DWORD PTR [rbp-16]</a:t>
            </a:r>
          </a:p>
          <a:p>
            <a:r>
              <a:rPr lang="en-US" altLang="zh-CN" sz="1100" b="0" dirty="0">
                <a:effectLst/>
                <a:latin typeface="Consolas" panose="020B0609020204030204" pitchFamily="49" charset="0"/>
              </a:rPr>
              <a:t>   01 d0      add  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eax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edx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b="0" dirty="0">
                <a:effectLst/>
                <a:latin typeface="Consolas" panose="020B0609020204030204" pitchFamily="49" charset="0"/>
              </a:rPr>
              <a:t>   89 45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ec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   mov   DWORD PTR [rbp-20],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eax</a:t>
            </a:r>
            <a:endParaRPr lang="en-US" altLang="zh-CN" sz="1100" dirty="0">
              <a:latin typeface="Consolas" panose="020B0609020204030204" pitchFamily="49" charset="0"/>
            </a:endParaRPr>
          </a:p>
          <a:p>
            <a:r>
              <a:rPr lang="en-US" altLang="zh-CN" sz="1100" b="0" dirty="0">
                <a:effectLst/>
                <a:latin typeface="Consolas" panose="020B0609020204030204" pitchFamily="49" charset="0"/>
              </a:rPr>
              <a:t>L3:8b 45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ec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   mov  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eax</a:t>
            </a:r>
            <a:r>
              <a:rPr lang="en-US" altLang="zh-CN" sz="1100" b="0" dirty="0">
                <a:effectLst/>
                <a:latin typeface="Consolas" panose="020B0609020204030204" pitchFamily="49" charset="0"/>
              </a:rPr>
              <a:t>, DWORD PTR [rbp-20]</a:t>
            </a:r>
          </a:p>
          <a:p>
            <a:r>
              <a:rPr lang="en-US" altLang="zh-CN" sz="1100" b="0" dirty="0">
                <a:effectLst/>
                <a:latin typeface="Consolas" panose="020B0609020204030204" pitchFamily="49" charset="0"/>
              </a:rPr>
              <a:t>   01 45 fc   add   DWORD PTR [rbp-4], </a:t>
            </a:r>
            <a:r>
              <a:rPr lang="en-US" altLang="zh-CN" sz="1100" b="0" dirty="0" err="1">
                <a:effectLst/>
                <a:latin typeface="Consolas" panose="020B0609020204030204" pitchFamily="49" charset="0"/>
              </a:rPr>
              <a:t>eax</a:t>
            </a:r>
            <a:endParaRPr lang="en-US" altLang="zh-CN" sz="1100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sz="1100" dirty="0">
                <a:latin typeface="Consolas" panose="020B0609020204030204" pitchFamily="49" charset="0"/>
              </a:rPr>
              <a:t>L2:8b 45 fc   mov   </a:t>
            </a:r>
            <a:r>
              <a:rPr lang="en-US" altLang="zh-CN" sz="1100" dirty="0" err="1">
                <a:latin typeface="Consolas" panose="020B0609020204030204" pitchFamily="49" charset="0"/>
              </a:rPr>
              <a:t>eax</a:t>
            </a:r>
            <a:r>
              <a:rPr lang="en-US" altLang="zh-CN" sz="1100" dirty="0">
                <a:latin typeface="Consolas" panose="020B0609020204030204" pitchFamily="49" charset="0"/>
              </a:rPr>
              <a:t>, DWORD PTR [rbp-4]</a:t>
            </a:r>
          </a:p>
          <a:p>
            <a:r>
              <a:rPr lang="en-US" altLang="zh-CN" sz="1100" dirty="0">
                <a:latin typeface="Consolas" panose="020B0609020204030204" pitchFamily="49" charset="0"/>
              </a:rPr>
              <a:t>   3b 45 f8   </a:t>
            </a:r>
            <a:r>
              <a:rPr lang="en-US" altLang="zh-CN" sz="1100" dirty="0" err="1">
                <a:latin typeface="Consolas" panose="020B0609020204030204" pitchFamily="49" charset="0"/>
              </a:rPr>
              <a:t>cmp</a:t>
            </a:r>
            <a:r>
              <a:rPr lang="en-US" altLang="zh-CN" sz="1100" dirty="0">
                <a:latin typeface="Consolas" panose="020B0609020204030204" pitchFamily="49" charset="0"/>
              </a:rPr>
              <a:t>   </a:t>
            </a:r>
            <a:r>
              <a:rPr lang="en-US" altLang="zh-CN" sz="1100" dirty="0" err="1">
                <a:latin typeface="Consolas" panose="020B0609020204030204" pitchFamily="49" charset="0"/>
              </a:rPr>
              <a:t>eax</a:t>
            </a:r>
            <a:r>
              <a:rPr lang="en-US" altLang="zh-CN" sz="1100" dirty="0">
                <a:latin typeface="Consolas" panose="020B0609020204030204" pitchFamily="49" charset="0"/>
              </a:rPr>
              <a:t>, DWORD PTR [rbp-8]</a:t>
            </a:r>
          </a:p>
          <a:p>
            <a:r>
              <a:rPr lang="en-US" altLang="zh-CN" sz="1100" dirty="0">
                <a:latin typeface="Consolas" panose="020B0609020204030204" pitchFamily="49" charset="0"/>
              </a:rPr>
              <a:t>   7c f2      </a:t>
            </a:r>
            <a:r>
              <a:rPr lang="en-US" altLang="zh-CN" sz="1100" dirty="0" err="1">
                <a:latin typeface="Consolas" panose="020B0609020204030204" pitchFamily="49" charset="0"/>
              </a:rPr>
              <a:t>jl</a:t>
            </a:r>
            <a:r>
              <a:rPr lang="en-US" altLang="zh-CN" sz="1100" dirty="0">
                <a:latin typeface="Consolas" panose="020B0609020204030204" pitchFamily="49" charset="0"/>
              </a:rPr>
              <a:t>    L3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Compilation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j-cs"/>
              </a:rPr>
              <a:t>[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j-cs"/>
              </a:rPr>
              <a:t>什么是编译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j-cs"/>
              </a:rPr>
              <a:t>]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00"/>
            <a:fld id="{22DECF6A-13F7-418C-BBFC-95033FFCD5F1}" type="slidenum">
              <a:rPr lang="en-US" noProof="1">
                <a:solidFill>
                  <a:prstClr val="black"/>
                </a:solidFill>
                <a:latin typeface="Calibri" panose="020F0502020204030204"/>
              </a:rPr>
              <a:t>13</a:t>
            </a:fld>
            <a:endParaRPr lang="en-US" noProof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26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48666" y="1216233"/>
            <a:ext cx="11294669" cy="5209967"/>
          </a:xfrm>
        </p:spPr>
        <p:txBody>
          <a:bodyPr>
            <a:normAutofit/>
          </a:bodyPr>
          <a:lstStyle/>
          <a:p>
            <a:r>
              <a:rPr lang="zh-CN" altLang="en-US" sz="2800" b="0" dirty="0"/>
              <a:t>不同编程语言有不同的翻译方式</a:t>
            </a:r>
            <a:endParaRPr lang="en-US" altLang="zh-CN" sz="2800" b="0" dirty="0"/>
          </a:p>
          <a:p>
            <a:pPr lvl="1">
              <a:buClr>
                <a:schemeClr val="tx1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C00000"/>
                </a:solidFill>
              </a:rPr>
              <a:t>编译</a:t>
            </a:r>
            <a:r>
              <a:rPr lang="zh-CN" altLang="en-US" sz="2400" b="0" dirty="0"/>
              <a:t>：通常针对较为“底层”的语言</a:t>
            </a:r>
            <a:endParaRPr lang="en-US" altLang="zh-CN" sz="2400" b="0" dirty="0"/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en-US" altLang="zh-CN" sz="2000" b="0" dirty="0"/>
              <a:t>C</a:t>
            </a:r>
            <a:r>
              <a:rPr lang="zh-CN" altLang="en-US" sz="2000" b="0" dirty="0"/>
              <a:t>、</a:t>
            </a:r>
            <a:r>
              <a:rPr lang="en-US" altLang="zh-CN" sz="2000" b="0" dirty="0"/>
              <a:t>C++</a:t>
            </a:r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b="0" dirty="0"/>
              <a:t>执行前全文翻译（</a:t>
            </a:r>
            <a:r>
              <a:rPr lang="en-US" altLang="zh-CN" sz="2000" b="0" dirty="0"/>
              <a:t>Ahead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of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Time,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AOT</a:t>
            </a:r>
            <a:r>
              <a:rPr lang="zh-CN" altLang="en-US" sz="2000" b="0" dirty="0"/>
              <a:t>）</a:t>
            </a:r>
            <a:endParaRPr lang="en-US" altLang="zh-CN" sz="2000" b="0" dirty="0"/>
          </a:p>
          <a:p>
            <a:pPr lvl="1">
              <a:buClr>
                <a:schemeClr val="tx1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C00000"/>
                </a:solidFill>
              </a:rPr>
              <a:t>解释</a:t>
            </a:r>
            <a:r>
              <a:rPr lang="zh-CN" altLang="en-US" sz="2400" b="0" dirty="0"/>
              <a:t>：通常针对较更“上层”的语言</a:t>
            </a:r>
            <a:endParaRPr lang="en-US" altLang="zh-CN" sz="2400" b="0" dirty="0"/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en-US" altLang="zh-CN" sz="2000" b="0" dirty="0"/>
              <a:t>Python</a:t>
            </a:r>
            <a:r>
              <a:rPr lang="zh-CN" altLang="en-US" sz="2000" b="0" dirty="0"/>
              <a:t>、</a:t>
            </a:r>
            <a:r>
              <a:rPr lang="en-US" altLang="zh-CN" sz="2000" b="0" dirty="0"/>
              <a:t>Ruby</a:t>
            </a:r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b="0" dirty="0"/>
              <a:t>边翻译边执行（</a:t>
            </a:r>
            <a:r>
              <a:rPr lang="en-US" altLang="zh-CN" sz="2000" b="0" dirty="0"/>
              <a:t>During Execution</a:t>
            </a:r>
            <a:r>
              <a:rPr lang="zh-CN" altLang="en-US" sz="2000" b="0" dirty="0"/>
              <a:t>）</a:t>
            </a:r>
            <a:endParaRPr lang="en-US" altLang="zh-CN" sz="20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混合：编译 </a:t>
            </a:r>
            <a:r>
              <a:rPr lang="en-US" altLang="zh-CN" sz="2400" b="0" dirty="0"/>
              <a:t>+</a:t>
            </a:r>
            <a:r>
              <a:rPr lang="zh-CN" altLang="en-US" sz="2400" b="0" dirty="0"/>
              <a:t> 即时编译（</a:t>
            </a:r>
            <a:r>
              <a:rPr lang="en-US" altLang="zh-CN" sz="2400" b="0" dirty="0"/>
              <a:t>Just-In-Time,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JIT</a:t>
            </a:r>
            <a:r>
              <a:rPr lang="zh-CN" altLang="en-US" sz="2400" b="0" dirty="0"/>
              <a:t>）</a:t>
            </a:r>
            <a:endParaRPr lang="en-US" altLang="zh-CN" sz="2400" b="0" dirty="0"/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en-US" altLang="zh-CN" sz="2000" b="0" dirty="0"/>
              <a:t>Java</a:t>
            </a:r>
            <a:endParaRPr lang="en-US" altLang="zh-CN" sz="2800" b="0" dirty="0"/>
          </a:p>
          <a:p>
            <a:pPr lvl="1"/>
            <a:endParaRPr lang="zh-CN" altLang="en-US" sz="2400" b="0" dirty="0"/>
          </a:p>
        </p:txBody>
      </p:sp>
      <p:grpSp>
        <p:nvGrpSpPr>
          <p:cNvPr id="26" name="组合 25"/>
          <p:cNvGrpSpPr/>
          <p:nvPr/>
        </p:nvGrpSpPr>
        <p:grpSpPr>
          <a:xfrm>
            <a:off x="1605072" y="4669673"/>
            <a:ext cx="4040775" cy="626235"/>
            <a:chOff x="1114698" y="4337651"/>
            <a:chExt cx="4040775" cy="626235"/>
          </a:xfrm>
        </p:grpSpPr>
        <p:sp>
          <p:nvSpPr>
            <p:cNvPr id="8" name="矩形 7"/>
            <p:cNvSpPr/>
            <p:nvPr/>
          </p:nvSpPr>
          <p:spPr>
            <a:xfrm>
              <a:off x="1114698" y="4450081"/>
              <a:ext cx="1497874" cy="51380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ysClr val="windowText" lastClr="000000"/>
                  </a:solidFill>
                </a:rPr>
                <a:t>C/C++</a:t>
              </a:r>
              <a:endParaRPr lang="en-GB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0" name="直线箭头连接符 9"/>
            <p:cNvCxnSpPr>
              <a:stCxn id="8" idx="3"/>
            </p:cNvCxnSpPr>
            <p:nvPr/>
          </p:nvCxnSpPr>
          <p:spPr>
            <a:xfrm flipV="1">
              <a:off x="2612572" y="4706983"/>
              <a:ext cx="104502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2811920" y="4337651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编译</a:t>
              </a:r>
              <a:endParaRPr lang="en-GB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3657599" y="4450081"/>
              <a:ext cx="1497874" cy="51380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ysClr val="windowText" lastClr="000000"/>
                  </a:solidFill>
                </a:rPr>
                <a:t>机器码</a:t>
              </a:r>
              <a:endParaRPr lang="en-GB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536550" y="4666286"/>
            <a:ext cx="4040775" cy="626235"/>
            <a:chOff x="5952309" y="4337650"/>
            <a:chExt cx="4040775" cy="626235"/>
          </a:xfrm>
        </p:grpSpPr>
        <p:sp>
          <p:nvSpPr>
            <p:cNvPr id="13" name="矩形 12"/>
            <p:cNvSpPr/>
            <p:nvPr/>
          </p:nvSpPr>
          <p:spPr>
            <a:xfrm>
              <a:off x="5952309" y="4450080"/>
              <a:ext cx="1497874" cy="51380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ysClr val="windowText" lastClr="000000"/>
                  </a:solidFill>
                </a:rPr>
                <a:t>Python/Ruby</a:t>
              </a:r>
              <a:endParaRPr lang="en-GB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4" name="直线箭头连接符 13"/>
            <p:cNvCxnSpPr>
              <a:stCxn id="13" idx="3"/>
            </p:cNvCxnSpPr>
            <p:nvPr/>
          </p:nvCxnSpPr>
          <p:spPr>
            <a:xfrm flipV="1">
              <a:off x="7450183" y="4706982"/>
              <a:ext cx="1045028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>
            <a:xfrm>
              <a:off x="7649531" y="433765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err="1"/>
                <a:t>解释</a:t>
              </a:r>
              <a:endParaRPr lang="en-GB" dirty="0"/>
            </a:p>
          </p:txBody>
        </p:sp>
        <p:sp>
          <p:nvSpPr>
            <p:cNvPr id="16" name="矩形 15"/>
            <p:cNvSpPr/>
            <p:nvPr/>
          </p:nvSpPr>
          <p:spPr>
            <a:xfrm>
              <a:off x="8495210" y="4450080"/>
              <a:ext cx="1497874" cy="51380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ysClr val="windowText" lastClr="000000"/>
                  </a:solidFill>
                </a:rPr>
                <a:t>执行结果</a:t>
              </a:r>
              <a:endParaRPr lang="en-GB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802501" y="5591766"/>
            <a:ext cx="6586998" cy="994570"/>
            <a:chOff x="2802501" y="5579268"/>
            <a:chExt cx="6586998" cy="994570"/>
          </a:xfrm>
        </p:grpSpPr>
        <p:grpSp>
          <p:nvGrpSpPr>
            <p:cNvPr id="24" name="组合 23"/>
            <p:cNvGrpSpPr/>
            <p:nvPr/>
          </p:nvGrpSpPr>
          <p:grpSpPr>
            <a:xfrm>
              <a:off x="2802501" y="5579268"/>
              <a:ext cx="6586998" cy="642658"/>
              <a:chOff x="2512424" y="5486848"/>
              <a:chExt cx="6586998" cy="642658"/>
            </a:xfrm>
            <a:solidFill>
              <a:schemeClr val="accent6">
                <a:lumMod val="20000"/>
                <a:lumOff val="80000"/>
              </a:schemeClr>
            </a:solidFill>
          </p:grpSpPr>
          <p:sp>
            <p:nvSpPr>
              <p:cNvPr id="17" name="矩形 16"/>
              <p:cNvSpPr/>
              <p:nvPr/>
            </p:nvSpPr>
            <p:spPr>
              <a:xfrm>
                <a:off x="2512424" y="5599278"/>
                <a:ext cx="1497874" cy="51380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ysClr val="windowText" lastClr="000000"/>
                    </a:solidFill>
                  </a:rPr>
                  <a:t>Java</a:t>
                </a:r>
                <a:endParaRPr lang="en-GB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18" name="直线箭头连接符 17"/>
              <p:cNvCxnSpPr>
                <a:stCxn id="17" idx="3"/>
              </p:cNvCxnSpPr>
              <p:nvPr/>
            </p:nvCxnSpPr>
            <p:spPr>
              <a:xfrm flipV="1">
                <a:off x="4010298" y="5856180"/>
                <a:ext cx="1045028" cy="1"/>
              </a:xfrm>
              <a:prstGeom prst="straightConnector1">
                <a:avLst/>
              </a:prstGeom>
              <a:grpFill/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文本框 18"/>
              <p:cNvSpPr txBox="1"/>
              <p:nvPr/>
            </p:nvSpPr>
            <p:spPr>
              <a:xfrm>
                <a:off x="4209646" y="5486848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 err="1">
                    <a:solidFill>
                      <a:sysClr val="windowText" lastClr="000000"/>
                    </a:solidFill>
                  </a:rPr>
                  <a:t>编译</a:t>
                </a:r>
                <a:endParaRPr lang="en-GB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5055325" y="5599278"/>
                <a:ext cx="1497874" cy="51380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ysClr val="windowText" lastClr="000000"/>
                    </a:solidFill>
                  </a:rPr>
                  <a:t>中间代码</a:t>
                </a:r>
                <a:endParaRPr lang="en-GB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21" name="直线箭头连接符 20"/>
              <p:cNvCxnSpPr/>
              <p:nvPr/>
            </p:nvCxnSpPr>
            <p:spPr>
              <a:xfrm flipV="1">
                <a:off x="6553198" y="5872604"/>
                <a:ext cx="1045028" cy="1"/>
              </a:xfrm>
              <a:prstGeom prst="straightConnector1">
                <a:avLst/>
              </a:prstGeom>
              <a:grpFill/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矩形 21"/>
              <p:cNvSpPr/>
              <p:nvPr/>
            </p:nvSpPr>
            <p:spPr>
              <a:xfrm>
                <a:off x="7601548" y="5615701"/>
                <a:ext cx="1497874" cy="513805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ysClr val="windowText" lastClr="000000"/>
                    </a:solidFill>
                  </a:rPr>
                  <a:t>机器码</a:t>
                </a:r>
                <a:endParaRPr lang="en-GB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6861551" y="5503271"/>
                <a:ext cx="4283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sysClr val="windowText" lastClr="000000"/>
                    </a:solidFill>
                  </a:rPr>
                  <a:t>JIT</a:t>
                </a:r>
                <a:endParaRPr lang="en-GB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27" name="文本框 26"/>
            <p:cNvSpPr txBox="1"/>
            <p:nvPr/>
          </p:nvSpPr>
          <p:spPr>
            <a:xfrm>
              <a:off x="5207167" y="6204506"/>
              <a:ext cx="17776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ysClr val="windowText" lastClr="000000"/>
                  </a:solidFill>
                </a:rPr>
                <a:t>Bytecode (.class)</a:t>
              </a:r>
              <a:endParaRPr lang="en-GB" dirty="0">
                <a:solidFill>
                  <a:sysClr val="windowText" lastClr="000000"/>
                </a:solidFill>
              </a:endParaRPr>
            </a:p>
          </p:txBody>
        </p:sp>
      </p:grpSp>
      <p:graphicFrame>
        <p:nvGraphicFramePr>
          <p:cNvPr id="58" name="表格 4"/>
          <p:cNvGraphicFramePr>
            <a:graphicFrameLocks noGrp="1"/>
          </p:cNvGraphicFramePr>
          <p:nvPr/>
        </p:nvGraphicFramePr>
        <p:xfrm>
          <a:off x="7491628" y="1316238"/>
          <a:ext cx="2920999" cy="2691885"/>
        </p:xfrm>
        <a:graphic>
          <a:graphicData uri="http://schemas.openxmlformats.org/drawingml/2006/table">
            <a:tbl>
              <a:tblPr firstRow="1" bandRow="1"/>
              <a:tblGrid>
                <a:gridCol w="2920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45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n-lt"/>
                        </a:rPr>
                        <a:t>Application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5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+mn-lt"/>
                        </a:rPr>
                        <a:t>Compiler / Libraries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5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</a:rPr>
                        <a:t>Operating system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5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</a:rPr>
                        <a:t>Instruction set (ISA)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5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</a:rPr>
                        <a:t>Computer System Organization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5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</a:rPr>
                        <a:t>Circuits (hardware functions)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5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等线" panose="02010600030101010101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lt"/>
                        </a:rPr>
                        <a:t>Semiconductor physics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59" name="直接连接符 5"/>
          <p:cNvCxnSpPr/>
          <p:nvPr/>
        </p:nvCxnSpPr>
        <p:spPr>
          <a:xfrm>
            <a:off x="10404748" y="2475003"/>
            <a:ext cx="508307" cy="0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60" name="直接连接符 7"/>
          <p:cNvCxnSpPr/>
          <p:nvPr/>
        </p:nvCxnSpPr>
        <p:spPr>
          <a:xfrm>
            <a:off x="10404748" y="3231748"/>
            <a:ext cx="550696" cy="0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61" name="直接连接符 8"/>
          <p:cNvCxnSpPr/>
          <p:nvPr/>
        </p:nvCxnSpPr>
        <p:spPr>
          <a:xfrm>
            <a:off x="10404748" y="1316238"/>
            <a:ext cx="508307" cy="0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62" name="直接箭头连接符 12"/>
          <p:cNvCxnSpPr/>
          <p:nvPr/>
        </p:nvCxnSpPr>
        <p:spPr>
          <a:xfrm flipV="1">
            <a:off x="10767354" y="1316238"/>
            <a:ext cx="0" cy="1158765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3" name="直接箭头连接符 13"/>
          <p:cNvCxnSpPr/>
          <p:nvPr/>
        </p:nvCxnSpPr>
        <p:spPr>
          <a:xfrm>
            <a:off x="10767354" y="3239632"/>
            <a:ext cx="0" cy="776375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24" name="直接箭头连接符 16"/>
          <p:cNvCxnSpPr/>
          <p:nvPr/>
        </p:nvCxnSpPr>
        <p:spPr>
          <a:xfrm>
            <a:off x="10767354" y="2475003"/>
            <a:ext cx="0" cy="756745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025" name="文本框 1024"/>
          <p:cNvSpPr txBox="1"/>
          <p:nvPr/>
        </p:nvSpPr>
        <p:spPr>
          <a:xfrm>
            <a:off x="10842735" y="1741731"/>
            <a:ext cx="10269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prstClr val="black"/>
                </a:solidFill>
                <a:latin typeface="等线" panose="02010600030101010101" charset="-122"/>
              </a:rPr>
              <a:t>SOFTWARE</a:t>
            </a:r>
            <a:endParaRPr lang="zh-CN" altLang="en-US" sz="1100" b="1" dirty="0">
              <a:solidFill>
                <a:prstClr val="black"/>
              </a:solidFill>
              <a:latin typeface="等线" panose="02010600030101010101" charset="-122"/>
            </a:endParaRPr>
          </a:p>
        </p:txBody>
      </p:sp>
      <p:sp>
        <p:nvSpPr>
          <p:cNvPr id="1027" name="文本框 1026"/>
          <p:cNvSpPr txBox="1"/>
          <p:nvPr/>
        </p:nvSpPr>
        <p:spPr>
          <a:xfrm>
            <a:off x="10842735" y="2591766"/>
            <a:ext cx="12275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prstClr val="black"/>
                </a:solidFill>
                <a:latin typeface="等线" panose="02010600030101010101" charset="-122"/>
              </a:rPr>
              <a:t>COMPUTER</a:t>
            </a:r>
          </a:p>
          <a:p>
            <a:r>
              <a:rPr lang="en-US" altLang="zh-CN" sz="1100" b="1" dirty="0">
                <a:solidFill>
                  <a:prstClr val="black"/>
                </a:solidFill>
                <a:latin typeface="等线" panose="02010600030101010101" charset="-122"/>
              </a:rPr>
              <a:t>ARCHITECTURE</a:t>
            </a:r>
            <a:endParaRPr lang="zh-CN" altLang="en-US" sz="1100" b="1" dirty="0">
              <a:solidFill>
                <a:prstClr val="black"/>
              </a:solidFill>
              <a:latin typeface="等线" panose="02010600030101010101" charset="-122"/>
            </a:endParaRPr>
          </a:p>
        </p:txBody>
      </p:sp>
      <p:sp>
        <p:nvSpPr>
          <p:cNvPr id="1028" name="文本框 1027"/>
          <p:cNvSpPr txBox="1"/>
          <p:nvPr/>
        </p:nvSpPr>
        <p:spPr>
          <a:xfrm>
            <a:off x="10847745" y="3466047"/>
            <a:ext cx="1145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prstClr val="black"/>
                </a:solidFill>
                <a:latin typeface="等线" panose="02010600030101010101" charset="-122"/>
              </a:rPr>
              <a:t>HARDWARE</a:t>
            </a:r>
            <a:endParaRPr lang="zh-CN" altLang="en-US" sz="1100" b="1" dirty="0">
              <a:solidFill>
                <a:prstClr val="black"/>
              </a:solidFill>
              <a:latin typeface="等线" panose="02010600030101010101" charset="-122"/>
            </a:endParaRPr>
          </a:p>
        </p:txBody>
      </p:sp>
      <p:cxnSp>
        <p:nvCxnSpPr>
          <p:cNvPr id="1029" name="直接连接符 7"/>
          <p:cNvCxnSpPr/>
          <p:nvPr/>
        </p:nvCxnSpPr>
        <p:spPr>
          <a:xfrm>
            <a:off x="10404748" y="4003273"/>
            <a:ext cx="550696" cy="0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48667" y="1355751"/>
            <a:ext cx="6913764" cy="4821213"/>
          </a:xfrm>
        </p:spPr>
        <p:txBody>
          <a:bodyPr>
            <a:normAutofit/>
          </a:bodyPr>
          <a:lstStyle/>
          <a:p>
            <a:pPr>
              <a:buSzPct val="50000"/>
              <a:buFont typeface="Wingdings" panose="05000000000000000000" pitchFamily="2" charset="2"/>
              <a:buChar char="l"/>
            </a:pPr>
            <a:r>
              <a:rPr lang="zh-CN" altLang="en-US" sz="2800" b="0" dirty="0"/>
              <a:t>编译：翻译成机器语言后方能运行 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目标程序独立于源程序（修改→再编译→运行）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分析程序上下文，易于整体性优化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性能更好（因此核心代码通常为</a:t>
            </a:r>
            <a:r>
              <a:rPr lang="en-US" altLang="zh-CN" sz="2400" b="0" dirty="0"/>
              <a:t>C/C++</a:t>
            </a:r>
            <a:r>
              <a:rPr lang="zh-CN" altLang="en-US" sz="2400" b="0" dirty="0"/>
              <a:t>） </a:t>
            </a:r>
            <a:endParaRPr lang="en-US" altLang="zh-CN" sz="2400" b="0" dirty="0"/>
          </a:p>
          <a:p>
            <a:pPr>
              <a:buSzPct val="50000"/>
              <a:buFont typeface="Wingdings" panose="05000000000000000000" pitchFamily="2" charset="2"/>
              <a:buChar char="l"/>
            </a:pPr>
            <a:endParaRPr lang="en-US" altLang="zh-CN" sz="2800" b="0" dirty="0"/>
          </a:p>
          <a:p>
            <a:pPr>
              <a:buSzPct val="50000"/>
              <a:buFont typeface="Wingdings" panose="05000000000000000000" pitchFamily="2" charset="2"/>
              <a:buChar char="l"/>
            </a:pPr>
            <a:r>
              <a:rPr lang="zh-CN" altLang="en-US" sz="2800" b="0" dirty="0"/>
              <a:t>解释：源程序作为输入，边解释边执行 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不生成目标程序，可迁移性高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逐句执行，很难进行优化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性能通常不会太好</a:t>
            </a:r>
            <a:br>
              <a:rPr lang="zh-CN" altLang="en-US" sz="2400" b="0" dirty="0"/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Interpret vs Compile</a:t>
            </a:r>
            <a:r>
              <a:rPr lang="en-US" altLang="zh-CN" sz="3600" b="0" dirty="0">
                <a:latin typeface="+mn-ea"/>
                <a:ea typeface="+mn-ea"/>
              </a:rPr>
              <a:t>[</a:t>
            </a:r>
            <a:r>
              <a:rPr lang="zh-CN" altLang="en-US" sz="3600" b="0" dirty="0">
                <a:latin typeface="+mn-ea"/>
                <a:ea typeface="+mn-ea"/>
              </a:rPr>
              <a:t>解释 </a:t>
            </a:r>
            <a:r>
              <a:rPr lang="en-US" altLang="zh-CN" sz="3600" b="0" dirty="0">
                <a:latin typeface="+mn-ea"/>
                <a:ea typeface="+mn-ea"/>
              </a:rPr>
              <a:t>vs. </a:t>
            </a:r>
            <a:r>
              <a:rPr lang="zh-CN" altLang="en-US" sz="3600" b="0" dirty="0">
                <a:latin typeface="+mn-ea"/>
                <a:ea typeface="+mn-ea"/>
              </a:rPr>
              <a:t>编译</a:t>
            </a:r>
            <a:r>
              <a:rPr lang="en-US" altLang="zh-CN" sz="3600" b="0" dirty="0">
                <a:latin typeface="+mn-ea"/>
                <a:ea typeface="+mn-ea"/>
              </a:rPr>
              <a:t>]</a:t>
            </a:r>
            <a:r>
              <a:rPr lang="zh-CN" altLang="en-US" sz="3600" b="0" dirty="0">
                <a:latin typeface="+mn-ea"/>
                <a:ea typeface="+mn-ea"/>
              </a:rPr>
              <a:t>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14</a:t>
            </a:fld>
            <a:endParaRPr lang="en-US" noProof="1"/>
          </a:p>
        </p:txBody>
      </p:sp>
      <p:cxnSp>
        <p:nvCxnSpPr>
          <p:cNvPr id="47" name="直接箭头连接符 46"/>
          <p:cNvCxnSpPr/>
          <p:nvPr/>
        </p:nvCxnSpPr>
        <p:spPr>
          <a:xfrm>
            <a:off x="9989961" y="3365015"/>
            <a:ext cx="7299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10686569" y="3169693"/>
            <a:ext cx="1300107" cy="369332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/>
              <a:t>Interpreter</a:t>
            </a:r>
            <a:endParaRPr lang="zh-CN" altLang="en-US" sz="1800" b="1" dirty="0"/>
          </a:p>
        </p:txBody>
      </p:sp>
      <p:pic>
        <p:nvPicPr>
          <p:cNvPr id="7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组合 19"/>
          <p:cNvGrpSpPr/>
          <p:nvPr/>
        </p:nvGrpSpPr>
        <p:grpSpPr>
          <a:xfrm>
            <a:off x="8047921" y="1591749"/>
            <a:ext cx="3281792" cy="4510216"/>
            <a:chOff x="3302675" y="878523"/>
            <a:chExt cx="2929526" cy="3986976"/>
          </a:xfrm>
        </p:grpSpPr>
        <p:sp>
          <p:nvSpPr>
            <p:cNvPr id="21" name="矩形 20"/>
            <p:cNvSpPr/>
            <p:nvPr/>
          </p:nvSpPr>
          <p:spPr>
            <a:xfrm>
              <a:off x="3672345" y="878523"/>
              <a:ext cx="1908614" cy="330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Lexical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672344" y="1447201"/>
              <a:ext cx="1908615" cy="330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Syntax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3672344" y="2020937"/>
              <a:ext cx="1908616" cy="330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Semantic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3672344" y="2599891"/>
              <a:ext cx="1908614" cy="50810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Intermediate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Generator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3672344" y="4014095"/>
              <a:ext cx="1908614" cy="331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Generator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6" name="直接箭头连接符 10"/>
            <p:cNvCxnSpPr>
              <a:stCxn id="21" idx="2"/>
              <a:endCxn id="22" idx="0"/>
            </p:cNvCxnSpPr>
            <p:nvPr/>
          </p:nvCxnSpPr>
          <p:spPr>
            <a:xfrm>
              <a:off x="4626652" y="1208723"/>
              <a:ext cx="0" cy="23847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11"/>
            <p:cNvCxnSpPr>
              <a:stCxn id="22" idx="2"/>
              <a:endCxn id="23" idx="0"/>
            </p:cNvCxnSpPr>
            <p:nvPr/>
          </p:nvCxnSpPr>
          <p:spPr>
            <a:xfrm>
              <a:off x="4626652" y="1777401"/>
              <a:ext cx="0" cy="24353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/>
          </p:nvSpPr>
          <p:spPr>
            <a:xfrm>
              <a:off x="3914334" y="1145958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token  </a:t>
              </a:r>
              <a:r>
                <a:rPr lang="en-US" altLang="zh-CN" sz="1600" dirty="0"/>
                <a:t>s</a:t>
              </a:r>
              <a:r>
                <a:rPr lang="en-US" altLang="zh-CN" sz="1600" dirty="0">
                  <a:solidFill>
                    <a:schemeClr val="tx1"/>
                  </a:solidFill>
                </a:rPr>
                <a:t>tream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3786671" y="1728565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syntax  tree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直接箭头连接符 24"/>
            <p:cNvCxnSpPr>
              <a:stCxn id="23" idx="2"/>
              <a:endCxn id="24" idx="0"/>
            </p:cNvCxnSpPr>
            <p:nvPr/>
          </p:nvCxnSpPr>
          <p:spPr>
            <a:xfrm flipH="1">
              <a:off x="4626651" y="2351137"/>
              <a:ext cx="1" cy="24875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27"/>
            <p:cNvCxnSpPr>
              <a:stCxn id="24" idx="2"/>
            </p:cNvCxnSpPr>
            <p:nvPr/>
          </p:nvCxnSpPr>
          <p:spPr>
            <a:xfrm>
              <a:off x="4626651" y="3107994"/>
              <a:ext cx="0" cy="26347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箭头连接符 30"/>
            <p:cNvCxnSpPr>
              <a:stCxn id="36" idx="2"/>
              <a:endCxn id="25" idx="0"/>
            </p:cNvCxnSpPr>
            <p:nvPr/>
          </p:nvCxnSpPr>
          <p:spPr>
            <a:xfrm>
              <a:off x="4626651" y="3765442"/>
              <a:ext cx="0" cy="24865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文本框 32"/>
            <p:cNvSpPr txBox="1"/>
            <p:nvPr/>
          </p:nvSpPr>
          <p:spPr>
            <a:xfrm>
              <a:off x="3584251" y="3045268"/>
              <a:ext cx="26479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 err="1"/>
                <a:t>i</a:t>
              </a:r>
              <a:r>
                <a:rPr lang="zh-CN" altLang="en-US" sz="1600" dirty="0"/>
                <a:t>ntermediate  representation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3574500" y="3716095"/>
              <a:ext cx="26479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 err="1"/>
                <a:t>i</a:t>
              </a:r>
              <a:r>
                <a:rPr lang="zh-CN" altLang="en-US" sz="1600" dirty="0"/>
                <a:t>ntermediate  representation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3786671" y="2288675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syntax  tree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3672344" y="3368879"/>
              <a:ext cx="1908614" cy="39656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Optimizer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302675" y="4566221"/>
              <a:ext cx="2647950" cy="299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/>
                <a:t>Target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Machine Code</a:t>
              </a:r>
              <a:endParaRPr lang="zh-CN" altLang="en-US" sz="1600" dirty="0"/>
            </a:p>
          </p:txBody>
        </p:sp>
        <p:cxnSp>
          <p:nvCxnSpPr>
            <p:cNvPr id="38" name="直接箭头连接符 62"/>
            <p:cNvCxnSpPr>
              <a:stCxn id="25" idx="2"/>
            </p:cNvCxnSpPr>
            <p:nvPr/>
          </p:nvCxnSpPr>
          <p:spPr>
            <a:xfrm>
              <a:off x="4626651" y="4345295"/>
              <a:ext cx="0" cy="24865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768350" y="5563944"/>
            <a:ext cx="5149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</a:rPr>
              <a:t>Quiz: Java</a:t>
            </a:r>
            <a:r>
              <a:rPr lang="zh-CN" altLang="en-US" sz="2400" b="1" dirty="0">
                <a:solidFill>
                  <a:srgbClr val="C00000"/>
                </a:solidFill>
              </a:rPr>
              <a:t>是解释型还是编译型语言？</a:t>
            </a:r>
            <a:endParaRPr lang="en-GB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48667" y="1355752"/>
            <a:ext cx="10895608" cy="547843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500"/>
              </a:spcBef>
              <a:buSzPct val="50000"/>
              <a:buFont typeface="Wingdings" panose="05000000000000000000" pitchFamily="2" charset="2"/>
              <a:buChar char="l"/>
            </a:pPr>
            <a:r>
              <a:rPr lang="zh-CN" altLang="en-US" sz="2800" b="0" dirty="0"/>
              <a:t>即时编译</a:t>
            </a:r>
            <a:r>
              <a:rPr lang="en-US" altLang="zh-CN" sz="2800" b="0" dirty="0"/>
              <a:t> (Just-In-Time Compiler)</a:t>
            </a:r>
            <a:r>
              <a:rPr lang="zh-CN" altLang="en-US" sz="2800" b="0" dirty="0"/>
              <a:t>：</a:t>
            </a:r>
            <a:r>
              <a:rPr lang="en-US" altLang="zh-CN" sz="2800" b="0" dirty="0"/>
              <a:t> </a:t>
            </a:r>
            <a:r>
              <a:rPr lang="zh-CN" altLang="en-US" sz="2800" b="0" dirty="0"/>
              <a:t>运行时执行程序编译操作 </a:t>
            </a:r>
            <a:endParaRPr lang="en-US" altLang="zh-CN" sz="2800" dirty="0"/>
          </a:p>
          <a:p>
            <a:pPr lvl="1">
              <a:lnSpc>
                <a:spcPct val="110000"/>
              </a:lnSpc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弥补解释执行的不足 </a:t>
            </a:r>
            <a:endParaRPr lang="en-US" altLang="zh-CN" sz="2400" b="0" dirty="0"/>
          </a:p>
          <a:p>
            <a:pPr lvl="2">
              <a:lnSpc>
                <a:spcPct val="110000"/>
              </a:lnSpc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b="0" dirty="0"/>
              <a:t>把翻译过的机器代码保存起来，以备下次使用 </a:t>
            </a:r>
            <a:endParaRPr lang="en-US" altLang="zh-CN" sz="2000" b="0" dirty="0"/>
          </a:p>
          <a:p>
            <a:pPr lvl="1">
              <a:lnSpc>
                <a:spcPct val="110000"/>
              </a:lnSpc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传统编译</a:t>
            </a:r>
            <a:r>
              <a:rPr lang="en-US" altLang="zh-CN" sz="2400" b="0" dirty="0"/>
              <a:t> (AOT, Ahead-Of-Time)</a:t>
            </a:r>
            <a:r>
              <a:rPr lang="zh-CN" altLang="en-US" sz="2400" b="0" dirty="0"/>
              <a:t>：先编译后运行 </a:t>
            </a:r>
            <a:endParaRPr lang="en-US" altLang="zh-CN" sz="1600" b="0" dirty="0"/>
          </a:p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endParaRPr lang="en-US" altLang="zh-CN" sz="1000" b="0" dirty="0"/>
          </a:p>
          <a:p>
            <a:pPr>
              <a:lnSpc>
                <a:spcPct val="100000"/>
              </a:lnSpc>
              <a:buSzPct val="50000"/>
              <a:buFont typeface="Wingdings" panose="05000000000000000000" pitchFamily="2" charset="2"/>
              <a:buChar char="l"/>
            </a:pPr>
            <a:r>
              <a:rPr lang="en-US" altLang="zh-CN" sz="2800" b="0" dirty="0"/>
              <a:t>JIT vs. AOT</a:t>
            </a:r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en-US" altLang="zh-CN" sz="2400" b="0" dirty="0"/>
              <a:t>JIT</a:t>
            </a:r>
            <a:r>
              <a:rPr lang="zh-CN" altLang="en-US" sz="2400" b="0" dirty="0"/>
              <a:t>具备解释器的灵活性 </a:t>
            </a:r>
            <a:endParaRPr lang="en-US" altLang="zh-CN" sz="2400" b="0" dirty="0"/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b="0" dirty="0"/>
              <a:t>只要有</a:t>
            </a:r>
            <a:r>
              <a:rPr lang="en-US" altLang="zh-CN" sz="2000" b="0" dirty="0"/>
              <a:t>JIT</a:t>
            </a:r>
            <a:r>
              <a:rPr lang="zh-CN" altLang="en-US" sz="2000" b="0" dirty="0"/>
              <a:t>编译器，代码即可运行 </a:t>
            </a:r>
            <a:endParaRPr lang="en-US" altLang="zh-CN" sz="20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性能上基本和</a:t>
            </a:r>
            <a:r>
              <a:rPr lang="en-US" altLang="zh-CN" sz="2400" b="0" dirty="0"/>
              <a:t>AOT</a:t>
            </a:r>
            <a:r>
              <a:rPr lang="zh-CN" altLang="en-US" sz="2400" b="0" dirty="0"/>
              <a:t>等同 </a:t>
            </a:r>
            <a:endParaRPr lang="en-US" altLang="zh-CN" sz="2400" b="0" dirty="0"/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b="0" dirty="0"/>
              <a:t>运行时编译操作带来一些性能上的损失 </a:t>
            </a:r>
            <a:endParaRPr lang="en-US" altLang="zh-CN" sz="2000" b="0" dirty="0"/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b="0" dirty="0"/>
              <a:t>但可以利用程序运行特征进行动态优化 </a:t>
            </a:r>
            <a:endParaRPr lang="zh-CN" altLang="en-US" sz="2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JIT</a:t>
            </a:r>
            <a:r>
              <a:rPr lang="en-US" altLang="zh-CN" sz="3600" b="0" dirty="0">
                <a:latin typeface="+mn-ea"/>
                <a:ea typeface="+mn-ea"/>
              </a:rPr>
              <a:t>[</a:t>
            </a:r>
            <a:r>
              <a:rPr lang="zh-CN" altLang="en-US" sz="3600" b="0" dirty="0">
                <a:latin typeface="+mn-ea"/>
                <a:ea typeface="+mn-ea"/>
              </a:rPr>
              <a:t>即时编译</a:t>
            </a:r>
            <a:r>
              <a:rPr lang="en-US" altLang="zh-CN" sz="3600" b="0" dirty="0">
                <a:latin typeface="+mn-ea"/>
                <a:ea typeface="+mn-ea"/>
              </a:rPr>
              <a:t>]</a:t>
            </a:r>
            <a:r>
              <a:rPr lang="zh-CN" altLang="en-US" sz="3600" b="0" dirty="0">
                <a:latin typeface="+mn-ea"/>
                <a:ea typeface="+mn-ea"/>
              </a:rPr>
              <a:t>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15</a:t>
            </a:fld>
            <a:endParaRPr lang="en-US" noProof="1"/>
          </a:p>
        </p:txBody>
      </p:sp>
      <p:pic>
        <p:nvPicPr>
          <p:cNvPr id="7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369419" y="4906224"/>
            <a:ext cx="8967969" cy="1950060"/>
            <a:chOff x="773744" y="2375197"/>
            <a:chExt cx="9968151" cy="2167548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23266" y="2375197"/>
              <a:ext cx="6086475" cy="2167548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773744" y="2689239"/>
              <a:ext cx="2102748" cy="153946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#include &lt;stdio.h&gt;</a:t>
              </a:r>
            </a:p>
            <a:p>
              <a:endParaRPr lang="en-US" altLang="zh-CN" sz="1200" dirty="0"/>
            </a:p>
            <a:p>
              <a:r>
                <a:rPr lang="en-US" altLang="zh-CN" sz="1200" dirty="0"/>
                <a:t>int main( )</a:t>
              </a:r>
            </a:p>
            <a:p>
              <a:r>
                <a:rPr lang="en-US" altLang="zh-CN" sz="1200" dirty="0"/>
                <a:t>{</a:t>
              </a:r>
            </a:p>
            <a:p>
              <a:r>
                <a:rPr lang="zh-CN" altLang="en-US" sz="1200" dirty="0"/>
                <a:t>    </a:t>
              </a:r>
              <a:r>
                <a:rPr lang="en-US" altLang="zh-CN" sz="1200" dirty="0" err="1"/>
                <a:t>printf</a:t>
              </a:r>
              <a:r>
                <a:rPr lang="en-US" altLang="zh-CN" sz="1200" dirty="0"/>
                <a:t>(“Hello World!\n”);</a:t>
              </a:r>
            </a:p>
            <a:p>
              <a:r>
                <a:rPr lang="zh-CN" altLang="en-US" sz="1200" dirty="0"/>
                <a:t>    </a:t>
              </a:r>
              <a:r>
                <a:rPr lang="en-US" altLang="zh-CN" sz="1200" dirty="0"/>
                <a:t>return 0;</a:t>
              </a:r>
            </a:p>
            <a:p>
              <a:r>
                <a:rPr lang="en-US" altLang="zh-CN" sz="1200" dirty="0"/>
                <a:t>}</a:t>
              </a:r>
              <a:endParaRPr lang="zh-CN" altLang="en-US" sz="1200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9456515" y="2689239"/>
              <a:ext cx="1285380" cy="153946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55</a:t>
              </a:r>
            </a:p>
            <a:p>
              <a:r>
                <a:rPr lang="en-US" altLang="zh-CN" sz="1200" dirty="0"/>
                <a:t>48 89 e5</a:t>
              </a:r>
            </a:p>
            <a:p>
              <a:r>
                <a:rPr lang="en-US" altLang="zh-CN" sz="1200" dirty="0"/>
                <a:t>Bf d0 05 40 00</a:t>
              </a:r>
            </a:p>
            <a:p>
              <a:r>
                <a:rPr lang="en-US" altLang="zh-CN" sz="1200" dirty="0"/>
                <a:t>E8 d6 fe  ff   ff</a:t>
              </a:r>
            </a:p>
            <a:p>
              <a:r>
                <a:rPr lang="en-US" altLang="zh-CN" sz="1200" dirty="0"/>
                <a:t>B8 00 00 00 00</a:t>
              </a:r>
            </a:p>
            <a:p>
              <a:r>
                <a:rPr lang="en-US" altLang="zh-CN" sz="1200" dirty="0"/>
                <a:t>5d</a:t>
              </a:r>
            </a:p>
            <a:p>
              <a:r>
                <a:rPr lang="en-US" altLang="zh-CN" sz="1200" dirty="0"/>
                <a:t>c3</a:t>
              </a:r>
              <a:endParaRPr lang="zh-CN" altLang="en-US" sz="1200" dirty="0"/>
            </a:p>
          </p:txBody>
        </p:sp>
      </p:grp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Compilation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j-cs"/>
              </a:rPr>
              <a:t> [C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j-cs"/>
              </a:rPr>
              <a:t>语言编译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j-cs"/>
              </a:rPr>
              <a:t>]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00"/>
            <a:fld id="{22DECF6A-13F7-418C-BBFC-95033FFCD5F1}" type="slidenum">
              <a:rPr lang="en-US" noProof="1">
                <a:solidFill>
                  <a:prstClr val="black"/>
                </a:solidFill>
                <a:latin typeface="Calibri" panose="020F0502020204030204"/>
              </a:rPr>
              <a:t>16</a:t>
            </a:fld>
            <a:endParaRPr lang="en-US" noProof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26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8227" y="1060270"/>
            <a:ext cx="8277045" cy="4488334"/>
          </a:xfrm>
        </p:spPr>
        <p:txBody>
          <a:bodyPr>
            <a:normAutofit/>
          </a:bodyPr>
          <a:lstStyle/>
          <a:p>
            <a:r>
              <a:rPr lang="zh-CN" altLang="en-US" sz="2800" b="0" dirty="0"/>
              <a:t>源程序（</a:t>
            </a:r>
            <a:r>
              <a:rPr lang="en-US" altLang="zh-CN" sz="2800" b="0" dirty="0" err="1"/>
              <a:t>source.c</a:t>
            </a:r>
            <a:r>
              <a:rPr lang="zh-CN" altLang="en-US" sz="2800" b="0" dirty="0"/>
              <a:t>）→ 可执行文件（</a:t>
            </a:r>
            <a:r>
              <a:rPr lang="en-US" altLang="zh-CN" sz="2800" b="0" dirty="0" err="1"/>
              <a:t>a.out</a:t>
            </a:r>
            <a:r>
              <a:rPr lang="zh-CN" altLang="en-US" sz="2800" b="0" dirty="0"/>
              <a:t>）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预处理（</a:t>
            </a:r>
            <a:r>
              <a:rPr lang="en-US" altLang="zh-CN" sz="2400" b="0" dirty="0"/>
              <a:t>preprocessing</a:t>
            </a:r>
            <a:r>
              <a:rPr lang="zh-CN" altLang="en-US" sz="2400" b="0" dirty="0"/>
              <a:t>）</a:t>
            </a:r>
            <a:endParaRPr lang="en-US" altLang="zh-CN" sz="2400" b="0" dirty="0"/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b="0" dirty="0"/>
              <a:t>汇合源程序，展开宏定义，生成</a:t>
            </a:r>
            <a:r>
              <a:rPr lang="en-US" altLang="zh-CN" sz="2000" b="0" dirty="0"/>
              <a:t>.</a:t>
            </a:r>
            <a:r>
              <a:rPr lang="en-GB" altLang="zh-CN" sz="2000" b="0" dirty="0" err="1"/>
              <a:t>i</a:t>
            </a:r>
            <a:r>
              <a:rPr lang="zh-CN" altLang="en-US" sz="2000" b="0" dirty="0"/>
              <a:t>文件 </a:t>
            </a:r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编译（</a:t>
            </a:r>
            <a:r>
              <a:rPr lang="en-US" altLang="zh-CN" sz="2400" b="0" dirty="0"/>
              <a:t>compiling</a:t>
            </a:r>
            <a:r>
              <a:rPr lang="zh-CN" altLang="en-US" sz="2400" b="0" dirty="0"/>
              <a:t>）</a:t>
            </a:r>
            <a:endParaRPr lang="en-US" altLang="zh-CN" sz="2400" b="0" dirty="0"/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b="0" dirty="0"/>
              <a:t>将</a:t>
            </a:r>
            <a:r>
              <a:rPr lang="en-US" altLang="zh-CN" sz="2000" b="0" dirty="0"/>
              <a:t>.</a:t>
            </a:r>
            <a:r>
              <a:rPr lang="en-US" altLang="zh-CN" sz="2000" b="0" dirty="0" err="1"/>
              <a:t>i</a:t>
            </a:r>
            <a:r>
              <a:rPr lang="zh-CN" altLang="en-US" sz="2000" b="0" dirty="0"/>
              <a:t>文件翻译为</a:t>
            </a:r>
            <a:r>
              <a:rPr lang="en-US" altLang="zh-CN" sz="2000" b="0" dirty="0"/>
              <a:t>.s</a:t>
            </a:r>
            <a:r>
              <a:rPr lang="zh-CN" altLang="en-US" sz="2000" b="0" dirty="0"/>
              <a:t>文件（汇编代码，</a:t>
            </a:r>
            <a:r>
              <a:rPr lang="en-US" altLang="zh-CN" sz="2000" b="0" dirty="0"/>
              <a:t>assembly</a:t>
            </a:r>
            <a:r>
              <a:rPr lang="zh-CN" altLang="en-US" sz="2000" b="0" dirty="0"/>
              <a:t>）</a:t>
            </a:r>
            <a:endParaRPr lang="en-US" altLang="zh-CN" sz="20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汇编（</a:t>
            </a:r>
            <a:r>
              <a:rPr lang="en-US" altLang="zh-CN" sz="2400" b="0" dirty="0"/>
              <a:t>assembling</a:t>
            </a:r>
            <a:r>
              <a:rPr lang="zh-CN" altLang="en-US" sz="2400" b="0" dirty="0"/>
              <a:t>）</a:t>
            </a:r>
            <a:endParaRPr lang="en-US" altLang="zh-CN" sz="2400" b="0" dirty="0"/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en-US" altLang="zh-CN" sz="2000" b="0" dirty="0"/>
              <a:t>.s</a:t>
            </a:r>
            <a:r>
              <a:rPr lang="zh-CN" altLang="en-US" sz="2000" b="0" dirty="0"/>
              <a:t>文件转换为</a:t>
            </a:r>
            <a:r>
              <a:rPr lang="en-US" altLang="zh-CN" sz="2000" b="0" dirty="0"/>
              <a:t>.o</a:t>
            </a:r>
            <a:r>
              <a:rPr lang="zh-CN" altLang="en-US" sz="2000" b="0" dirty="0"/>
              <a:t>文件（可重定位对象，</a:t>
            </a:r>
            <a:r>
              <a:rPr lang="en-US" altLang="zh-CN" sz="2000" b="0" dirty="0"/>
              <a:t>machine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code</a:t>
            </a:r>
            <a:r>
              <a:rPr lang="zh-CN" altLang="en-US" sz="2000" b="0" dirty="0"/>
              <a:t>）</a:t>
            </a:r>
            <a:endParaRPr lang="en-US" altLang="zh-CN" sz="20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连接（</a:t>
            </a:r>
            <a:r>
              <a:rPr lang="en-US" altLang="zh-CN" sz="2400" b="0" dirty="0"/>
              <a:t>linking</a:t>
            </a:r>
            <a:r>
              <a:rPr lang="zh-CN" altLang="en-US" sz="2400" b="0" dirty="0"/>
              <a:t>）</a:t>
            </a:r>
            <a:endParaRPr lang="en-US" altLang="zh-CN" sz="2400" b="0" dirty="0"/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b="0" dirty="0"/>
              <a:t>连接库代码生成可执行文件（机器码，</a:t>
            </a:r>
            <a:r>
              <a:rPr lang="en-US" altLang="zh-CN" sz="2000" b="0" dirty="0"/>
              <a:t>machine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code </a:t>
            </a:r>
            <a:r>
              <a:rPr lang="zh-CN" altLang="en-US" sz="2000" b="0" dirty="0"/>
              <a:t>）</a:t>
            </a:r>
            <a:endParaRPr lang="en-US" altLang="zh-CN" sz="2800" b="0" dirty="0"/>
          </a:p>
          <a:p>
            <a:pPr lvl="1"/>
            <a:endParaRPr lang="zh-CN" altLang="en-US" sz="2400" b="0" dirty="0"/>
          </a:p>
        </p:txBody>
      </p:sp>
      <p:sp>
        <p:nvSpPr>
          <p:cNvPr id="4" name="文本框 3"/>
          <p:cNvSpPr txBox="1"/>
          <p:nvPr/>
        </p:nvSpPr>
        <p:spPr>
          <a:xfrm>
            <a:off x="1369419" y="4645620"/>
            <a:ext cx="1891763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FF00"/>
                </a:solidFill>
              </a:rPr>
              <a:t>$</a:t>
            </a:r>
            <a:r>
              <a:rPr lang="zh-CN" altLang="en-US" sz="1200" dirty="0">
                <a:solidFill>
                  <a:srgbClr val="00FF00"/>
                </a:solidFill>
              </a:rPr>
              <a:t> </a:t>
            </a:r>
            <a:r>
              <a:rPr lang="en-US" altLang="zh-CN" sz="1200" dirty="0" err="1">
                <a:solidFill>
                  <a:srgbClr val="00FF00"/>
                </a:solidFill>
              </a:rPr>
              <a:t>gcc</a:t>
            </a:r>
            <a:r>
              <a:rPr lang="zh-CN" altLang="en-US" sz="1200" dirty="0">
                <a:solidFill>
                  <a:srgbClr val="00FF00"/>
                </a:solidFill>
              </a:rPr>
              <a:t> </a:t>
            </a:r>
            <a:r>
              <a:rPr lang="en-US" altLang="zh-CN" sz="1200" dirty="0" err="1">
                <a:solidFill>
                  <a:srgbClr val="00FF00"/>
                </a:solidFill>
              </a:rPr>
              <a:t>source.c</a:t>
            </a:r>
            <a:r>
              <a:rPr lang="zh-CN" altLang="en-US" sz="1200" dirty="0">
                <a:solidFill>
                  <a:srgbClr val="00FF00"/>
                </a:solidFill>
              </a:rPr>
              <a:t> </a:t>
            </a:r>
            <a:r>
              <a:rPr lang="en-US" altLang="zh-CN" sz="1200" dirty="0">
                <a:solidFill>
                  <a:srgbClr val="00FF00"/>
                </a:solidFill>
              </a:rPr>
              <a:t>–o</a:t>
            </a:r>
            <a:r>
              <a:rPr lang="zh-CN" altLang="en-US" sz="1200" dirty="0">
                <a:solidFill>
                  <a:srgbClr val="00FF00"/>
                </a:solidFill>
              </a:rPr>
              <a:t> </a:t>
            </a:r>
            <a:r>
              <a:rPr lang="en-US" altLang="zh-CN" sz="1200" dirty="0" err="1">
                <a:solidFill>
                  <a:srgbClr val="00FF00"/>
                </a:solidFill>
              </a:rPr>
              <a:t>a.out</a:t>
            </a:r>
            <a:endParaRPr lang="en-US" altLang="zh-CN" sz="1200" dirty="0">
              <a:solidFill>
                <a:srgbClr val="00FF00"/>
              </a:solidFill>
            </a:endParaRPr>
          </a:p>
          <a:p>
            <a:r>
              <a:rPr lang="en-US" altLang="zh-CN" sz="1200" dirty="0">
                <a:solidFill>
                  <a:srgbClr val="00FF00"/>
                </a:solidFill>
              </a:rPr>
              <a:t>$</a:t>
            </a:r>
            <a:r>
              <a:rPr lang="zh-CN" altLang="en-US" sz="1200" dirty="0">
                <a:solidFill>
                  <a:srgbClr val="00FF00"/>
                </a:solidFill>
              </a:rPr>
              <a:t> </a:t>
            </a:r>
            <a:r>
              <a:rPr lang="en-US" altLang="zh-CN" sz="1200" dirty="0">
                <a:solidFill>
                  <a:srgbClr val="00FF00"/>
                </a:solidFill>
              </a:rPr>
              <a:t>./</a:t>
            </a:r>
            <a:r>
              <a:rPr lang="en-US" altLang="zh-CN" sz="1200" dirty="0" err="1">
                <a:solidFill>
                  <a:srgbClr val="00FF00"/>
                </a:solidFill>
              </a:rPr>
              <a:t>a.out</a:t>
            </a:r>
            <a:endParaRPr lang="en-US" altLang="zh-CN" sz="1200" dirty="0">
              <a:solidFill>
                <a:srgbClr val="00FF0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689" y="2765224"/>
            <a:ext cx="4058752" cy="1862005"/>
          </a:xfrm>
          <a:prstGeom prst="rect">
            <a:avLst/>
          </a:prstGeom>
        </p:spPr>
      </p:pic>
      <p:pic>
        <p:nvPicPr>
          <p:cNvPr id="11" name="Picture 4" descr="程序员的自我修养 (豆瓣)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307" y="1077459"/>
            <a:ext cx="1019753" cy="1548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Compilation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C</a:t>
            </a:r>
            <a:r>
              <a:rPr lang="zh-CN" altLang="en-US" dirty="0"/>
              <a:t> </a:t>
            </a:r>
            <a:r>
              <a:rPr lang="en-US" altLang="zh-CN" dirty="0"/>
              <a:t>(Cont.)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00"/>
            <a:fld id="{22DECF6A-13F7-418C-BBFC-95033FFCD5F1}" type="slidenum">
              <a:rPr lang="en-US" noProof="1">
                <a:solidFill>
                  <a:prstClr val="black"/>
                </a:solidFill>
                <a:latin typeface="Calibri" panose="020F0502020204030204"/>
              </a:rPr>
              <a:t>17</a:t>
            </a:fld>
            <a:endParaRPr lang="en-US" noProof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26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48666" y="1216233"/>
            <a:ext cx="11294669" cy="2130471"/>
          </a:xfrm>
        </p:spPr>
        <p:txBody>
          <a:bodyPr>
            <a:normAutofit/>
          </a:bodyPr>
          <a:lstStyle/>
          <a:p>
            <a:r>
              <a:rPr lang="en-US" altLang="zh-CN" sz="2800" b="0" dirty="0"/>
              <a:t>Preprocessing</a:t>
            </a:r>
            <a:r>
              <a:rPr lang="zh-CN" altLang="en-US" sz="2800" b="0" dirty="0"/>
              <a:t>：源代码</a:t>
            </a:r>
            <a:r>
              <a:rPr lang="en-US" altLang="zh-CN" sz="2800" b="0" dirty="0"/>
              <a:t> (c</a:t>
            </a:r>
            <a:r>
              <a:rPr lang="zh-CN" altLang="en-US" sz="2800" b="0" dirty="0"/>
              <a:t> </a:t>
            </a:r>
            <a:r>
              <a:rPr lang="en-US" altLang="zh-CN" sz="2800" b="0" dirty="0"/>
              <a:t>code) </a:t>
            </a:r>
            <a:r>
              <a:rPr lang="zh-CN" altLang="en-US" sz="2800" b="0" dirty="0"/>
              <a:t>→</a:t>
            </a:r>
            <a:r>
              <a:rPr lang="en-US" altLang="zh-CN" sz="2800" b="0" dirty="0"/>
              <a:t> </a:t>
            </a:r>
            <a:r>
              <a:rPr lang="zh-CN" altLang="en-US" sz="2800" b="0" dirty="0"/>
              <a:t>展开后的代码</a:t>
            </a:r>
            <a:r>
              <a:rPr lang="en-US" altLang="zh-CN" sz="2800" b="0" dirty="0"/>
              <a:t> (c</a:t>
            </a:r>
            <a:r>
              <a:rPr lang="zh-CN" altLang="en-US" sz="2800" b="0" dirty="0"/>
              <a:t> </a:t>
            </a:r>
            <a:r>
              <a:rPr lang="en-US" altLang="zh-CN" sz="2800" b="0" dirty="0"/>
              <a:t>code)</a:t>
            </a:r>
          </a:p>
          <a:p>
            <a:r>
              <a:rPr lang="en-US" altLang="zh-CN" sz="2800" b="0" dirty="0"/>
              <a:t>Compiling</a:t>
            </a:r>
            <a:r>
              <a:rPr lang="zh-CN" altLang="en-US" sz="2800" b="0" dirty="0"/>
              <a:t>：展开后的代码</a:t>
            </a:r>
            <a:r>
              <a:rPr lang="en-US" altLang="zh-CN" sz="2800" b="0" dirty="0"/>
              <a:t> (c</a:t>
            </a:r>
            <a:r>
              <a:rPr lang="zh-CN" altLang="en-US" sz="2800" b="0" dirty="0"/>
              <a:t> </a:t>
            </a:r>
            <a:r>
              <a:rPr lang="en-US" altLang="zh-CN" sz="2800" b="0" dirty="0"/>
              <a:t>code) </a:t>
            </a:r>
            <a:r>
              <a:rPr lang="zh-CN" altLang="en-US" sz="2800" b="0" dirty="0"/>
              <a:t>→</a:t>
            </a:r>
            <a:r>
              <a:rPr lang="en-US" altLang="zh-CN" sz="2800" b="0" dirty="0"/>
              <a:t> </a:t>
            </a:r>
            <a:r>
              <a:rPr lang="zh-CN" altLang="en-US" sz="2800" b="0" dirty="0"/>
              <a:t>汇编代码</a:t>
            </a:r>
            <a:r>
              <a:rPr lang="en-US" altLang="zh-CN" sz="2800" b="0" dirty="0"/>
              <a:t> (assembly)</a:t>
            </a:r>
          </a:p>
          <a:p>
            <a:r>
              <a:rPr lang="en-US" altLang="zh-CN" sz="2800" b="0" dirty="0"/>
              <a:t>Assembling</a:t>
            </a:r>
            <a:r>
              <a:rPr lang="zh-CN" altLang="en-US" sz="2800" b="0" dirty="0"/>
              <a:t>：汇编代码</a:t>
            </a:r>
            <a:r>
              <a:rPr lang="en-US" altLang="zh-CN" sz="2800" b="0" dirty="0"/>
              <a:t> (assembly)</a:t>
            </a:r>
            <a:r>
              <a:rPr lang="zh-CN" altLang="en-US" sz="2800" b="0" dirty="0"/>
              <a:t> →</a:t>
            </a:r>
            <a:r>
              <a:rPr lang="en-US" altLang="zh-CN" sz="2800" b="0" dirty="0"/>
              <a:t> </a:t>
            </a:r>
            <a:r>
              <a:rPr lang="zh-CN" altLang="en-US" sz="2800" b="0" dirty="0"/>
              <a:t>目标</a:t>
            </a:r>
            <a:r>
              <a:rPr lang="en-US" altLang="zh-CN" sz="2800" b="0" dirty="0"/>
              <a:t>/</a:t>
            </a:r>
            <a:r>
              <a:rPr lang="zh-CN" altLang="en-US" sz="2800" b="0" dirty="0"/>
              <a:t>机器码文件</a:t>
            </a:r>
            <a:r>
              <a:rPr lang="en-US" altLang="zh-CN" sz="2800" b="0" dirty="0"/>
              <a:t> (machine</a:t>
            </a:r>
            <a:r>
              <a:rPr lang="zh-CN" altLang="en-US" sz="2800" b="0" dirty="0"/>
              <a:t> </a:t>
            </a:r>
            <a:r>
              <a:rPr lang="en-US" altLang="zh-CN" sz="2800" b="0" dirty="0"/>
              <a:t>code)</a:t>
            </a:r>
          </a:p>
          <a:p>
            <a:r>
              <a:rPr lang="en-US" altLang="zh-CN" sz="2800" b="0" dirty="0"/>
              <a:t>Linking</a:t>
            </a:r>
            <a:r>
              <a:rPr lang="zh-CN" altLang="en-US" sz="2800" b="0" dirty="0"/>
              <a:t>：目标</a:t>
            </a:r>
            <a:r>
              <a:rPr lang="en-US" altLang="zh-CN" sz="2800" b="0" dirty="0"/>
              <a:t>/</a:t>
            </a:r>
            <a:r>
              <a:rPr lang="zh-CN" altLang="en-US" sz="2800" b="0" dirty="0"/>
              <a:t>机器码文件</a:t>
            </a:r>
            <a:r>
              <a:rPr lang="en-US" altLang="zh-CN" sz="2800" b="0" dirty="0"/>
              <a:t> (machine</a:t>
            </a:r>
            <a:r>
              <a:rPr lang="zh-CN" altLang="en-US" sz="2800" b="0" dirty="0"/>
              <a:t> </a:t>
            </a:r>
            <a:r>
              <a:rPr lang="en-US" altLang="zh-CN" sz="2800" b="0" dirty="0"/>
              <a:t>code)</a:t>
            </a:r>
            <a:r>
              <a:rPr lang="zh-CN" altLang="en-US" sz="2800" b="0" dirty="0"/>
              <a:t> →</a:t>
            </a:r>
            <a:r>
              <a:rPr lang="en-US" altLang="zh-CN" sz="2800" b="0" dirty="0"/>
              <a:t> </a:t>
            </a:r>
            <a:r>
              <a:rPr lang="zh-CN" altLang="en-US" sz="2800" b="0" dirty="0"/>
              <a:t>可执行文件</a:t>
            </a:r>
            <a:endParaRPr lang="en-US" altLang="zh-CN" sz="2800" b="0" dirty="0"/>
          </a:p>
        </p:txBody>
      </p:sp>
      <p:pic>
        <p:nvPicPr>
          <p:cNvPr id="1063" name="Picture 4" descr="程序员的自我修养 (豆瓣)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267" y="5193605"/>
            <a:ext cx="1019753" cy="1548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4238" y="3507296"/>
            <a:ext cx="6210299" cy="284905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Compiler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j-cs"/>
              </a:rPr>
              <a:t> [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j-cs"/>
              </a:rPr>
              <a:t>为什么学编译原理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j-cs"/>
              </a:rPr>
              <a:t>]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00"/>
            <a:fld id="{22DECF6A-13F7-418C-BBFC-95033FFCD5F1}" type="slidenum">
              <a:rPr lang="en-US" noProof="1">
                <a:solidFill>
                  <a:prstClr val="black"/>
                </a:solidFill>
                <a:latin typeface="Calibri" panose="020F0502020204030204"/>
              </a:rPr>
              <a:t>18</a:t>
            </a:fld>
            <a:endParaRPr lang="en-US" noProof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26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48667" y="1216233"/>
            <a:ext cx="10462588" cy="5209967"/>
          </a:xfrm>
        </p:spPr>
        <p:txBody>
          <a:bodyPr>
            <a:normAutofit/>
          </a:bodyPr>
          <a:lstStyle/>
          <a:p>
            <a:r>
              <a:rPr lang="zh-CN" altLang="en-US" sz="2800" b="0" dirty="0"/>
              <a:t>为了更好的编程？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有助于产出高质量代码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大部分编程工作并不需要编译器知识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endParaRPr lang="en-US" altLang="zh-CN" sz="2000" b="0" dirty="0"/>
          </a:p>
          <a:p>
            <a:r>
              <a:rPr lang="zh-CN" altLang="en-US" sz="2800" b="0" dirty="0"/>
              <a:t>找到好工作？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编译器研究员（华为）、游戏编译器工程师（腾讯）、编译器优化工程师（英特尔）等等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大部分计算机相关工作并不要求编译器背景</a:t>
            </a:r>
            <a:endParaRPr lang="en-US" altLang="zh-CN" sz="2400" b="0" dirty="0"/>
          </a:p>
          <a:p>
            <a:pPr lvl="1"/>
            <a:endParaRPr lang="en-US" altLang="zh-CN" sz="2265" b="0" dirty="0"/>
          </a:p>
          <a:p>
            <a:r>
              <a:rPr lang="zh-CN" altLang="en-US" sz="2800" b="0" dirty="0"/>
              <a:t>包含计算机学科的</a:t>
            </a:r>
            <a:r>
              <a:rPr lang="zh-CN" altLang="en-US" sz="2800" dirty="0">
                <a:solidFill>
                  <a:srgbClr val="C00000"/>
                </a:solidFill>
              </a:rPr>
              <a:t>主要设计理念</a:t>
            </a:r>
            <a:r>
              <a:rPr lang="en-US" altLang="zh-CN" sz="2800" b="0" dirty="0"/>
              <a:t>:</a:t>
            </a:r>
            <a:r>
              <a:rPr lang="zh-CN" altLang="en-US" sz="2800" b="0" dirty="0"/>
              <a:t>抽象，自顶 </a:t>
            </a:r>
            <a:r>
              <a:rPr lang="en-US" altLang="zh-CN" sz="2800" b="0" dirty="0"/>
              <a:t>(</a:t>
            </a:r>
            <a:r>
              <a:rPr lang="zh-CN" altLang="en-US" sz="2800" b="0" dirty="0"/>
              <a:t>底</a:t>
            </a:r>
            <a:r>
              <a:rPr lang="en-US" altLang="zh-CN" sz="2800" b="0" dirty="0"/>
              <a:t>)</a:t>
            </a:r>
            <a:r>
              <a:rPr lang="zh-CN" altLang="en-US" sz="2800" b="0" dirty="0"/>
              <a:t> 向下 </a:t>
            </a:r>
            <a:r>
              <a:rPr lang="en-US" altLang="zh-CN" sz="2800" b="0" dirty="0"/>
              <a:t>(</a:t>
            </a:r>
            <a:r>
              <a:rPr lang="zh-CN" altLang="en-US" sz="2800" b="0" dirty="0"/>
              <a:t>上</a:t>
            </a:r>
            <a:r>
              <a:rPr lang="en-US" altLang="zh-CN" sz="2800" b="0" dirty="0"/>
              <a:t>)</a:t>
            </a:r>
            <a:r>
              <a:rPr lang="zh-CN" altLang="en-US" sz="2800" b="0" dirty="0"/>
              <a:t> 等</a:t>
            </a:r>
            <a:endParaRPr lang="en-US" altLang="zh-CN" sz="2800" b="0" dirty="0"/>
          </a:p>
          <a:p>
            <a:r>
              <a:rPr lang="zh-CN" altLang="en-US" sz="2800" b="0" dirty="0"/>
              <a:t>提供</a:t>
            </a:r>
            <a:r>
              <a:rPr lang="zh-CN" altLang="en-US" sz="2800" dirty="0">
                <a:solidFill>
                  <a:srgbClr val="C00000"/>
                </a:solidFill>
              </a:rPr>
              <a:t>理论方法与实践应用</a:t>
            </a:r>
            <a:r>
              <a:rPr lang="zh-CN" altLang="en-US" sz="2800" b="0" dirty="0"/>
              <a:t>的深度结合</a:t>
            </a:r>
            <a:endParaRPr lang="en-US" altLang="zh-CN" sz="2800" b="0" dirty="0"/>
          </a:p>
          <a:p>
            <a:pPr lvl="1"/>
            <a:endParaRPr lang="zh-CN" altLang="en-US" sz="2400" b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Overview of</a:t>
            </a:r>
            <a:r>
              <a:rPr lang="zh-CN" altLang="en-US" dirty="0"/>
              <a:t> </a:t>
            </a:r>
            <a:r>
              <a:rPr lang="en-US" altLang="zh-CN" dirty="0"/>
              <a:t>Compiler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j-cs"/>
              </a:rPr>
              <a:t> [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j-cs"/>
              </a:rPr>
              <a:t>编译结构总览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j-cs"/>
              </a:rPr>
              <a:t>]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09600"/>
            <a:fld id="{22DECF6A-13F7-418C-BBFC-95033FFCD5F1}" type="slidenum">
              <a:rPr lang="en-US" noProof="1">
                <a:solidFill>
                  <a:prstClr val="black"/>
                </a:solidFill>
                <a:latin typeface="Calibri" panose="020F0502020204030204"/>
              </a:rPr>
              <a:t>19</a:t>
            </a:fld>
            <a:endParaRPr lang="en-US" noProof="1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26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" name="组合 60"/>
          <p:cNvGrpSpPr/>
          <p:nvPr/>
        </p:nvGrpSpPr>
        <p:grpSpPr>
          <a:xfrm>
            <a:off x="2185169" y="1641457"/>
            <a:ext cx="7910553" cy="4255489"/>
            <a:chOff x="2228060" y="1217251"/>
            <a:chExt cx="7910553" cy="4255489"/>
          </a:xfrm>
        </p:grpSpPr>
        <p:grpSp>
          <p:nvGrpSpPr>
            <p:cNvPr id="4" name="组合 3"/>
            <p:cNvGrpSpPr/>
            <p:nvPr/>
          </p:nvGrpSpPr>
          <p:grpSpPr>
            <a:xfrm>
              <a:off x="2228060" y="1217251"/>
              <a:ext cx="7910553" cy="4255489"/>
              <a:chOff x="1268290" y="751236"/>
              <a:chExt cx="6852801" cy="3686471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3672345" y="878523"/>
                <a:ext cx="1908614" cy="3302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Lexical Analyzer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3672344" y="1447201"/>
                <a:ext cx="1908615" cy="3302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Syntax Analyzer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3672344" y="2020937"/>
                <a:ext cx="1908616" cy="3302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Semantic Analyzer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3672344" y="2599891"/>
                <a:ext cx="1908614" cy="50810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Intermediate</a:t>
                </a:r>
              </a:p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Code Generation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3672344" y="4014095"/>
                <a:ext cx="1908614" cy="3312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Code Generator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4" name="直接箭头连接符 10"/>
              <p:cNvCxnSpPr>
                <a:stCxn id="5" idx="2"/>
                <a:endCxn id="30" idx="0"/>
              </p:cNvCxnSpPr>
              <p:nvPr/>
            </p:nvCxnSpPr>
            <p:spPr>
              <a:xfrm>
                <a:off x="4626652" y="1208723"/>
                <a:ext cx="0" cy="238478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11"/>
              <p:cNvCxnSpPr>
                <a:stCxn id="30" idx="2"/>
                <a:endCxn id="31" idx="0"/>
              </p:cNvCxnSpPr>
              <p:nvPr/>
            </p:nvCxnSpPr>
            <p:spPr>
              <a:xfrm>
                <a:off x="4626652" y="1777401"/>
                <a:ext cx="0" cy="243536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6" name="文本框 35"/>
              <p:cNvSpPr txBox="1"/>
              <p:nvPr/>
            </p:nvSpPr>
            <p:spPr>
              <a:xfrm>
                <a:off x="3914334" y="1145958"/>
                <a:ext cx="151765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token  </a:t>
                </a:r>
                <a:r>
                  <a:rPr lang="en-US" altLang="zh-CN" sz="1600" dirty="0"/>
                  <a:t>s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tream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3786671" y="1728565"/>
                <a:ext cx="151765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syntax  tree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8" name="直接箭头连接符 24"/>
              <p:cNvCxnSpPr>
                <a:stCxn id="31" idx="2"/>
                <a:endCxn id="32" idx="0"/>
              </p:cNvCxnSpPr>
              <p:nvPr/>
            </p:nvCxnSpPr>
            <p:spPr>
              <a:xfrm flipH="1">
                <a:off x="4626651" y="2351137"/>
                <a:ext cx="1" cy="248754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27"/>
              <p:cNvCxnSpPr>
                <a:stCxn id="32" idx="2"/>
              </p:cNvCxnSpPr>
              <p:nvPr/>
            </p:nvCxnSpPr>
            <p:spPr>
              <a:xfrm>
                <a:off x="4626651" y="3107994"/>
                <a:ext cx="0" cy="263473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0"/>
              <p:cNvCxnSpPr>
                <a:stCxn id="48" idx="2"/>
                <a:endCxn id="33" idx="0"/>
              </p:cNvCxnSpPr>
              <p:nvPr/>
            </p:nvCxnSpPr>
            <p:spPr>
              <a:xfrm>
                <a:off x="4626651" y="3765442"/>
                <a:ext cx="0" cy="248653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文本框 40"/>
              <p:cNvSpPr txBox="1"/>
              <p:nvPr/>
            </p:nvSpPr>
            <p:spPr>
              <a:xfrm>
                <a:off x="3584251" y="3061601"/>
                <a:ext cx="264795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 err="1"/>
                  <a:t>i</a:t>
                </a:r>
                <a:r>
                  <a:rPr lang="zh-CN" altLang="en-US" sz="1600" dirty="0"/>
                  <a:t>ntermediate  representation</a:t>
                </a: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3574500" y="3724261"/>
                <a:ext cx="264795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dirty="0" err="1"/>
                  <a:t>i</a:t>
                </a:r>
                <a:r>
                  <a:rPr lang="zh-CN" altLang="en-US" sz="1600" dirty="0"/>
                  <a:t>ntermediate  representation</a:t>
                </a: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1268290" y="751236"/>
                <a:ext cx="1680113" cy="58477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i="1" u="sng" dirty="0">
                    <a:solidFill>
                      <a:schemeClr val="tx1"/>
                    </a:solidFill>
                  </a:rPr>
                  <a:t>Character Stream</a:t>
                </a:r>
              </a:p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(Source Code)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6" name="直接箭头连接符 9"/>
              <p:cNvCxnSpPr>
                <a:stCxn id="45" idx="3"/>
                <a:endCxn id="5" idx="1"/>
              </p:cNvCxnSpPr>
              <p:nvPr/>
            </p:nvCxnSpPr>
            <p:spPr>
              <a:xfrm flipV="1">
                <a:off x="2948403" y="1043623"/>
                <a:ext cx="723941" cy="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7" name="文本框 46"/>
              <p:cNvSpPr txBox="1"/>
              <p:nvPr/>
            </p:nvSpPr>
            <p:spPr>
              <a:xfrm>
                <a:off x="3786671" y="2288675"/>
                <a:ext cx="151765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syntax  tree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矩形 47"/>
              <p:cNvSpPr/>
              <p:nvPr/>
            </p:nvSpPr>
            <p:spPr>
              <a:xfrm>
                <a:off x="3672344" y="3368879"/>
                <a:ext cx="1908614" cy="39656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Code Optimizer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2" name="直接箭头连接符 65"/>
              <p:cNvCxnSpPr>
                <a:endCxn id="53" idx="1"/>
              </p:cNvCxnSpPr>
              <p:nvPr/>
            </p:nvCxnSpPr>
            <p:spPr>
              <a:xfrm>
                <a:off x="5580959" y="4183200"/>
                <a:ext cx="783014" cy="607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3" name="文本框 52"/>
              <p:cNvSpPr txBox="1"/>
              <p:nvPr/>
            </p:nvSpPr>
            <p:spPr>
              <a:xfrm>
                <a:off x="6363973" y="3929907"/>
                <a:ext cx="1757118" cy="507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600" i="1" u="sng" dirty="0"/>
                  <a:t>Target-Machine  Code</a:t>
                </a:r>
              </a:p>
              <a:p>
                <a:pPr algn="ctr"/>
                <a:r>
                  <a:rPr lang="zh-CN" altLang="en-US" sz="1600" dirty="0"/>
                  <a:t>（</a:t>
                </a:r>
                <a:r>
                  <a:rPr lang="en-US" altLang="zh-CN" sz="1600" dirty="0"/>
                  <a:t>executable</a:t>
                </a:r>
                <a:r>
                  <a:rPr lang="zh-CN" altLang="en-US" sz="1600" dirty="0"/>
                  <a:t>）</a:t>
                </a:r>
              </a:p>
            </p:txBody>
          </p:sp>
        </p:grpSp>
        <p:sp>
          <p:nvSpPr>
            <p:cNvPr id="56" name="文本框 55"/>
            <p:cNvSpPr txBox="1"/>
            <p:nvPr/>
          </p:nvSpPr>
          <p:spPr>
            <a:xfrm>
              <a:off x="7319346" y="2047417"/>
              <a:ext cx="1700143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ysClr val="windowText" lastClr="000000"/>
                  </a:solidFill>
                </a:rPr>
                <a:t>Front End</a:t>
              </a:r>
              <a:endParaRPr lang="zh-CN" altLang="en-US" sz="16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3248609" y="4214426"/>
              <a:ext cx="1700143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ysClr val="windowText" lastClr="000000"/>
                  </a:solidFill>
                </a:rPr>
                <a:t>Back End</a:t>
              </a:r>
              <a:endParaRPr lang="zh-CN" altLang="en-US" sz="16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8" name="右大括号 57"/>
            <p:cNvSpPr/>
            <p:nvPr/>
          </p:nvSpPr>
          <p:spPr>
            <a:xfrm>
              <a:off x="7319348" y="1364185"/>
              <a:ext cx="344358" cy="1695375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59" name="右大括号 58"/>
            <p:cNvSpPr/>
            <p:nvPr/>
          </p:nvSpPr>
          <p:spPr>
            <a:xfrm rot="10800000">
              <a:off x="4540982" y="3397074"/>
              <a:ext cx="353336" cy="1968989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48666" y="1300656"/>
            <a:ext cx="7517395" cy="5430552"/>
          </a:xfrm>
        </p:spPr>
        <p:txBody>
          <a:bodyPr>
            <a:normAutofit/>
          </a:bodyPr>
          <a:lstStyle/>
          <a:p>
            <a:r>
              <a:rPr lang="zh-CN" altLang="en-US" sz="2800" b="0" dirty="0"/>
              <a:t>前端 </a:t>
            </a:r>
            <a:r>
              <a:rPr lang="en-US" altLang="zh-CN" sz="2800" b="0" dirty="0"/>
              <a:t>(for Analysis)</a:t>
            </a:r>
            <a:r>
              <a:rPr lang="zh-CN" altLang="en-US" sz="2800" b="0" dirty="0"/>
              <a:t>：对源程序，识别语法结构信息，理解语义信息，反馈出错信息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词法分析（</a:t>
            </a:r>
            <a:r>
              <a:rPr lang="en-US" altLang="zh-CN" sz="2400" b="0" dirty="0"/>
              <a:t>Lexical Analysis</a:t>
            </a:r>
            <a:r>
              <a:rPr lang="zh-CN" altLang="en-US" sz="2400" b="0" dirty="0"/>
              <a:t>）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语法分析（</a:t>
            </a:r>
            <a:r>
              <a:rPr lang="en-US" altLang="zh-CN" sz="2400" b="0" dirty="0"/>
              <a:t>Syntax Analysis</a:t>
            </a:r>
            <a:r>
              <a:rPr lang="zh-CN" altLang="en-US" sz="2400" b="0" dirty="0"/>
              <a:t>） 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语义分析（</a:t>
            </a:r>
            <a:r>
              <a:rPr lang="en-US" altLang="zh-CN" sz="2400" b="0" dirty="0"/>
              <a:t>Semantic Analysis</a:t>
            </a:r>
            <a:r>
              <a:rPr lang="zh-CN" altLang="en-US" sz="2400" b="0" dirty="0"/>
              <a:t>）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endParaRPr lang="en-US" altLang="zh-CN" sz="2400" b="0" dirty="0"/>
          </a:p>
          <a:p>
            <a:r>
              <a:rPr lang="zh-CN" altLang="en-US" sz="2800" b="0" dirty="0"/>
              <a:t>后端 </a:t>
            </a:r>
            <a:r>
              <a:rPr lang="en-US" altLang="zh-CN" sz="2800" b="0" dirty="0"/>
              <a:t>(for Synthesis)</a:t>
            </a:r>
            <a:r>
              <a:rPr lang="zh-CN" altLang="en-US" sz="2800" b="0" dirty="0"/>
              <a:t>：综合分析结果，生成语义上等价于源程序的目标程序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中间代码生成（</a:t>
            </a:r>
            <a:r>
              <a:rPr lang="en-US" altLang="zh-CN" sz="2400" b="0" dirty="0"/>
              <a:t>Intermediate Code Generation</a:t>
            </a:r>
            <a:r>
              <a:rPr lang="zh-CN" altLang="en-US" sz="2400" b="0" dirty="0"/>
              <a:t>） </a:t>
            </a:r>
            <a:endParaRPr lang="en-US" altLang="zh-CN" sz="2400" b="0" dirty="0"/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50000"/>
              <a:buFont typeface="Wingdings" panose="05000000000000000000" pitchFamily="2" charset="2"/>
              <a:buChar char="p"/>
              <a:defRPr/>
            </a:pPr>
            <a:r>
              <a:rPr lang="en-US" altLang="zh-CN" sz="2400" b="0" dirty="0"/>
              <a:t>Intermediate Representation (IR)</a:t>
            </a:r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代码优化（</a:t>
            </a:r>
            <a:r>
              <a:rPr lang="en-US" altLang="zh-CN" sz="2400" b="0" dirty="0"/>
              <a:t>Code Optimizer</a:t>
            </a:r>
            <a:r>
              <a:rPr lang="zh-CN" altLang="en-US" sz="2400" b="0" dirty="0"/>
              <a:t>）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目标代码生成（</a:t>
            </a:r>
            <a:r>
              <a:rPr lang="en-US" altLang="zh-CN" sz="2400" b="0" dirty="0"/>
              <a:t>Code Generation</a:t>
            </a:r>
            <a:r>
              <a:rPr lang="zh-CN" altLang="en-US" sz="2400" b="0" dirty="0"/>
              <a:t>）</a:t>
            </a:r>
            <a:endParaRPr lang="en-US" altLang="zh-CN" sz="2400" b="0" dirty="0"/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en-US" altLang="zh-CN" sz="2400" b="0" dirty="0"/>
              <a:t>Target</a:t>
            </a:r>
            <a:r>
              <a:rPr lang="zh-CN" altLang="en-US" sz="2400" b="0" dirty="0"/>
              <a:t> </a:t>
            </a:r>
            <a:r>
              <a:rPr lang="en-US" altLang="zh-CN" sz="2400" b="0" dirty="0"/>
              <a:t>Machine Code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Compilation Procedure</a:t>
            </a:r>
            <a:r>
              <a:rPr lang="en-US" altLang="zh-CN" sz="3600" b="0" dirty="0"/>
              <a:t>[</a:t>
            </a:r>
            <a:r>
              <a:rPr lang="zh-CN" altLang="en-US" sz="3600" b="0" dirty="0"/>
              <a:t>编译过程</a:t>
            </a:r>
            <a:r>
              <a:rPr lang="en-US" altLang="zh-CN" sz="3600" b="0" dirty="0"/>
              <a:t>]</a:t>
            </a:r>
            <a:endParaRPr lang="zh-CN" altLang="en-US" sz="3600" b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20</a:t>
            </a:fld>
            <a:endParaRPr lang="en-US" noProof="1"/>
          </a:p>
        </p:txBody>
      </p:sp>
      <p:grpSp>
        <p:nvGrpSpPr>
          <p:cNvPr id="7" name="组合 6"/>
          <p:cNvGrpSpPr/>
          <p:nvPr/>
        </p:nvGrpSpPr>
        <p:grpSpPr>
          <a:xfrm>
            <a:off x="7837178" y="1573396"/>
            <a:ext cx="4173240" cy="4510216"/>
            <a:chOff x="3302675" y="878523"/>
            <a:chExt cx="3725286" cy="3986976"/>
          </a:xfrm>
        </p:grpSpPr>
        <p:sp>
          <p:nvSpPr>
            <p:cNvPr id="8" name="矩形 7"/>
            <p:cNvSpPr/>
            <p:nvPr/>
          </p:nvSpPr>
          <p:spPr>
            <a:xfrm>
              <a:off x="3672345" y="878523"/>
              <a:ext cx="1908614" cy="330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Lexical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672344" y="1447201"/>
              <a:ext cx="1908615" cy="330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Syntax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3672344" y="2020937"/>
              <a:ext cx="1908616" cy="330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Semantic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672344" y="2599891"/>
              <a:ext cx="1908614" cy="50810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Intermediate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Generator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3672344" y="4014095"/>
              <a:ext cx="1908614" cy="331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Generator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直接箭头连接符 10"/>
            <p:cNvCxnSpPr>
              <a:stCxn id="8" idx="2"/>
              <a:endCxn id="9" idx="0"/>
            </p:cNvCxnSpPr>
            <p:nvPr/>
          </p:nvCxnSpPr>
          <p:spPr>
            <a:xfrm>
              <a:off x="4626652" y="1208723"/>
              <a:ext cx="0" cy="23847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箭头连接符 11"/>
            <p:cNvCxnSpPr>
              <a:stCxn id="9" idx="2"/>
              <a:endCxn id="10" idx="0"/>
            </p:cNvCxnSpPr>
            <p:nvPr/>
          </p:nvCxnSpPr>
          <p:spPr>
            <a:xfrm>
              <a:off x="4626652" y="1777401"/>
              <a:ext cx="0" cy="24353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>
            <a:xfrm>
              <a:off x="3914334" y="1145958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token  </a:t>
              </a:r>
              <a:r>
                <a:rPr lang="en-US" altLang="zh-CN" sz="1600" dirty="0"/>
                <a:t>s</a:t>
              </a:r>
              <a:r>
                <a:rPr lang="en-US" altLang="zh-CN" sz="1600" dirty="0">
                  <a:solidFill>
                    <a:schemeClr val="tx1"/>
                  </a:solidFill>
                </a:rPr>
                <a:t>tream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786671" y="1728565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syntax  tree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直接箭头连接符 24"/>
            <p:cNvCxnSpPr>
              <a:stCxn id="10" idx="2"/>
              <a:endCxn id="11" idx="0"/>
            </p:cNvCxnSpPr>
            <p:nvPr/>
          </p:nvCxnSpPr>
          <p:spPr>
            <a:xfrm flipH="1">
              <a:off x="4626651" y="2351137"/>
              <a:ext cx="1" cy="24875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27"/>
            <p:cNvCxnSpPr>
              <a:stCxn id="11" idx="2"/>
            </p:cNvCxnSpPr>
            <p:nvPr/>
          </p:nvCxnSpPr>
          <p:spPr>
            <a:xfrm>
              <a:off x="4626651" y="3107994"/>
              <a:ext cx="0" cy="26347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30"/>
            <p:cNvCxnSpPr>
              <a:stCxn id="27" idx="2"/>
              <a:endCxn id="12" idx="0"/>
            </p:cNvCxnSpPr>
            <p:nvPr/>
          </p:nvCxnSpPr>
          <p:spPr>
            <a:xfrm>
              <a:off x="4626651" y="3765442"/>
              <a:ext cx="0" cy="24865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3584251" y="3045268"/>
              <a:ext cx="26479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 err="1"/>
                <a:t>i</a:t>
              </a:r>
              <a:r>
                <a:rPr lang="zh-CN" altLang="en-US" sz="1600" dirty="0"/>
                <a:t>ntermediate  representation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3574500" y="3716095"/>
              <a:ext cx="26479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 err="1"/>
                <a:t>i</a:t>
              </a:r>
              <a:r>
                <a:rPr lang="zh-CN" altLang="en-US" sz="1600" dirty="0"/>
                <a:t>ntermediate  representation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950612" y="1462662"/>
              <a:ext cx="1065975" cy="299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FF0000"/>
                  </a:solidFill>
                </a:rPr>
                <a:t>Front End</a:t>
              </a:r>
              <a:endParaRPr lang="zh-CN" altLang="en-US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5939237" y="3310670"/>
              <a:ext cx="1088724" cy="299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rgbClr val="FF0000"/>
                  </a:solidFill>
                </a:rPr>
                <a:t>Back End</a:t>
              </a:r>
              <a:endParaRPr lang="zh-CN" altLang="en-US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786671" y="2288675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syntax  tree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3672344" y="3368879"/>
              <a:ext cx="1908614" cy="39656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Optimizer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3302675" y="4566221"/>
              <a:ext cx="2647950" cy="299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/>
                <a:t>Target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Machine Code</a:t>
              </a:r>
              <a:endParaRPr lang="zh-CN" altLang="en-US" sz="1600" dirty="0"/>
            </a:p>
          </p:txBody>
        </p:sp>
        <p:cxnSp>
          <p:nvCxnSpPr>
            <p:cNvPr id="30" name="直接箭头连接符 62"/>
            <p:cNvCxnSpPr>
              <a:stCxn id="12" idx="2"/>
            </p:cNvCxnSpPr>
            <p:nvPr/>
          </p:nvCxnSpPr>
          <p:spPr>
            <a:xfrm>
              <a:off x="4626651" y="4345295"/>
              <a:ext cx="0" cy="24865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右大括号 32"/>
            <p:cNvSpPr/>
            <p:nvPr/>
          </p:nvSpPr>
          <p:spPr>
            <a:xfrm>
              <a:off x="5701553" y="878524"/>
              <a:ext cx="307395" cy="1472614"/>
            </a:xfrm>
            <a:prstGeom prst="rightBrac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右大括号 33"/>
            <p:cNvSpPr/>
            <p:nvPr/>
          </p:nvSpPr>
          <p:spPr>
            <a:xfrm>
              <a:off x="5719905" y="2587782"/>
              <a:ext cx="315409" cy="1733024"/>
            </a:xfrm>
            <a:prstGeom prst="rightBrac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24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48665" y="1174991"/>
            <a:ext cx="8082011" cy="4862456"/>
          </a:xfrm>
        </p:spPr>
        <p:txBody>
          <a:bodyPr>
            <a:normAutofit/>
          </a:bodyPr>
          <a:lstStyle/>
          <a:p>
            <a:r>
              <a:rPr lang="zh-CN" altLang="en-US" sz="2800" b="0" dirty="0"/>
              <a:t>扫描源程序字符流，识别并分解出有词法意义的单词或符号（</a:t>
            </a:r>
            <a:r>
              <a:rPr lang="en-US" altLang="zh-CN" sz="2800" b="0" dirty="0"/>
              <a:t>token</a:t>
            </a:r>
            <a:r>
              <a:rPr lang="zh-CN" altLang="en-US" sz="2800" b="0" dirty="0"/>
              <a:t>）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>
                <a:solidFill>
                  <a:srgbClr val="C00000"/>
                </a:solidFill>
              </a:rPr>
              <a:t>输入</a:t>
            </a:r>
            <a:r>
              <a:rPr lang="zh-CN" altLang="en-US" sz="2400" b="0" dirty="0"/>
              <a:t>：源程序；</a:t>
            </a:r>
            <a:r>
              <a:rPr lang="zh-CN" altLang="en-US" sz="2400" b="0" dirty="0">
                <a:solidFill>
                  <a:srgbClr val="C00000"/>
                </a:solidFill>
              </a:rPr>
              <a:t>输出</a:t>
            </a:r>
            <a:r>
              <a:rPr lang="zh-CN" altLang="en-US" sz="2400" b="0" dirty="0"/>
              <a:t>：</a:t>
            </a:r>
            <a:r>
              <a:rPr lang="en-US" altLang="zh-CN" sz="2400" b="0" dirty="0"/>
              <a:t>token</a:t>
            </a:r>
            <a:r>
              <a:rPr lang="zh-CN" altLang="en-US" sz="2400" b="0" dirty="0"/>
              <a:t>序列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en-US" altLang="zh-CN" sz="2400" b="0" dirty="0"/>
              <a:t>token</a:t>
            </a:r>
            <a:r>
              <a:rPr lang="zh-CN" altLang="en-US" sz="2400" b="0" dirty="0"/>
              <a:t>表示：（类别，属性值）</a:t>
            </a:r>
            <a:endParaRPr lang="en-US" altLang="zh-CN" sz="2400" b="0" dirty="0"/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b="0" dirty="0"/>
              <a:t>关键字、标识符、常量、运算符等</a:t>
            </a:r>
            <a:endParaRPr lang="en-US" altLang="zh-CN" sz="20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en-US" altLang="zh-CN" sz="2400" b="0" dirty="0"/>
              <a:t>token</a:t>
            </a:r>
            <a:r>
              <a:rPr lang="zh-CN" altLang="en-US" sz="2400" b="0" dirty="0"/>
              <a:t>是否符合</a:t>
            </a:r>
            <a:r>
              <a:rPr lang="zh-CN" altLang="en-US" sz="2400" b="0" u="sng" dirty="0"/>
              <a:t>词法规则</a:t>
            </a:r>
            <a:r>
              <a:rPr lang="zh-CN" altLang="en-US" sz="2400" b="0" dirty="0"/>
              <a:t>？</a:t>
            </a:r>
            <a:endParaRPr lang="en-US" altLang="zh-CN" sz="2400" b="0" dirty="0"/>
          </a:p>
          <a:p>
            <a:pPr lvl="2">
              <a:buClr>
                <a:schemeClr val="tx1"/>
              </a:buClr>
              <a:buSzPct val="50000"/>
              <a:buFont typeface="Wingdings" panose="05000000000000000000" pitchFamily="2" charset="2"/>
              <a:buChar char="p"/>
            </a:pPr>
            <a:r>
              <a:rPr lang="en-US" altLang="zh-CN" sz="2000" b="0" dirty="0">
                <a:solidFill>
                  <a:srgbClr val="C00000"/>
                </a:solidFill>
              </a:rPr>
              <a:t>0</a:t>
            </a:r>
            <a:r>
              <a:rPr lang="en-US" altLang="zh-CN" sz="2000" b="0" dirty="0"/>
              <a:t>var,</a:t>
            </a:r>
            <a:r>
              <a:rPr lang="zh-CN" altLang="en-US" sz="2000" b="0" dirty="0"/>
              <a:t> </a:t>
            </a:r>
            <a:r>
              <a:rPr lang="en-US" altLang="zh-CN" sz="2000" b="0" dirty="0">
                <a:solidFill>
                  <a:srgbClr val="C00000"/>
                </a:solidFill>
              </a:rPr>
              <a:t>$</a:t>
            </a:r>
            <a:r>
              <a:rPr lang="en-US" altLang="zh-CN" sz="2000" b="0" dirty="0"/>
              <a:t>num</a:t>
            </a:r>
            <a:endParaRPr lang="zh-CN" altLang="en-US" sz="2000" b="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Lexical Analysis</a:t>
            </a:r>
            <a:r>
              <a:rPr lang="en-US" altLang="zh-CN" sz="3600" b="0" dirty="0"/>
              <a:t>[</a:t>
            </a:r>
            <a:r>
              <a:rPr lang="zh-CN" altLang="en-US" sz="3600" b="0" dirty="0"/>
              <a:t>词法分析</a:t>
            </a:r>
            <a:r>
              <a:rPr lang="en-US" altLang="zh-CN" sz="3600" b="0" dirty="0"/>
              <a:t>]</a:t>
            </a:r>
            <a:endParaRPr lang="zh-CN" altLang="en-US" sz="2800" b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21</a:t>
            </a:fld>
            <a:endParaRPr lang="en-US" noProof="1"/>
          </a:p>
        </p:txBody>
      </p:sp>
      <p:pic>
        <p:nvPicPr>
          <p:cNvPr id="4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组合 25"/>
          <p:cNvGrpSpPr/>
          <p:nvPr/>
        </p:nvGrpSpPr>
        <p:grpSpPr>
          <a:xfrm>
            <a:off x="4165613" y="4056899"/>
            <a:ext cx="3305865" cy="2246769"/>
            <a:chOff x="4376370" y="3804569"/>
            <a:chExt cx="3305865" cy="2246769"/>
          </a:xfrm>
        </p:grpSpPr>
        <p:sp>
          <p:nvSpPr>
            <p:cNvPr id="10" name="文本框 9"/>
            <p:cNvSpPr txBox="1"/>
            <p:nvPr/>
          </p:nvSpPr>
          <p:spPr>
            <a:xfrm>
              <a:off x="4376370" y="3804569"/>
              <a:ext cx="2138119" cy="2246769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/>
            <a:p>
              <a:r>
                <a:rPr lang="en-US" altLang="zh-CN" sz="2000" dirty="0"/>
                <a:t>(</a:t>
              </a:r>
              <a:r>
                <a:rPr lang="en-US" altLang="zh-CN" sz="2000" dirty="0">
                  <a:solidFill>
                    <a:schemeClr val="accent5"/>
                  </a:solidFill>
                </a:rPr>
                <a:t>keyword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while</a:t>
              </a:r>
              <a:r>
                <a:rPr lang="en-US" altLang="zh-CN" sz="2000" dirty="0"/>
                <a:t>)</a:t>
              </a:r>
            </a:p>
            <a:p>
              <a:r>
                <a:rPr lang="en-US" altLang="zh-CN" sz="2000" dirty="0"/>
                <a:t>(</a:t>
              </a:r>
              <a:r>
                <a:rPr lang="en-US" altLang="zh-CN" sz="2000" dirty="0">
                  <a:solidFill>
                    <a:schemeClr val="accent5"/>
                  </a:solidFill>
                </a:rPr>
                <a:t>id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y</a:t>
              </a:r>
              <a:r>
                <a:rPr lang="en-US" altLang="zh-CN" sz="2000" dirty="0"/>
                <a:t>)</a:t>
              </a:r>
            </a:p>
            <a:p>
              <a:r>
                <a:rPr lang="en-US" altLang="zh-CN" sz="2000" dirty="0"/>
                <a:t>(</a:t>
              </a:r>
              <a:r>
                <a:rPr lang="en-US" altLang="zh-CN" sz="2000" dirty="0" err="1">
                  <a:solidFill>
                    <a:schemeClr val="accent5"/>
                  </a:solidFill>
                </a:rPr>
                <a:t>sym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&lt;</a:t>
              </a:r>
              <a:r>
                <a:rPr lang="en-US" altLang="zh-CN" sz="2000" dirty="0"/>
                <a:t>)</a:t>
              </a:r>
            </a:p>
            <a:p>
              <a:r>
                <a:rPr lang="en-US" altLang="zh-CN" sz="2000" dirty="0"/>
                <a:t>(</a:t>
              </a:r>
              <a:r>
                <a:rPr lang="en-US" altLang="zh-CN" sz="2000" dirty="0">
                  <a:solidFill>
                    <a:schemeClr val="accent5"/>
                  </a:solidFill>
                </a:rPr>
                <a:t>id</a:t>
              </a:r>
              <a:r>
                <a:rPr lang="en-US" altLang="zh-CN" sz="2000" dirty="0"/>
                <a:t>,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 z</a:t>
              </a:r>
              <a:r>
                <a:rPr lang="en-US" altLang="zh-CN" sz="2000" dirty="0"/>
                <a:t>)</a:t>
              </a:r>
            </a:p>
            <a:p>
              <a:r>
                <a:rPr lang="en-US" altLang="zh-CN" sz="2000" dirty="0"/>
                <a:t>(</a:t>
              </a:r>
              <a:r>
                <a:rPr lang="en-US" altLang="zh-CN" sz="2000" dirty="0">
                  <a:solidFill>
                    <a:schemeClr val="accent5"/>
                  </a:solidFill>
                </a:rPr>
                <a:t>id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x</a:t>
              </a:r>
              <a:r>
                <a:rPr lang="en-US" altLang="zh-CN" sz="2000" dirty="0"/>
                <a:t>)</a:t>
              </a:r>
            </a:p>
            <a:p>
              <a:r>
                <a:rPr lang="en-US" altLang="zh-CN" sz="2000" dirty="0"/>
                <a:t>(</a:t>
              </a:r>
              <a:r>
                <a:rPr lang="en-US" altLang="zh-CN" sz="2000" dirty="0">
                  <a:solidFill>
                    <a:schemeClr val="accent5"/>
                  </a:solidFill>
                </a:rPr>
                <a:t>id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a</a:t>
              </a:r>
              <a:r>
                <a:rPr lang="en-US" altLang="zh-CN" sz="2000" dirty="0"/>
                <a:t>)</a:t>
              </a:r>
            </a:p>
            <a:p>
              <a:r>
                <a:rPr lang="en-US" altLang="zh-CN" sz="2000" dirty="0"/>
                <a:t>(</a:t>
              </a:r>
              <a:r>
                <a:rPr lang="en-US" altLang="zh-CN" sz="2000" dirty="0" err="1">
                  <a:solidFill>
                    <a:schemeClr val="accent5"/>
                  </a:solidFill>
                </a:rPr>
                <a:t>sym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+</a:t>
              </a:r>
              <a:r>
                <a:rPr lang="en-US" altLang="zh-CN" sz="2000" dirty="0"/>
                <a:t>)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381845" y="3810136"/>
              <a:ext cx="1300390" cy="1938992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/>
            <a:p>
              <a:r>
                <a:rPr lang="en-US" altLang="zh-CN" sz="2000" dirty="0"/>
                <a:t>(</a:t>
              </a:r>
              <a:r>
                <a:rPr lang="en-US" altLang="zh-CN" sz="2000" dirty="0">
                  <a:solidFill>
                    <a:schemeClr val="accent5"/>
                  </a:solidFill>
                </a:rPr>
                <a:t>id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b</a:t>
              </a:r>
              <a:r>
                <a:rPr lang="en-US" altLang="zh-CN" sz="2000" dirty="0"/>
                <a:t>)</a:t>
              </a:r>
            </a:p>
            <a:p>
              <a:r>
                <a:rPr lang="en-US" altLang="zh-CN" sz="2000" dirty="0"/>
                <a:t>(</a:t>
              </a:r>
              <a:r>
                <a:rPr lang="en-US" altLang="zh-CN" sz="2000" dirty="0" err="1">
                  <a:solidFill>
                    <a:schemeClr val="accent5"/>
                  </a:solidFill>
                </a:rPr>
                <a:t>sym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;</a:t>
              </a:r>
              <a:r>
                <a:rPr lang="en-US" altLang="zh-CN" sz="2000" dirty="0"/>
                <a:t>)</a:t>
              </a:r>
            </a:p>
            <a:p>
              <a:r>
                <a:rPr lang="en-US" altLang="zh-CN" sz="2000" dirty="0"/>
                <a:t>(</a:t>
              </a:r>
              <a:r>
                <a:rPr lang="en-US" altLang="zh-CN" sz="2000" dirty="0">
                  <a:solidFill>
                    <a:schemeClr val="accent5"/>
                  </a:solidFill>
                </a:rPr>
                <a:t>id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y</a:t>
              </a:r>
              <a:r>
                <a:rPr lang="en-US" altLang="zh-CN" sz="2000" dirty="0"/>
                <a:t>)</a:t>
              </a:r>
            </a:p>
            <a:p>
              <a:r>
                <a:rPr lang="en-US" altLang="zh-CN" sz="2000" dirty="0"/>
                <a:t>(</a:t>
              </a:r>
              <a:r>
                <a:rPr lang="en-US" altLang="zh-CN" sz="2000" dirty="0" err="1">
                  <a:solidFill>
                    <a:schemeClr val="accent5"/>
                  </a:solidFill>
                </a:rPr>
                <a:t>sym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+=</a:t>
              </a:r>
              <a:r>
                <a:rPr lang="en-US" altLang="zh-CN" sz="2000" dirty="0"/>
                <a:t>)</a:t>
              </a:r>
            </a:p>
            <a:p>
              <a:r>
                <a:rPr lang="en-US" altLang="zh-CN" sz="2000" dirty="0"/>
                <a:t>(</a:t>
              </a:r>
              <a:r>
                <a:rPr lang="en-US" altLang="zh-CN" sz="2000" dirty="0">
                  <a:solidFill>
                    <a:schemeClr val="accent5"/>
                  </a:solidFill>
                </a:rPr>
                <a:t>id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x</a:t>
              </a:r>
              <a:r>
                <a:rPr lang="en-US" altLang="zh-CN" sz="2000" dirty="0"/>
                <a:t>)</a:t>
              </a:r>
            </a:p>
            <a:p>
              <a:r>
                <a:rPr lang="en-US" altLang="zh-CN" sz="2000" dirty="0"/>
                <a:t>(</a:t>
              </a:r>
              <a:r>
                <a:rPr lang="en-US" altLang="zh-CN" sz="2000" dirty="0" err="1">
                  <a:solidFill>
                    <a:schemeClr val="accent5"/>
                  </a:solidFill>
                </a:rPr>
                <a:t>sym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;</a:t>
              </a:r>
              <a:r>
                <a:rPr lang="en-US" altLang="zh-CN" sz="2000" dirty="0"/>
                <a:t>)</a:t>
              </a: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342316" y="4427299"/>
            <a:ext cx="1809921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while (y&lt;z){</a:t>
            </a:r>
          </a:p>
          <a:p>
            <a:r>
              <a:rPr lang="en-US" altLang="zh-CN" dirty="0"/>
              <a:t>    int x = a + b;</a:t>
            </a:r>
          </a:p>
          <a:p>
            <a:r>
              <a:rPr lang="en-US" altLang="zh-CN" dirty="0"/>
              <a:t>    y += x;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27" name="右箭头 26"/>
          <p:cNvSpPr/>
          <p:nvPr/>
        </p:nvSpPr>
        <p:spPr>
          <a:xfrm>
            <a:off x="3542201" y="4888632"/>
            <a:ext cx="309065" cy="277662"/>
          </a:xfrm>
          <a:prstGeom prst="right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3" name="组合 32"/>
          <p:cNvGrpSpPr/>
          <p:nvPr/>
        </p:nvGrpSpPr>
        <p:grpSpPr>
          <a:xfrm>
            <a:off x="8536070" y="1527231"/>
            <a:ext cx="3281792" cy="4510216"/>
            <a:chOff x="3302675" y="878523"/>
            <a:chExt cx="2929526" cy="3986976"/>
          </a:xfrm>
        </p:grpSpPr>
        <p:sp>
          <p:nvSpPr>
            <p:cNvPr id="34" name="矩形 33"/>
            <p:cNvSpPr/>
            <p:nvPr/>
          </p:nvSpPr>
          <p:spPr>
            <a:xfrm>
              <a:off x="3672345" y="878523"/>
              <a:ext cx="1908614" cy="330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Lexical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3672344" y="1447201"/>
              <a:ext cx="1908615" cy="330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Syntax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3672344" y="2020937"/>
              <a:ext cx="1908616" cy="330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Semantic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3672344" y="2599891"/>
              <a:ext cx="1908614" cy="50810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Intermediate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Generator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3672344" y="4014095"/>
              <a:ext cx="1908614" cy="331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Generator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9" name="直接箭头连接符 10"/>
            <p:cNvCxnSpPr>
              <a:stCxn id="34" idx="2"/>
              <a:endCxn id="35" idx="0"/>
            </p:cNvCxnSpPr>
            <p:nvPr/>
          </p:nvCxnSpPr>
          <p:spPr>
            <a:xfrm>
              <a:off x="4626652" y="1208723"/>
              <a:ext cx="0" cy="23847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箭头连接符 11"/>
            <p:cNvCxnSpPr>
              <a:stCxn id="35" idx="2"/>
              <a:endCxn id="36" idx="0"/>
            </p:cNvCxnSpPr>
            <p:nvPr/>
          </p:nvCxnSpPr>
          <p:spPr>
            <a:xfrm>
              <a:off x="4626652" y="1777401"/>
              <a:ext cx="0" cy="24353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文本框 40"/>
            <p:cNvSpPr txBox="1"/>
            <p:nvPr/>
          </p:nvSpPr>
          <p:spPr>
            <a:xfrm>
              <a:off x="3914334" y="1145958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token  </a:t>
              </a:r>
              <a:r>
                <a:rPr lang="en-US" altLang="zh-CN" sz="1600" dirty="0"/>
                <a:t>s</a:t>
              </a:r>
              <a:r>
                <a:rPr lang="en-US" altLang="zh-CN" sz="1600" dirty="0">
                  <a:solidFill>
                    <a:schemeClr val="tx1"/>
                  </a:solidFill>
                </a:rPr>
                <a:t>tream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3786671" y="1728565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syntax  tree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43" name="直接箭头连接符 24"/>
            <p:cNvCxnSpPr>
              <a:stCxn id="36" idx="2"/>
              <a:endCxn id="37" idx="0"/>
            </p:cNvCxnSpPr>
            <p:nvPr/>
          </p:nvCxnSpPr>
          <p:spPr>
            <a:xfrm flipH="1">
              <a:off x="4626651" y="2351137"/>
              <a:ext cx="1" cy="24875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接箭头连接符 27"/>
            <p:cNvCxnSpPr>
              <a:stCxn id="37" idx="2"/>
            </p:cNvCxnSpPr>
            <p:nvPr/>
          </p:nvCxnSpPr>
          <p:spPr>
            <a:xfrm>
              <a:off x="4626651" y="3107994"/>
              <a:ext cx="0" cy="26347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箭头连接符 30"/>
            <p:cNvCxnSpPr>
              <a:stCxn id="51" idx="2"/>
              <a:endCxn id="38" idx="0"/>
            </p:cNvCxnSpPr>
            <p:nvPr/>
          </p:nvCxnSpPr>
          <p:spPr>
            <a:xfrm>
              <a:off x="4626651" y="3765442"/>
              <a:ext cx="0" cy="24865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文本框 45"/>
            <p:cNvSpPr txBox="1"/>
            <p:nvPr/>
          </p:nvSpPr>
          <p:spPr>
            <a:xfrm>
              <a:off x="3584251" y="3045268"/>
              <a:ext cx="26479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 err="1"/>
                <a:t>i</a:t>
              </a:r>
              <a:r>
                <a:rPr lang="zh-CN" altLang="en-US" sz="1600" dirty="0"/>
                <a:t>ntermediate  representation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3574500" y="3716095"/>
              <a:ext cx="26479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 err="1"/>
                <a:t>i</a:t>
              </a:r>
              <a:r>
                <a:rPr lang="zh-CN" altLang="en-US" sz="1600" dirty="0"/>
                <a:t>ntermediate  representation</a:t>
              </a: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3786671" y="2288675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syntax  tree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672344" y="3368879"/>
              <a:ext cx="1908614" cy="39656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Optimizer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3302675" y="4566221"/>
              <a:ext cx="2647950" cy="299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/>
                <a:t>Target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Machine Code</a:t>
              </a:r>
              <a:endParaRPr lang="zh-CN" altLang="en-US" sz="1600" dirty="0"/>
            </a:p>
          </p:txBody>
        </p:sp>
        <p:cxnSp>
          <p:nvCxnSpPr>
            <p:cNvPr id="53" name="直接箭头连接符 62"/>
            <p:cNvCxnSpPr>
              <a:stCxn id="38" idx="2"/>
            </p:cNvCxnSpPr>
            <p:nvPr/>
          </p:nvCxnSpPr>
          <p:spPr>
            <a:xfrm>
              <a:off x="4626651" y="4345295"/>
              <a:ext cx="0" cy="24865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Text Box 5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877975" y="6315110"/>
            <a:ext cx="16183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+mn-lt"/>
              </a:rPr>
              <a:t>Token Stream</a:t>
            </a:r>
          </a:p>
        </p:txBody>
      </p:sp>
      <p:sp>
        <p:nvSpPr>
          <p:cNvPr id="11" name="Text Box 5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03611" y="6312999"/>
            <a:ext cx="14873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+mn-lt"/>
              </a:rPr>
              <a:t>Source Code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Lexical Analysis</a:t>
            </a:r>
            <a:r>
              <a:rPr lang="en-US" altLang="zh-CN" sz="3600" b="0" dirty="0"/>
              <a:t>[</a:t>
            </a:r>
            <a:r>
              <a:rPr lang="zh-CN" altLang="en-US" sz="3600" b="0" dirty="0"/>
              <a:t>词法分析</a:t>
            </a:r>
            <a:r>
              <a:rPr lang="en-US" altLang="zh-CN" sz="3600" b="0" dirty="0"/>
              <a:t>]</a:t>
            </a:r>
            <a:endParaRPr lang="zh-CN" altLang="en-US" sz="2800" b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22</a:t>
            </a:fld>
            <a:endParaRPr lang="en-US" noProof="1"/>
          </a:p>
        </p:txBody>
      </p:sp>
      <p:pic>
        <p:nvPicPr>
          <p:cNvPr id="4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9" name="组合 38"/>
          <p:cNvGrpSpPr/>
          <p:nvPr/>
        </p:nvGrpSpPr>
        <p:grpSpPr>
          <a:xfrm>
            <a:off x="555858" y="1649188"/>
            <a:ext cx="11080283" cy="3743205"/>
            <a:chOff x="116430" y="1789205"/>
            <a:chExt cx="11080283" cy="3743205"/>
          </a:xfrm>
        </p:grpSpPr>
        <p:grpSp>
          <p:nvGrpSpPr>
            <p:cNvPr id="73" name="组合 72"/>
            <p:cNvGrpSpPr/>
            <p:nvPr/>
          </p:nvGrpSpPr>
          <p:grpSpPr>
            <a:xfrm>
              <a:off x="116430" y="1789205"/>
              <a:ext cx="11080283" cy="3743205"/>
              <a:chOff x="116430" y="1789205"/>
              <a:chExt cx="11080283" cy="3743205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451165" y="2149936"/>
                <a:ext cx="1379483" cy="5439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Language Specification</a:t>
                </a: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454931" y="2940481"/>
                <a:ext cx="1379483" cy="5439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Token</a:t>
                </a: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2529219" y="2945438"/>
                <a:ext cx="1557975" cy="54391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Regular Expression</a:t>
                </a: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4293142" y="2945437"/>
                <a:ext cx="1017583" cy="5436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NFA</a:t>
                </a: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5605092" y="2943626"/>
                <a:ext cx="992703" cy="54391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DFA</a:t>
                </a: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6909342" y="2905173"/>
                <a:ext cx="1812959" cy="5436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Table-Driven Implementation</a:t>
                </a: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2739430" y="4265869"/>
                <a:ext cx="1129655" cy="5439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Pattern</a:t>
                </a: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9530198" y="2905018"/>
                <a:ext cx="1557975" cy="54391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Lexical</a:t>
                </a:r>
              </a:p>
              <a:p>
                <a:pPr algn="ctr"/>
                <a:r>
                  <a:rPr lang="en-US" altLang="zh-CN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Analyzer</a:t>
                </a:r>
                <a:endParaRPr lang="zh-CN" altLang="en-US" sz="18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9520080" y="3962197"/>
                <a:ext cx="1557975" cy="54391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Token</a:t>
                </a: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5443593" y="4114123"/>
                <a:ext cx="1315700" cy="5436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Partition</a:t>
                </a:r>
              </a:p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Algorithm</a:t>
                </a: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 rot="1162855">
                <a:off x="2104144" y="2352288"/>
                <a:ext cx="8194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One of</a:t>
                </a:r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3284083" y="3753093"/>
                <a:ext cx="8899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Express</a:t>
                </a:r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4" name="直接箭头连接符 23"/>
              <p:cNvCxnSpPr>
                <a:stCxn id="14" idx="2"/>
                <a:endCxn id="18" idx="0"/>
              </p:cNvCxnSpPr>
              <p:nvPr/>
            </p:nvCxnSpPr>
            <p:spPr>
              <a:xfrm flipH="1">
                <a:off x="3304258" y="3489348"/>
                <a:ext cx="3949" cy="77652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文本框 27"/>
              <p:cNvSpPr txBox="1"/>
              <p:nvPr/>
            </p:nvSpPr>
            <p:spPr>
              <a:xfrm>
                <a:off x="2162937" y="3677395"/>
                <a:ext cx="7840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Match</a:t>
                </a:r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29" name="连接符: 曲线 28"/>
              <p:cNvCxnSpPr>
                <a:stCxn id="14" idx="0"/>
                <a:endCxn id="15" idx="0"/>
              </p:cNvCxnSpPr>
              <p:nvPr/>
            </p:nvCxnSpPr>
            <p:spPr>
              <a:xfrm rot="5400000" flipH="1" flipV="1">
                <a:off x="4055070" y="2198575"/>
                <a:ext cx="1" cy="1493727"/>
              </a:xfrm>
              <a:prstGeom prst="curvedConnector3">
                <a:avLst>
                  <a:gd name="adj1" fmla="val 228601000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文本框 29"/>
              <p:cNvSpPr txBox="1"/>
              <p:nvPr/>
            </p:nvSpPr>
            <p:spPr>
              <a:xfrm>
                <a:off x="3477337" y="2041855"/>
                <a:ext cx="117897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Thompson</a:t>
                </a:r>
              </a:p>
              <a:p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Algorithm</a:t>
                </a:r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31" name="连接符: 曲线 30"/>
              <p:cNvCxnSpPr>
                <a:stCxn id="15" idx="0"/>
                <a:endCxn id="16" idx="0"/>
              </p:cNvCxnSpPr>
              <p:nvPr/>
            </p:nvCxnSpPr>
            <p:spPr>
              <a:xfrm rot="5400000" flipH="1" flipV="1">
                <a:off x="5450784" y="2294777"/>
                <a:ext cx="1811" cy="1299510"/>
              </a:xfrm>
              <a:prstGeom prst="curvedConnector3">
                <a:avLst>
                  <a:gd name="adj1" fmla="val 1272286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文本框 31"/>
              <p:cNvSpPr txBox="1"/>
              <p:nvPr/>
            </p:nvSpPr>
            <p:spPr>
              <a:xfrm>
                <a:off x="5047157" y="1789205"/>
                <a:ext cx="145987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Subset-Construction</a:t>
                </a:r>
              </a:p>
              <a:p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Algorithm</a:t>
                </a:r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48" name="连接符: 曲线 47"/>
              <p:cNvCxnSpPr>
                <a:stCxn id="16" idx="1"/>
                <a:endCxn id="21" idx="1"/>
              </p:cNvCxnSpPr>
              <p:nvPr/>
            </p:nvCxnSpPr>
            <p:spPr>
              <a:xfrm rot="10800000" flipV="1">
                <a:off x="5443594" y="3215581"/>
                <a:ext cx="161499" cy="1170342"/>
              </a:xfrm>
              <a:prstGeom prst="curvedConnector3">
                <a:avLst>
                  <a:gd name="adj1" fmla="val 14881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连接符: 曲线 48"/>
              <p:cNvCxnSpPr>
                <a:stCxn id="21" idx="3"/>
                <a:endCxn id="16" idx="3"/>
              </p:cNvCxnSpPr>
              <p:nvPr/>
            </p:nvCxnSpPr>
            <p:spPr>
              <a:xfrm flipH="1" flipV="1">
                <a:off x="6597795" y="3215581"/>
                <a:ext cx="161498" cy="1170342"/>
              </a:xfrm>
              <a:prstGeom prst="curvedConnector3">
                <a:avLst>
                  <a:gd name="adj1" fmla="val -58573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连接符: 曲线 53"/>
              <p:cNvCxnSpPr>
                <a:stCxn id="16" idx="0"/>
                <a:endCxn id="17" idx="0"/>
              </p:cNvCxnSpPr>
              <p:nvPr/>
            </p:nvCxnSpPr>
            <p:spPr>
              <a:xfrm rot="5400000" flipH="1" flipV="1">
                <a:off x="6939407" y="2067211"/>
                <a:ext cx="38453" cy="1714378"/>
              </a:xfrm>
              <a:prstGeom prst="curvedConnector3">
                <a:avLst>
                  <a:gd name="adj1" fmla="val 694492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连接符: 曲线 54"/>
              <p:cNvCxnSpPr>
                <a:stCxn id="15" idx="2"/>
                <a:endCxn id="17" idx="2"/>
              </p:cNvCxnSpPr>
              <p:nvPr/>
            </p:nvCxnSpPr>
            <p:spPr>
              <a:xfrm rot="5400000" flipH="1" flipV="1">
                <a:off x="6288746" y="1961961"/>
                <a:ext cx="40264" cy="3013888"/>
              </a:xfrm>
              <a:prstGeom prst="curvedConnector3">
                <a:avLst>
                  <a:gd name="adj1" fmla="val -4620333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文本框 55"/>
              <p:cNvSpPr txBox="1"/>
              <p:nvPr/>
            </p:nvSpPr>
            <p:spPr>
              <a:xfrm>
                <a:off x="6902339" y="2308105"/>
                <a:ext cx="12150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Translation</a:t>
                </a:r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5743557" y="4889257"/>
                <a:ext cx="12150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Translation</a:t>
                </a:r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58" name="直接箭头连接符 57"/>
              <p:cNvCxnSpPr>
                <a:stCxn id="17" idx="3"/>
                <a:endCxn id="19" idx="1"/>
              </p:cNvCxnSpPr>
              <p:nvPr/>
            </p:nvCxnSpPr>
            <p:spPr>
              <a:xfrm>
                <a:off x="8722301" y="3176973"/>
                <a:ext cx="80789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文本框 58"/>
              <p:cNvSpPr txBox="1"/>
              <p:nvPr/>
            </p:nvSpPr>
            <p:spPr>
              <a:xfrm>
                <a:off x="8802293" y="2827569"/>
                <a:ext cx="18067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Impl</a:t>
                </a:r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60" name="直接箭头连接符 59"/>
              <p:cNvCxnSpPr>
                <a:stCxn id="64" idx="2"/>
                <a:endCxn id="19" idx="0"/>
              </p:cNvCxnSpPr>
              <p:nvPr/>
            </p:nvCxnSpPr>
            <p:spPr>
              <a:xfrm>
                <a:off x="10299069" y="2553493"/>
                <a:ext cx="10117" cy="35152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箭头连接符 60"/>
              <p:cNvCxnSpPr>
                <a:stCxn id="19" idx="2"/>
                <a:endCxn id="20" idx="0"/>
              </p:cNvCxnSpPr>
              <p:nvPr/>
            </p:nvCxnSpPr>
            <p:spPr>
              <a:xfrm flipH="1">
                <a:off x="10299068" y="3448928"/>
                <a:ext cx="10118" cy="51326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文本框 61"/>
              <p:cNvSpPr txBox="1"/>
              <p:nvPr/>
            </p:nvSpPr>
            <p:spPr>
              <a:xfrm>
                <a:off x="9428993" y="5163078"/>
                <a:ext cx="17401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（</a:t>
                </a:r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Class, Lexeme</a:t>
                </a:r>
                <a:r>
                  <a:rPr lang="zh-CN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）</a:t>
                </a: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5581042" y="3553724"/>
                <a:ext cx="12218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Minimizing</a:t>
                </a:r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4" name="矩形 63"/>
              <p:cNvSpPr/>
              <p:nvPr/>
            </p:nvSpPr>
            <p:spPr>
              <a:xfrm>
                <a:off x="9520081" y="2009583"/>
                <a:ext cx="1557975" cy="54391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Source code</a:t>
                </a: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65" name="直接箭头连接符 64"/>
              <p:cNvCxnSpPr>
                <a:stCxn id="20" idx="2"/>
                <a:endCxn id="62" idx="0"/>
              </p:cNvCxnSpPr>
              <p:nvPr/>
            </p:nvCxnSpPr>
            <p:spPr>
              <a:xfrm flipH="1">
                <a:off x="10299067" y="4506107"/>
                <a:ext cx="1" cy="65697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文本框 65"/>
              <p:cNvSpPr txBox="1"/>
              <p:nvPr/>
            </p:nvSpPr>
            <p:spPr>
              <a:xfrm>
                <a:off x="10338145" y="4625113"/>
                <a:ext cx="8585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Consist</a:t>
                </a:r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7" name="矩形 66"/>
              <p:cNvSpPr/>
              <p:nvPr/>
            </p:nvSpPr>
            <p:spPr>
              <a:xfrm>
                <a:off x="578867" y="4177289"/>
                <a:ext cx="1081727" cy="5439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Lexeme</a:t>
                </a: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68" name="直接箭头连接符 67"/>
              <p:cNvCxnSpPr>
                <a:stCxn id="18" idx="1"/>
              </p:cNvCxnSpPr>
              <p:nvPr/>
            </p:nvCxnSpPr>
            <p:spPr>
              <a:xfrm flipH="1" flipV="1">
                <a:off x="1837395" y="3346079"/>
                <a:ext cx="902035" cy="119174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文本框 68"/>
              <p:cNvSpPr txBox="1"/>
              <p:nvPr/>
            </p:nvSpPr>
            <p:spPr>
              <a:xfrm>
                <a:off x="116430" y="3462731"/>
                <a:ext cx="9632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Abstract</a:t>
                </a:r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70" name="直接箭头连接符 69"/>
              <p:cNvCxnSpPr/>
              <p:nvPr/>
            </p:nvCxnSpPr>
            <p:spPr>
              <a:xfrm flipV="1">
                <a:off x="1017490" y="3484391"/>
                <a:ext cx="0" cy="68228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文本框 70"/>
              <p:cNvSpPr txBox="1"/>
              <p:nvPr/>
            </p:nvSpPr>
            <p:spPr>
              <a:xfrm>
                <a:off x="1269780" y="3856169"/>
                <a:ext cx="971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Instance</a:t>
                </a:r>
                <a:endParaRPr lang="zh-CN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72" name="直接箭头连接符 71"/>
              <p:cNvCxnSpPr/>
              <p:nvPr/>
            </p:nvCxnSpPr>
            <p:spPr>
              <a:xfrm>
                <a:off x="1318557" y="3488279"/>
                <a:ext cx="0" cy="68901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1" name="直接箭头连接符 50"/>
            <p:cNvCxnSpPr>
              <a:stCxn id="12" idx="3"/>
              <a:endCxn id="14" idx="0"/>
            </p:cNvCxnSpPr>
            <p:nvPr/>
          </p:nvCxnSpPr>
          <p:spPr>
            <a:xfrm>
              <a:off x="1830648" y="2421891"/>
              <a:ext cx="1477559" cy="52354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/>
            <p:cNvCxnSpPr>
              <a:stCxn id="14" idx="1"/>
              <a:endCxn id="13" idx="3"/>
            </p:cNvCxnSpPr>
            <p:nvPr/>
          </p:nvCxnSpPr>
          <p:spPr>
            <a:xfrm flipH="1" flipV="1">
              <a:off x="1834414" y="3212436"/>
              <a:ext cx="694805" cy="49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本框 75"/>
            <p:cNvSpPr txBox="1"/>
            <p:nvPr/>
          </p:nvSpPr>
          <p:spPr>
            <a:xfrm>
              <a:off x="1762719" y="2801488"/>
              <a:ext cx="8542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Specify</a:t>
              </a:r>
              <a:endParaRPr lang="zh-CN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97477" y="1147338"/>
            <a:ext cx="7229062" cy="4853084"/>
          </a:xfrm>
        </p:spPr>
        <p:txBody>
          <a:bodyPr>
            <a:normAutofit/>
          </a:bodyPr>
          <a:lstStyle/>
          <a:p>
            <a:pPr>
              <a:buSzPct val="50000"/>
              <a:buFont typeface="Wingdings" panose="05000000000000000000" pitchFamily="2" charset="2"/>
              <a:buChar char="l"/>
            </a:pPr>
            <a:r>
              <a:rPr lang="zh-CN" altLang="en-US" sz="2800" b="0" dirty="0"/>
              <a:t>解析源程序对应的</a:t>
            </a:r>
            <a:r>
              <a:rPr lang="en-US" altLang="zh-CN" sz="2800" b="0" dirty="0"/>
              <a:t>token</a:t>
            </a:r>
            <a:r>
              <a:rPr lang="zh-CN" altLang="en-US" sz="2800" b="0" dirty="0"/>
              <a:t>序列，生成语法分析结构（</a:t>
            </a:r>
            <a:r>
              <a:rPr lang="en-US" altLang="zh-CN" sz="2800" b="0" dirty="0"/>
              <a:t>syntax tree, </a:t>
            </a:r>
            <a:r>
              <a:rPr lang="zh-CN" altLang="en-US" sz="2800" b="0" dirty="0"/>
              <a:t>语法分析树）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>
                <a:solidFill>
                  <a:srgbClr val="C00000"/>
                </a:solidFill>
              </a:rPr>
              <a:t>输入</a:t>
            </a:r>
            <a:r>
              <a:rPr lang="zh-CN" altLang="en-US" sz="2400" b="0" dirty="0"/>
              <a:t>：单词流；</a:t>
            </a:r>
            <a:r>
              <a:rPr lang="zh-CN" altLang="en-US" sz="2400" b="0" dirty="0">
                <a:solidFill>
                  <a:srgbClr val="C00000"/>
                </a:solidFill>
              </a:rPr>
              <a:t>输出</a:t>
            </a:r>
            <a:r>
              <a:rPr lang="zh-CN" altLang="en-US" sz="2400" b="0" dirty="0"/>
              <a:t>：语法树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输入程序是否符合</a:t>
            </a:r>
            <a:r>
              <a:rPr lang="zh-CN" altLang="en-US" sz="2400" b="0" u="sng" dirty="0"/>
              <a:t>语法规则</a:t>
            </a:r>
            <a:r>
              <a:rPr lang="zh-CN" altLang="en-US" sz="2400" b="0" dirty="0"/>
              <a:t>？</a:t>
            </a:r>
            <a:endParaRPr lang="en-US" altLang="zh-CN" sz="2400" b="0" dirty="0"/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en-US" altLang="zh-CN" sz="2000" b="0" dirty="0"/>
              <a:t>x</a:t>
            </a:r>
            <a:r>
              <a:rPr lang="en-US" altLang="zh-CN" sz="2000" b="0" dirty="0">
                <a:solidFill>
                  <a:srgbClr val="C00000"/>
                </a:solidFill>
              </a:rPr>
              <a:t>*+</a:t>
            </a:r>
            <a:endParaRPr lang="en-US" altLang="zh-CN" sz="2000" b="0" strike="sngStrike" dirty="0">
              <a:solidFill>
                <a:srgbClr val="C00000"/>
              </a:solidFill>
            </a:endParaRPr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en-US" altLang="zh-CN" sz="2000" b="0" dirty="0"/>
              <a:t>a += 5</a:t>
            </a:r>
            <a:r>
              <a:rPr lang="en-US" altLang="zh-CN" sz="2000" b="0" strike="sngStrike" dirty="0">
                <a:solidFill>
                  <a:srgbClr val="C00000"/>
                </a:solidFill>
              </a:rPr>
              <a:t>;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Syntax Analysis</a:t>
            </a:r>
            <a:r>
              <a:rPr lang="en-US" altLang="zh-CN" sz="3600" b="0" dirty="0"/>
              <a:t>[</a:t>
            </a:r>
            <a:r>
              <a:rPr lang="zh-CN" altLang="en-US" sz="3600" b="0" dirty="0"/>
              <a:t>语法分析</a:t>
            </a:r>
            <a:r>
              <a:rPr lang="en-US" altLang="zh-CN" sz="3600" b="0" dirty="0"/>
              <a:t>]</a:t>
            </a:r>
            <a:endParaRPr lang="zh-CN" altLang="en-US" b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23</a:t>
            </a:fld>
            <a:endParaRPr lang="en-US" noProof="1"/>
          </a:p>
        </p:txBody>
      </p:sp>
      <p:pic>
        <p:nvPicPr>
          <p:cNvPr id="75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3" name="组合 82"/>
          <p:cNvGrpSpPr/>
          <p:nvPr/>
        </p:nvGrpSpPr>
        <p:grpSpPr>
          <a:xfrm>
            <a:off x="4229535" y="3106361"/>
            <a:ext cx="4301142" cy="2967890"/>
            <a:chOff x="699129" y="3730023"/>
            <a:chExt cx="4301142" cy="2967890"/>
          </a:xfrm>
        </p:grpSpPr>
        <p:sp>
          <p:nvSpPr>
            <p:cNvPr id="32" name="文本框 31"/>
            <p:cNvSpPr txBox="1"/>
            <p:nvPr/>
          </p:nvSpPr>
          <p:spPr>
            <a:xfrm>
              <a:off x="1722624" y="3730023"/>
              <a:ext cx="9612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while</a:t>
              </a:r>
              <a:endParaRPr lang="zh-CN" altLang="en-US" sz="2000" b="1" dirty="0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072030" y="4511443"/>
              <a:ext cx="2713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&lt;</a:t>
              </a:r>
              <a:endParaRPr lang="zh-CN" altLang="en-US" b="1" dirty="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2893933" y="4503489"/>
              <a:ext cx="8432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body</a:t>
              </a:r>
              <a:endParaRPr lang="zh-CN" altLang="en-US" sz="2000" b="1" dirty="0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2261123" y="5190784"/>
              <a:ext cx="400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=</a:t>
              </a:r>
              <a:endParaRPr lang="zh-CN" altLang="en-US" sz="2000" b="1" dirty="0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1949626" y="5751119"/>
              <a:ext cx="400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x</a:t>
              </a:r>
              <a:endParaRPr lang="zh-CN" altLang="en-US" sz="2000" b="1" dirty="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2571004" y="5759336"/>
              <a:ext cx="400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+</a:t>
              </a:r>
              <a:endParaRPr lang="zh-CN" altLang="en-US" sz="2000" b="1" dirty="0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2237743" y="6297803"/>
              <a:ext cx="400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a</a:t>
              </a:r>
              <a:endParaRPr lang="zh-CN" altLang="en-US" sz="2000" b="1" dirty="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415119" y="5182583"/>
              <a:ext cx="400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z</a:t>
              </a:r>
              <a:endParaRPr lang="zh-CN" altLang="en-US" sz="2000" b="1" dirty="0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3937462" y="5183834"/>
              <a:ext cx="400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=</a:t>
              </a:r>
              <a:endParaRPr lang="zh-CN" altLang="en-US" sz="2000" b="1" dirty="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3564225" y="5778535"/>
              <a:ext cx="400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y</a:t>
              </a:r>
              <a:endParaRPr lang="zh-CN" altLang="en-US" sz="2000" b="1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4265017" y="5778535"/>
              <a:ext cx="400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+</a:t>
              </a:r>
              <a:endParaRPr lang="zh-CN" altLang="en-US" sz="2000" b="1" dirty="0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3950716" y="6287570"/>
              <a:ext cx="400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y</a:t>
              </a:r>
              <a:endParaRPr lang="zh-CN" altLang="en-US" sz="2000" b="1" dirty="0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685970" y="6291623"/>
              <a:ext cx="314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x</a:t>
              </a:r>
              <a:endParaRPr lang="zh-CN" altLang="en-US" sz="2000" b="1" dirty="0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699129" y="5182583"/>
              <a:ext cx="400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y</a:t>
              </a:r>
              <a:endParaRPr lang="zh-CN" altLang="en-US" sz="2000" b="1" dirty="0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2935949" y="6296957"/>
              <a:ext cx="400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b</a:t>
              </a:r>
              <a:endParaRPr lang="zh-CN" altLang="en-US" sz="2000" b="1" dirty="0"/>
            </a:p>
          </p:txBody>
        </p:sp>
        <p:cxnSp>
          <p:nvCxnSpPr>
            <p:cNvPr id="50" name="直接连接符 49"/>
            <p:cNvCxnSpPr>
              <a:stCxn id="32" idx="2"/>
              <a:endCxn id="33" idx="0"/>
            </p:cNvCxnSpPr>
            <p:nvPr/>
          </p:nvCxnSpPr>
          <p:spPr>
            <a:xfrm flipH="1">
              <a:off x="1207715" y="4130133"/>
              <a:ext cx="995540" cy="38131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>
              <a:stCxn id="32" idx="2"/>
              <a:endCxn id="34" idx="0"/>
            </p:cNvCxnSpPr>
            <p:nvPr/>
          </p:nvCxnSpPr>
          <p:spPr>
            <a:xfrm>
              <a:off x="2203255" y="4130133"/>
              <a:ext cx="1112307" cy="373356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>
              <a:stCxn id="33" idx="2"/>
              <a:endCxn id="45" idx="0"/>
            </p:cNvCxnSpPr>
            <p:nvPr/>
          </p:nvCxnSpPr>
          <p:spPr>
            <a:xfrm flipH="1">
              <a:off x="899400" y="4911553"/>
              <a:ext cx="308315" cy="27103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>
              <a:stCxn id="33" idx="2"/>
              <a:endCxn id="39" idx="0"/>
            </p:cNvCxnSpPr>
            <p:nvPr/>
          </p:nvCxnSpPr>
          <p:spPr>
            <a:xfrm>
              <a:off x="1207715" y="4911553"/>
              <a:ext cx="407675" cy="27103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>
              <a:stCxn id="34" idx="2"/>
              <a:endCxn id="35" idx="0"/>
            </p:cNvCxnSpPr>
            <p:nvPr/>
          </p:nvCxnSpPr>
          <p:spPr>
            <a:xfrm flipH="1">
              <a:off x="2461394" y="4903599"/>
              <a:ext cx="854168" cy="28718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>
              <a:stCxn id="34" idx="2"/>
              <a:endCxn id="40" idx="0"/>
            </p:cNvCxnSpPr>
            <p:nvPr/>
          </p:nvCxnSpPr>
          <p:spPr>
            <a:xfrm>
              <a:off x="3315562" y="4903599"/>
              <a:ext cx="822171" cy="28023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>
              <a:stCxn id="35" idx="2"/>
              <a:endCxn id="36" idx="0"/>
            </p:cNvCxnSpPr>
            <p:nvPr/>
          </p:nvCxnSpPr>
          <p:spPr>
            <a:xfrm flipH="1">
              <a:off x="2149897" y="5590894"/>
              <a:ext cx="311497" cy="16022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>
              <a:stCxn id="35" idx="2"/>
              <a:endCxn id="37" idx="0"/>
            </p:cNvCxnSpPr>
            <p:nvPr/>
          </p:nvCxnSpPr>
          <p:spPr>
            <a:xfrm>
              <a:off x="2461394" y="5590894"/>
              <a:ext cx="309881" cy="168442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>
              <a:stCxn id="37" idx="2"/>
              <a:endCxn id="38" idx="0"/>
            </p:cNvCxnSpPr>
            <p:nvPr/>
          </p:nvCxnSpPr>
          <p:spPr>
            <a:xfrm flipH="1">
              <a:off x="2438014" y="6159446"/>
              <a:ext cx="333261" cy="13835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>
              <a:stCxn id="37" idx="2"/>
              <a:endCxn id="46" idx="0"/>
            </p:cNvCxnSpPr>
            <p:nvPr/>
          </p:nvCxnSpPr>
          <p:spPr>
            <a:xfrm>
              <a:off x="2771275" y="6159446"/>
              <a:ext cx="364945" cy="13751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>
              <a:stCxn id="40" idx="2"/>
              <a:endCxn id="41" idx="0"/>
            </p:cNvCxnSpPr>
            <p:nvPr/>
          </p:nvCxnSpPr>
          <p:spPr>
            <a:xfrm flipH="1">
              <a:off x="3764496" y="5583944"/>
              <a:ext cx="373237" cy="19459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>
              <a:stCxn id="40" idx="2"/>
              <a:endCxn id="42" idx="0"/>
            </p:cNvCxnSpPr>
            <p:nvPr/>
          </p:nvCxnSpPr>
          <p:spPr>
            <a:xfrm>
              <a:off x="4137733" y="5583944"/>
              <a:ext cx="327555" cy="19459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>
              <a:stCxn id="42" idx="2"/>
              <a:endCxn id="43" idx="0"/>
            </p:cNvCxnSpPr>
            <p:nvPr/>
          </p:nvCxnSpPr>
          <p:spPr>
            <a:xfrm flipH="1">
              <a:off x="4150987" y="6178645"/>
              <a:ext cx="314301" cy="10892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>
              <a:stCxn id="42" idx="2"/>
              <a:endCxn id="44" idx="0"/>
            </p:cNvCxnSpPr>
            <p:nvPr/>
          </p:nvCxnSpPr>
          <p:spPr>
            <a:xfrm>
              <a:off x="4465288" y="6178645"/>
              <a:ext cx="377833" cy="11297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Box 5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689033" y="6222663"/>
            <a:ext cx="291541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+mn-lt"/>
              </a:rPr>
              <a:t>Abstract Syntax Tree (AST)</a:t>
            </a:r>
          </a:p>
        </p:txBody>
      </p:sp>
      <p:sp>
        <p:nvSpPr>
          <p:cNvPr id="12" name="右箭头 11"/>
          <p:cNvSpPr/>
          <p:nvPr/>
        </p:nvSpPr>
        <p:spPr>
          <a:xfrm>
            <a:off x="3784426" y="4798989"/>
            <a:ext cx="309065" cy="277662"/>
          </a:xfrm>
          <a:prstGeom prst="right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3" name="组合 12"/>
          <p:cNvGrpSpPr/>
          <p:nvPr/>
        </p:nvGrpSpPr>
        <p:grpSpPr>
          <a:xfrm>
            <a:off x="8536070" y="1527231"/>
            <a:ext cx="3281792" cy="4510216"/>
            <a:chOff x="3302675" y="878523"/>
            <a:chExt cx="2929526" cy="3986976"/>
          </a:xfrm>
        </p:grpSpPr>
        <p:sp>
          <p:nvSpPr>
            <p:cNvPr id="14" name="矩形 13"/>
            <p:cNvSpPr/>
            <p:nvPr/>
          </p:nvSpPr>
          <p:spPr>
            <a:xfrm>
              <a:off x="3672345" y="878523"/>
              <a:ext cx="1908614" cy="330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Lexical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672344" y="1447201"/>
              <a:ext cx="1908615" cy="330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Syntax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672344" y="2020937"/>
              <a:ext cx="1908616" cy="330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Semantic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672344" y="2599891"/>
              <a:ext cx="1908614" cy="50810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Intermediate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Generator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3672344" y="4014095"/>
              <a:ext cx="1908614" cy="331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Generator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直接箭头连接符 10"/>
            <p:cNvCxnSpPr>
              <a:stCxn id="14" idx="2"/>
              <a:endCxn id="15" idx="0"/>
            </p:cNvCxnSpPr>
            <p:nvPr/>
          </p:nvCxnSpPr>
          <p:spPr>
            <a:xfrm>
              <a:off x="4626652" y="1208723"/>
              <a:ext cx="0" cy="23847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箭头连接符 11"/>
            <p:cNvCxnSpPr>
              <a:stCxn id="15" idx="2"/>
              <a:endCxn id="16" idx="0"/>
            </p:cNvCxnSpPr>
            <p:nvPr/>
          </p:nvCxnSpPr>
          <p:spPr>
            <a:xfrm>
              <a:off x="4626652" y="1777401"/>
              <a:ext cx="0" cy="24353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3914334" y="1145958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token  </a:t>
              </a:r>
              <a:r>
                <a:rPr lang="en-US" altLang="zh-CN" sz="1600" dirty="0"/>
                <a:t>s</a:t>
              </a:r>
              <a:r>
                <a:rPr lang="en-US" altLang="zh-CN" sz="1600" dirty="0">
                  <a:solidFill>
                    <a:schemeClr val="tx1"/>
                  </a:solidFill>
                </a:rPr>
                <a:t>tream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786671" y="1728565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syntax  tree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23" name="直接箭头连接符 24"/>
            <p:cNvCxnSpPr>
              <a:stCxn id="16" idx="2"/>
              <a:endCxn id="17" idx="0"/>
            </p:cNvCxnSpPr>
            <p:nvPr/>
          </p:nvCxnSpPr>
          <p:spPr>
            <a:xfrm flipH="1">
              <a:off x="4626651" y="2351137"/>
              <a:ext cx="1" cy="24875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箭头连接符 27"/>
            <p:cNvCxnSpPr>
              <a:stCxn id="17" idx="2"/>
            </p:cNvCxnSpPr>
            <p:nvPr/>
          </p:nvCxnSpPr>
          <p:spPr>
            <a:xfrm>
              <a:off x="4626651" y="3107994"/>
              <a:ext cx="0" cy="26347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30"/>
            <p:cNvCxnSpPr>
              <a:stCxn id="29" idx="2"/>
              <a:endCxn id="18" idx="0"/>
            </p:cNvCxnSpPr>
            <p:nvPr/>
          </p:nvCxnSpPr>
          <p:spPr>
            <a:xfrm>
              <a:off x="4626651" y="3765442"/>
              <a:ext cx="0" cy="24865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/>
          </p:nvSpPr>
          <p:spPr>
            <a:xfrm>
              <a:off x="3584251" y="3045268"/>
              <a:ext cx="26479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 err="1"/>
                <a:t>i</a:t>
              </a:r>
              <a:r>
                <a:rPr lang="zh-CN" altLang="en-US" sz="1600" dirty="0"/>
                <a:t>ntermediate  representation</a:t>
              </a: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574500" y="3716095"/>
              <a:ext cx="26479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 err="1"/>
                <a:t>i</a:t>
              </a:r>
              <a:r>
                <a:rPr lang="zh-CN" altLang="en-US" sz="1600" dirty="0"/>
                <a:t>ntermediate  representation</a:t>
              </a: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3786671" y="2288675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syntax  tree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3672344" y="3368879"/>
              <a:ext cx="1908614" cy="39656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Optimizer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3302675" y="4566221"/>
              <a:ext cx="2647950" cy="299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/>
                <a:t>Target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Machine Code</a:t>
              </a:r>
              <a:endParaRPr lang="zh-CN" altLang="en-US" sz="1600" dirty="0"/>
            </a:p>
          </p:txBody>
        </p:sp>
        <p:cxnSp>
          <p:nvCxnSpPr>
            <p:cNvPr id="31" name="直接箭头连接符 62"/>
            <p:cNvCxnSpPr>
              <a:stCxn id="18" idx="2"/>
            </p:cNvCxnSpPr>
            <p:nvPr/>
          </p:nvCxnSpPr>
          <p:spPr>
            <a:xfrm>
              <a:off x="4626651" y="4345295"/>
              <a:ext cx="0" cy="24865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/>
        </p:nvGrpSpPr>
        <p:grpSpPr>
          <a:xfrm>
            <a:off x="342517" y="3843847"/>
            <a:ext cx="3305865" cy="2246769"/>
            <a:chOff x="4376370" y="3804569"/>
            <a:chExt cx="3305865" cy="2246769"/>
          </a:xfrm>
        </p:grpSpPr>
        <p:sp>
          <p:nvSpPr>
            <p:cNvPr id="5" name="文本框 4"/>
            <p:cNvSpPr txBox="1"/>
            <p:nvPr/>
          </p:nvSpPr>
          <p:spPr>
            <a:xfrm>
              <a:off x="4376370" y="3804569"/>
              <a:ext cx="2138119" cy="2246769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/>
            <a:p>
              <a:r>
                <a:rPr lang="en-US" altLang="zh-CN" sz="2000" dirty="0"/>
                <a:t>(</a:t>
              </a:r>
              <a:r>
                <a:rPr lang="en-US" altLang="zh-CN" sz="2000" dirty="0">
                  <a:solidFill>
                    <a:schemeClr val="accent5"/>
                  </a:solidFill>
                </a:rPr>
                <a:t>keyword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while</a:t>
              </a:r>
              <a:r>
                <a:rPr lang="en-US" altLang="zh-CN" sz="2000" dirty="0"/>
                <a:t>)</a:t>
              </a:r>
            </a:p>
            <a:p>
              <a:r>
                <a:rPr lang="en-US" altLang="zh-CN" sz="2000" dirty="0"/>
                <a:t>(</a:t>
              </a:r>
              <a:r>
                <a:rPr lang="en-US" altLang="zh-CN" sz="2000" dirty="0">
                  <a:solidFill>
                    <a:schemeClr val="accent5"/>
                  </a:solidFill>
                </a:rPr>
                <a:t>id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y</a:t>
              </a:r>
              <a:r>
                <a:rPr lang="en-US" altLang="zh-CN" sz="2000" dirty="0"/>
                <a:t>)</a:t>
              </a:r>
            </a:p>
            <a:p>
              <a:r>
                <a:rPr lang="en-US" altLang="zh-CN" sz="2000" dirty="0"/>
                <a:t>(</a:t>
              </a:r>
              <a:r>
                <a:rPr lang="en-US" altLang="zh-CN" sz="2000" dirty="0" err="1">
                  <a:solidFill>
                    <a:schemeClr val="accent5"/>
                  </a:solidFill>
                </a:rPr>
                <a:t>sym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&lt;</a:t>
              </a:r>
              <a:r>
                <a:rPr lang="en-US" altLang="zh-CN" sz="2000" dirty="0"/>
                <a:t>)</a:t>
              </a:r>
            </a:p>
            <a:p>
              <a:r>
                <a:rPr lang="en-US" altLang="zh-CN" sz="2000" dirty="0"/>
                <a:t>(</a:t>
              </a:r>
              <a:r>
                <a:rPr lang="en-US" altLang="zh-CN" sz="2000" dirty="0">
                  <a:solidFill>
                    <a:schemeClr val="accent5"/>
                  </a:solidFill>
                </a:rPr>
                <a:t>id</a:t>
              </a:r>
              <a:r>
                <a:rPr lang="en-US" altLang="zh-CN" sz="2000" dirty="0"/>
                <a:t>,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 z</a:t>
              </a:r>
              <a:r>
                <a:rPr lang="en-US" altLang="zh-CN" sz="2000" dirty="0"/>
                <a:t>)</a:t>
              </a:r>
            </a:p>
            <a:p>
              <a:r>
                <a:rPr lang="en-US" altLang="zh-CN" sz="2000" dirty="0"/>
                <a:t>(</a:t>
              </a:r>
              <a:r>
                <a:rPr lang="en-US" altLang="zh-CN" sz="2000" dirty="0">
                  <a:solidFill>
                    <a:schemeClr val="accent5"/>
                  </a:solidFill>
                </a:rPr>
                <a:t>id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x</a:t>
              </a:r>
              <a:r>
                <a:rPr lang="en-US" altLang="zh-CN" sz="2000" dirty="0"/>
                <a:t>)</a:t>
              </a:r>
            </a:p>
            <a:p>
              <a:r>
                <a:rPr lang="en-US" altLang="zh-CN" sz="2000" dirty="0"/>
                <a:t>(</a:t>
              </a:r>
              <a:r>
                <a:rPr lang="en-US" altLang="zh-CN" sz="2000" dirty="0">
                  <a:solidFill>
                    <a:schemeClr val="accent5"/>
                  </a:solidFill>
                </a:rPr>
                <a:t>id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a</a:t>
              </a:r>
              <a:r>
                <a:rPr lang="en-US" altLang="zh-CN" sz="2000" dirty="0"/>
                <a:t>)</a:t>
              </a:r>
            </a:p>
            <a:p>
              <a:r>
                <a:rPr lang="en-US" altLang="zh-CN" sz="2000" dirty="0"/>
                <a:t>(</a:t>
              </a:r>
              <a:r>
                <a:rPr lang="en-US" altLang="zh-CN" sz="2000" dirty="0" err="1">
                  <a:solidFill>
                    <a:schemeClr val="accent5"/>
                  </a:solidFill>
                </a:rPr>
                <a:t>sym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+</a:t>
              </a:r>
              <a:r>
                <a:rPr lang="en-US" altLang="zh-CN" sz="2000" dirty="0"/>
                <a:t>)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381845" y="3810136"/>
              <a:ext cx="1300390" cy="1938992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/>
            <a:p>
              <a:r>
                <a:rPr lang="en-US" altLang="zh-CN" sz="2000" dirty="0"/>
                <a:t>(</a:t>
              </a:r>
              <a:r>
                <a:rPr lang="en-US" altLang="zh-CN" sz="2000" dirty="0">
                  <a:solidFill>
                    <a:schemeClr val="accent5"/>
                  </a:solidFill>
                </a:rPr>
                <a:t>id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b</a:t>
              </a:r>
              <a:r>
                <a:rPr lang="en-US" altLang="zh-CN" sz="2000" dirty="0"/>
                <a:t>)</a:t>
              </a:r>
            </a:p>
            <a:p>
              <a:r>
                <a:rPr lang="en-US" altLang="zh-CN" sz="2000" dirty="0"/>
                <a:t>(</a:t>
              </a:r>
              <a:r>
                <a:rPr lang="en-US" altLang="zh-CN" sz="2000" dirty="0" err="1">
                  <a:solidFill>
                    <a:schemeClr val="accent5"/>
                  </a:solidFill>
                </a:rPr>
                <a:t>sym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;</a:t>
              </a:r>
              <a:r>
                <a:rPr lang="en-US" altLang="zh-CN" sz="2000" dirty="0"/>
                <a:t>)</a:t>
              </a:r>
            </a:p>
            <a:p>
              <a:r>
                <a:rPr lang="en-US" altLang="zh-CN" sz="2000" dirty="0"/>
                <a:t>(</a:t>
              </a:r>
              <a:r>
                <a:rPr lang="en-US" altLang="zh-CN" sz="2000" dirty="0">
                  <a:solidFill>
                    <a:schemeClr val="accent5"/>
                  </a:solidFill>
                </a:rPr>
                <a:t>id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y</a:t>
              </a:r>
              <a:r>
                <a:rPr lang="en-US" altLang="zh-CN" sz="2000" dirty="0"/>
                <a:t>)</a:t>
              </a:r>
            </a:p>
            <a:p>
              <a:r>
                <a:rPr lang="en-US" altLang="zh-CN" sz="2000" dirty="0"/>
                <a:t>(</a:t>
              </a:r>
              <a:r>
                <a:rPr lang="en-US" altLang="zh-CN" sz="2000" dirty="0" err="1">
                  <a:solidFill>
                    <a:schemeClr val="accent5"/>
                  </a:solidFill>
                </a:rPr>
                <a:t>sym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+=</a:t>
              </a:r>
              <a:r>
                <a:rPr lang="en-US" altLang="zh-CN" sz="2000" dirty="0"/>
                <a:t>)</a:t>
              </a:r>
            </a:p>
            <a:p>
              <a:r>
                <a:rPr lang="en-US" altLang="zh-CN" sz="2000" dirty="0"/>
                <a:t>(</a:t>
              </a:r>
              <a:r>
                <a:rPr lang="en-US" altLang="zh-CN" sz="2000" dirty="0">
                  <a:solidFill>
                    <a:schemeClr val="accent5"/>
                  </a:solidFill>
                </a:rPr>
                <a:t>id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x</a:t>
              </a:r>
              <a:r>
                <a:rPr lang="en-US" altLang="zh-CN" sz="2000" dirty="0"/>
                <a:t>)</a:t>
              </a:r>
            </a:p>
            <a:p>
              <a:r>
                <a:rPr lang="en-US" altLang="zh-CN" sz="2000" dirty="0"/>
                <a:t>(</a:t>
              </a:r>
              <a:r>
                <a:rPr lang="en-US" altLang="zh-CN" sz="2000" dirty="0" err="1">
                  <a:solidFill>
                    <a:schemeClr val="accent5"/>
                  </a:solidFill>
                </a:rPr>
                <a:t>sym</a:t>
              </a:r>
              <a:r>
                <a:rPr lang="en-US" altLang="zh-CN" sz="2000" dirty="0"/>
                <a:t>, </a:t>
              </a:r>
              <a:r>
                <a:rPr lang="en-US" altLang="zh-CN" sz="2000" b="1" dirty="0">
                  <a:solidFill>
                    <a:srgbClr val="C00000"/>
                  </a:solidFill>
                </a:rPr>
                <a:t>;</a:t>
              </a:r>
              <a:r>
                <a:rPr lang="en-US" altLang="zh-CN" sz="2000" dirty="0"/>
                <a:t>)</a:t>
              </a:r>
            </a:p>
          </p:txBody>
        </p:sp>
      </p:grpSp>
      <p:sp>
        <p:nvSpPr>
          <p:cNvPr id="47" name="Text Box 5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27543" y="6222663"/>
            <a:ext cx="16183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+mn-lt"/>
              </a:rPr>
              <a:t>Token Stream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Syntax Analysis</a:t>
            </a:r>
            <a:r>
              <a:rPr lang="en-US" altLang="zh-CN" sz="3600" b="0" dirty="0"/>
              <a:t>[</a:t>
            </a:r>
            <a:r>
              <a:rPr lang="zh-CN" altLang="en-US" sz="3600" b="0" dirty="0"/>
              <a:t>语法分析</a:t>
            </a:r>
            <a:r>
              <a:rPr lang="en-US" altLang="zh-CN" sz="3600" b="0" dirty="0"/>
              <a:t>]</a:t>
            </a:r>
            <a:endParaRPr lang="zh-CN" altLang="en-US" b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24</a:t>
            </a:fld>
            <a:endParaRPr lang="en-US" noProof="1"/>
          </a:p>
        </p:txBody>
      </p:sp>
      <p:pic>
        <p:nvPicPr>
          <p:cNvPr id="75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251841" y="1050833"/>
            <a:ext cx="11060159" cy="5438387"/>
            <a:chOff x="3902034" y="706740"/>
            <a:chExt cx="8096761" cy="4191139"/>
          </a:xfrm>
        </p:grpSpPr>
        <p:grpSp>
          <p:nvGrpSpPr>
            <p:cNvPr id="8" name="组合 7"/>
            <p:cNvGrpSpPr/>
            <p:nvPr/>
          </p:nvGrpSpPr>
          <p:grpSpPr>
            <a:xfrm>
              <a:off x="3902034" y="706740"/>
              <a:ext cx="8096761" cy="4191139"/>
              <a:chOff x="3947754" y="493380"/>
              <a:chExt cx="8096761" cy="4191139"/>
            </a:xfrm>
          </p:grpSpPr>
          <p:sp>
            <p:nvSpPr>
              <p:cNvPr id="47" name="文本框 46"/>
              <p:cNvSpPr txBox="1"/>
              <p:nvPr/>
            </p:nvSpPr>
            <p:spPr>
              <a:xfrm>
                <a:off x="7365664" y="868010"/>
                <a:ext cx="1108463" cy="260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define</a:t>
                </a:r>
                <a:endParaRPr lang="zh-CN" altLang="en-US" sz="1600" dirty="0"/>
              </a:p>
            </p:txBody>
          </p:sp>
          <p:sp>
            <p:nvSpPr>
              <p:cNvPr id="48" name="圆角矩形 20"/>
              <p:cNvSpPr/>
              <p:nvPr/>
            </p:nvSpPr>
            <p:spPr>
              <a:xfrm>
                <a:off x="6443615" y="1159205"/>
                <a:ext cx="2396616" cy="257820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Chomsky’s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Grammar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Hierarchy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圆角矩形 21"/>
              <p:cNvSpPr/>
              <p:nvPr/>
            </p:nvSpPr>
            <p:spPr>
              <a:xfrm>
                <a:off x="6959297" y="599704"/>
                <a:ext cx="1365251" cy="25954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Syntax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1" name="直接箭头连接符 50"/>
              <p:cNvCxnSpPr>
                <a:stCxn id="48" idx="0"/>
                <a:endCxn id="49" idx="2"/>
              </p:cNvCxnSpPr>
              <p:nvPr/>
            </p:nvCxnSpPr>
            <p:spPr>
              <a:xfrm flipH="1" flipV="1">
                <a:off x="7641923" y="859251"/>
                <a:ext cx="1" cy="29995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圆角矩形 13"/>
              <p:cNvSpPr/>
              <p:nvPr/>
            </p:nvSpPr>
            <p:spPr>
              <a:xfrm>
                <a:off x="6080430" y="1685136"/>
                <a:ext cx="1365251" cy="263517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Context-Sensitive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圆角矩形 24"/>
              <p:cNvSpPr/>
              <p:nvPr/>
            </p:nvSpPr>
            <p:spPr>
              <a:xfrm>
                <a:off x="4403687" y="1679038"/>
                <a:ext cx="1365251" cy="260669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Unrestricted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圆角矩形 25"/>
              <p:cNvSpPr/>
              <p:nvPr/>
            </p:nvSpPr>
            <p:spPr>
              <a:xfrm>
                <a:off x="7791501" y="1685912"/>
                <a:ext cx="1365251" cy="260668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Context-Free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圆角矩形 26"/>
              <p:cNvSpPr/>
              <p:nvPr/>
            </p:nvSpPr>
            <p:spPr>
              <a:xfrm>
                <a:off x="9523093" y="1681591"/>
                <a:ext cx="1365251" cy="260668"/>
              </a:xfrm>
              <a:prstGeom prst="rect">
                <a:avLst/>
              </a:prstGeom>
              <a:solidFill>
                <a:srgbClr val="DEEB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Regular Expr.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8" name="直接箭头连接符 57"/>
              <p:cNvCxnSpPr>
                <a:stCxn id="48" idx="2"/>
                <a:endCxn id="54" idx="0"/>
              </p:cNvCxnSpPr>
              <p:nvPr/>
            </p:nvCxnSpPr>
            <p:spPr>
              <a:xfrm flipH="1">
                <a:off x="5086313" y="1417025"/>
                <a:ext cx="2555611" cy="26201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箭头连接符 59"/>
              <p:cNvCxnSpPr>
                <a:stCxn id="48" idx="2"/>
                <a:endCxn id="53" idx="0"/>
              </p:cNvCxnSpPr>
              <p:nvPr/>
            </p:nvCxnSpPr>
            <p:spPr>
              <a:xfrm flipH="1">
                <a:off x="6763055" y="1417025"/>
                <a:ext cx="878868" cy="26811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箭头连接符 60"/>
              <p:cNvCxnSpPr>
                <a:stCxn id="48" idx="2"/>
                <a:endCxn id="55" idx="0"/>
              </p:cNvCxnSpPr>
              <p:nvPr/>
            </p:nvCxnSpPr>
            <p:spPr>
              <a:xfrm>
                <a:off x="7641924" y="1417025"/>
                <a:ext cx="832203" cy="26888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箭头连接符 61"/>
              <p:cNvCxnSpPr>
                <a:stCxn id="48" idx="2"/>
                <a:endCxn id="57" idx="0"/>
              </p:cNvCxnSpPr>
              <p:nvPr/>
            </p:nvCxnSpPr>
            <p:spPr>
              <a:xfrm>
                <a:off x="7641924" y="1417025"/>
                <a:ext cx="2563795" cy="26456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文本框 62"/>
              <p:cNvSpPr txBox="1"/>
              <p:nvPr/>
            </p:nvSpPr>
            <p:spPr>
              <a:xfrm>
                <a:off x="5310825" y="1410151"/>
                <a:ext cx="600313" cy="260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class 0</a:t>
                </a:r>
                <a:endParaRPr lang="zh-CN" altLang="en-US" sz="1600" dirty="0"/>
              </a:p>
            </p:txBody>
          </p:sp>
          <p:sp>
            <p:nvSpPr>
              <p:cNvPr id="65" name="文本框 64"/>
              <p:cNvSpPr txBox="1"/>
              <p:nvPr/>
            </p:nvSpPr>
            <p:spPr>
              <a:xfrm>
                <a:off x="7167412" y="1459159"/>
                <a:ext cx="600313" cy="260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class 1</a:t>
                </a:r>
                <a:endParaRPr lang="zh-CN" altLang="en-US" sz="1600" dirty="0"/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8318592" y="1463066"/>
                <a:ext cx="600313" cy="260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class 2</a:t>
                </a:r>
                <a:endParaRPr lang="zh-CN" altLang="en-US" sz="1600" dirty="0"/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9760364" y="1450927"/>
                <a:ext cx="600313" cy="260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class 3</a:t>
                </a:r>
                <a:endParaRPr lang="zh-CN" altLang="en-US" sz="1600" dirty="0"/>
              </a:p>
            </p:txBody>
          </p:sp>
          <p:sp>
            <p:nvSpPr>
              <p:cNvPr id="71" name="圆角矩形 47"/>
              <p:cNvSpPr/>
              <p:nvPr/>
            </p:nvSpPr>
            <p:spPr>
              <a:xfrm>
                <a:off x="7791501" y="2268492"/>
                <a:ext cx="1365251" cy="26066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Derivation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3" name="直接箭头连接符 72"/>
              <p:cNvCxnSpPr>
                <a:stCxn id="55" idx="2"/>
                <a:endCxn id="71" idx="0"/>
              </p:cNvCxnSpPr>
              <p:nvPr/>
            </p:nvCxnSpPr>
            <p:spPr>
              <a:xfrm>
                <a:off x="8474127" y="1946580"/>
                <a:ext cx="0" cy="32191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文本框 78"/>
              <p:cNvSpPr txBox="1"/>
              <p:nvPr/>
            </p:nvSpPr>
            <p:spPr>
              <a:xfrm>
                <a:off x="8246903" y="1975325"/>
                <a:ext cx="1921890" cy="260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Grammar to language</a:t>
                </a:r>
                <a:endParaRPr lang="zh-CN" altLang="en-US" sz="1600" dirty="0"/>
              </a:p>
            </p:txBody>
          </p:sp>
          <p:sp>
            <p:nvSpPr>
              <p:cNvPr id="81" name="圆角矩形 52"/>
              <p:cNvSpPr/>
              <p:nvPr/>
            </p:nvSpPr>
            <p:spPr>
              <a:xfrm>
                <a:off x="6120272" y="3056120"/>
                <a:ext cx="1365251" cy="25781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Class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84" name="组合 83"/>
              <p:cNvGrpSpPr/>
              <p:nvPr/>
            </p:nvGrpSpPr>
            <p:grpSpPr>
              <a:xfrm>
                <a:off x="5039196" y="3845853"/>
                <a:ext cx="3509487" cy="292979"/>
                <a:chOff x="2888785" y="3845852"/>
                <a:chExt cx="3509487" cy="292979"/>
              </a:xfrm>
            </p:grpSpPr>
            <p:sp>
              <p:nvSpPr>
                <p:cNvPr id="99" name="圆角矩形 69"/>
                <p:cNvSpPr/>
                <p:nvPr/>
              </p:nvSpPr>
              <p:spPr>
                <a:xfrm>
                  <a:off x="2888785" y="3845852"/>
                  <a:ext cx="1580300" cy="292979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</a:rPr>
                    <a:t>Leftmost Derivation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" name="圆角矩形 70"/>
                <p:cNvSpPr/>
                <p:nvPr/>
              </p:nvSpPr>
              <p:spPr>
                <a:xfrm>
                  <a:off x="4779810" y="3848577"/>
                  <a:ext cx="1618462" cy="29025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>
                      <a:solidFill>
                        <a:schemeClr val="tx1"/>
                      </a:solidFill>
                    </a:rPr>
                    <a:t>Rightmost Derivation</a:t>
                  </a:r>
                  <a:endParaRPr lang="zh-CN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85" name="圆角矩形 81"/>
              <p:cNvSpPr/>
              <p:nvPr/>
            </p:nvSpPr>
            <p:spPr>
              <a:xfrm>
                <a:off x="9523093" y="3055528"/>
                <a:ext cx="1365251" cy="26066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Parse Tree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圆角矩形 84"/>
              <p:cNvSpPr/>
              <p:nvPr/>
            </p:nvSpPr>
            <p:spPr>
              <a:xfrm>
                <a:off x="9523093" y="3657062"/>
                <a:ext cx="1365251" cy="26066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ambiguity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7" name="直接箭头连接符 86"/>
              <p:cNvCxnSpPr>
                <a:stCxn id="85" idx="2"/>
                <a:endCxn id="86" idx="0"/>
              </p:cNvCxnSpPr>
              <p:nvPr/>
            </p:nvCxnSpPr>
            <p:spPr>
              <a:xfrm>
                <a:off x="10205719" y="3316196"/>
                <a:ext cx="0" cy="34086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文本框 87"/>
              <p:cNvSpPr txBox="1"/>
              <p:nvPr/>
            </p:nvSpPr>
            <p:spPr>
              <a:xfrm>
                <a:off x="10198419" y="3363662"/>
                <a:ext cx="767548" cy="260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determine</a:t>
                </a:r>
                <a:endParaRPr lang="zh-CN" altLang="en-US" sz="1600" dirty="0"/>
              </a:p>
            </p:txBody>
          </p:sp>
          <p:sp>
            <p:nvSpPr>
              <p:cNvPr id="89" name="圆角矩形 151"/>
              <p:cNvSpPr/>
              <p:nvPr/>
            </p:nvSpPr>
            <p:spPr>
              <a:xfrm>
                <a:off x="8525224" y="4423850"/>
                <a:ext cx="1487542" cy="26066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Specify precedence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圆角矩形 152"/>
              <p:cNvSpPr/>
              <p:nvPr/>
            </p:nvSpPr>
            <p:spPr>
              <a:xfrm>
                <a:off x="10556973" y="4423851"/>
                <a:ext cx="1487542" cy="26066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</a:rPr>
                  <a:t>Specify associativity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91" name="肘形连接符 154"/>
              <p:cNvCxnSpPr>
                <a:stCxn id="86" idx="2"/>
                <a:endCxn id="89" idx="0"/>
              </p:cNvCxnSpPr>
              <p:nvPr/>
            </p:nvCxnSpPr>
            <p:spPr>
              <a:xfrm rot="5400000">
                <a:off x="9484297" y="3702428"/>
                <a:ext cx="506120" cy="936723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肘形连接符 156"/>
              <p:cNvCxnSpPr>
                <a:stCxn id="86" idx="2"/>
                <a:endCxn id="90" idx="0"/>
              </p:cNvCxnSpPr>
              <p:nvPr/>
            </p:nvCxnSpPr>
            <p:spPr>
              <a:xfrm rot="16200000" flipH="1">
                <a:off x="10500171" y="3623277"/>
                <a:ext cx="506121" cy="1095026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文本框 92"/>
              <p:cNvSpPr txBox="1"/>
              <p:nvPr/>
            </p:nvSpPr>
            <p:spPr>
              <a:xfrm>
                <a:off x="8517440" y="2527814"/>
                <a:ext cx="1123964" cy="260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/>
                  <a:t>representation</a:t>
                </a:r>
                <a:endParaRPr lang="zh-CN" altLang="en-US" sz="1600" dirty="0"/>
              </a:p>
            </p:txBody>
          </p:sp>
          <p:sp>
            <p:nvSpPr>
              <p:cNvPr id="94" name="文本框 93"/>
              <p:cNvSpPr txBox="1"/>
              <p:nvPr/>
            </p:nvSpPr>
            <p:spPr>
              <a:xfrm>
                <a:off x="3947754" y="493380"/>
                <a:ext cx="1663227" cy="355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/>
                  <a:t>Basic Concept</a:t>
                </a:r>
                <a:endParaRPr lang="zh-CN" altLang="en-US" sz="2400" b="1" dirty="0"/>
              </a:p>
            </p:txBody>
          </p:sp>
          <p:cxnSp>
            <p:nvCxnSpPr>
              <p:cNvPr id="95" name="肘形连接符 2"/>
              <p:cNvCxnSpPr>
                <a:stCxn id="71" idx="2"/>
                <a:endCxn id="81" idx="0"/>
              </p:cNvCxnSpPr>
              <p:nvPr/>
            </p:nvCxnSpPr>
            <p:spPr>
              <a:xfrm rot="5400000">
                <a:off x="7375031" y="1957024"/>
                <a:ext cx="526962" cy="1671229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肘形连接符 4"/>
              <p:cNvCxnSpPr>
                <a:stCxn id="71" idx="2"/>
                <a:endCxn id="85" idx="0"/>
              </p:cNvCxnSpPr>
              <p:nvPr/>
            </p:nvCxnSpPr>
            <p:spPr>
              <a:xfrm rot="16200000" flipH="1">
                <a:off x="9076738" y="1926547"/>
                <a:ext cx="526370" cy="1731592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肘形连接符 6"/>
              <p:cNvCxnSpPr>
                <a:stCxn id="81" idx="2"/>
                <a:endCxn id="99" idx="0"/>
              </p:cNvCxnSpPr>
              <p:nvPr/>
            </p:nvCxnSpPr>
            <p:spPr>
              <a:xfrm rot="5400000">
                <a:off x="6050165" y="3093120"/>
                <a:ext cx="531914" cy="973551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肘形连接符 9"/>
              <p:cNvCxnSpPr>
                <a:stCxn id="81" idx="2"/>
                <a:endCxn id="100" idx="0"/>
              </p:cNvCxnSpPr>
              <p:nvPr/>
            </p:nvCxnSpPr>
            <p:spPr>
              <a:xfrm rot="16200000" flipH="1">
                <a:off x="7003856" y="3112981"/>
                <a:ext cx="534639" cy="936555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文本框 9"/>
            <p:cNvSpPr txBox="1"/>
            <p:nvPr/>
          </p:nvSpPr>
          <p:spPr>
            <a:xfrm>
              <a:off x="10123073" y="4105577"/>
              <a:ext cx="1362117" cy="260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/>
                <a:t>remove ambiguity</a:t>
              </a:r>
              <a:endParaRPr lang="zh-CN" altLang="en-US" sz="1600" dirty="0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Syntax Analysis</a:t>
            </a:r>
            <a:r>
              <a:rPr lang="en-US" altLang="zh-CN" sz="3600" b="0" dirty="0"/>
              <a:t>[</a:t>
            </a:r>
            <a:r>
              <a:rPr lang="zh-CN" altLang="en-US" sz="3600" b="0" dirty="0"/>
              <a:t>语法分析</a:t>
            </a:r>
            <a:r>
              <a:rPr lang="en-US" altLang="zh-CN" sz="3600" b="0" dirty="0"/>
              <a:t>]</a:t>
            </a:r>
            <a:endParaRPr lang="zh-CN" altLang="en-US" b="0" dirty="0"/>
          </a:p>
        </p:txBody>
      </p:sp>
      <p:pic>
        <p:nvPicPr>
          <p:cNvPr id="75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1814129" y="1384372"/>
            <a:ext cx="708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type 1</a:t>
            </a:r>
            <a:endParaRPr lang="zh-CN" altLang="en-US" sz="1600" dirty="0"/>
          </a:p>
        </p:txBody>
      </p:sp>
      <p:sp>
        <p:nvSpPr>
          <p:cNvPr id="9" name="文本框 8"/>
          <p:cNvSpPr txBox="1"/>
          <p:nvPr/>
        </p:nvSpPr>
        <p:spPr>
          <a:xfrm>
            <a:off x="7098906" y="1398704"/>
            <a:ext cx="70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type 2</a:t>
            </a:r>
            <a:endParaRPr lang="zh-CN" altLang="en-US" sz="1600" dirty="0"/>
          </a:p>
        </p:txBody>
      </p:sp>
      <p:sp>
        <p:nvSpPr>
          <p:cNvPr id="11" name="圆角矩形 18"/>
          <p:cNvSpPr/>
          <p:nvPr/>
        </p:nvSpPr>
        <p:spPr>
          <a:xfrm>
            <a:off x="940443" y="2006133"/>
            <a:ext cx="1755054" cy="322454"/>
          </a:xfrm>
          <a:prstGeom prst="rect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Top-down parser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圆角矩形 20"/>
          <p:cNvSpPr/>
          <p:nvPr/>
        </p:nvSpPr>
        <p:spPr>
          <a:xfrm>
            <a:off x="5323340" y="1166203"/>
            <a:ext cx="1528715" cy="2759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Parser Type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4" name="肘形连接符 21"/>
          <p:cNvCxnSpPr>
            <a:stCxn id="13" idx="2"/>
            <a:endCxn id="11" idx="0"/>
          </p:cNvCxnSpPr>
          <p:nvPr/>
        </p:nvCxnSpPr>
        <p:spPr>
          <a:xfrm rot="5400000">
            <a:off x="3670845" y="-410720"/>
            <a:ext cx="563978" cy="426972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22"/>
          <p:cNvCxnSpPr>
            <a:stCxn id="13" idx="2"/>
            <a:endCxn id="12" idx="0"/>
          </p:cNvCxnSpPr>
          <p:nvPr/>
        </p:nvCxnSpPr>
        <p:spPr>
          <a:xfrm rot="16200000" flipH="1">
            <a:off x="6606774" y="923079"/>
            <a:ext cx="563978" cy="160213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82"/>
          <p:cNvCxnSpPr>
            <a:stCxn id="19" idx="1"/>
            <a:endCxn id="45" idx="0"/>
          </p:cNvCxnSpPr>
          <p:nvPr/>
        </p:nvCxnSpPr>
        <p:spPr>
          <a:xfrm rot="10800000" flipV="1">
            <a:off x="5847294" y="3420871"/>
            <a:ext cx="1141593" cy="59995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圆角矩形 37"/>
          <p:cNvSpPr/>
          <p:nvPr/>
        </p:nvSpPr>
        <p:spPr>
          <a:xfrm>
            <a:off x="5144076" y="4020821"/>
            <a:ext cx="1406434" cy="526874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LR(0) 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parsing table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6" name="圆角矩形 101"/>
          <p:cNvSpPr/>
          <p:nvPr/>
        </p:nvSpPr>
        <p:spPr>
          <a:xfrm>
            <a:off x="4942022" y="4891889"/>
            <a:ext cx="1811697" cy="268500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LR(0) automation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5811074" y="4569523"/>
            <a:ext cx="1400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constructed by</a:t>
            </a:r>
            <a:endParaRPr lang="zh-CN" altLang="en-US" sz="1400" dirty="0"/>
          </a:p>
        </p:txBody>
      </p:sp>
      <p:sp>
        <p:nvSpPr>
          <p:cNvPr id="52" name="圆角矩形 104"/>
          <p:cNvSpPr/>
          <p:nvPr/>
        </p:nvSpPr>
        <p:spPr>
          <a:xfrm>
            <a:off x="4448460" y="5655383"/>
            <a:ext cx="1012068" cy="278599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States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56" name="圆角矩形 105"/>
          <p:cNvSpPr/>
          <p:nvPr/>
        </p:nvSpPr>
        <p:spPr>
          <a:xfrm>
            <a:off x="6054441" y="5665056"/>
            <a:ext cx="1406436" cy="278599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Transitions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59" name="肘形连接符 108"/>
          <p:cNvCxnSpPr>
            <a:stCxn id="46" idx="2"/>
            <a:endCxn id="52" idx="0"/>
          </p:cNvCxnSpPr>
          <p:nvPr/>
        </p:nvCxnSpPr>
        <p:spPr>
          <a:xfrm rot="5400000">
            <a:off x="5153686" y="4961198"/>
            <a:ext cx="494994" cy="89337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肘形连接符 110"/>
          <p:cNvCxnSpPr>
            <a:stCxn id="46" idx="2"/>
            <a:endCxn id="56" idx="0"/>
          </p:cNvCxnSpPr>
          <p:nvPr/>
        </p:nvCxnSpPr>
        <p:spPr>
          <a:xfrm rot="16200000" flipH="1">
            <a:off x="6050432" y="4957828"/>
            <a:ext cx="504667" cy="90978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圆角矩形 112"/>
          <p:cNvSpPr/>
          <p:nvPr/>
        </p:nvSpPr>
        <p:spPr>
          <a:xfrm>
            <a:off x="6054441" y="6248523"/>
            <a:ext cx="1406436" cy="283401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GOTO function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8" name="圆角矩形 113"/>
          <p:cNvSpPr/>
          <p:nvPr/>
        </p:nvSpPr>
        <p:spPr>
          <a:xfrm>
            <a:off x="4448460" y="6251904"/>
            <a:ext cx="1012068" cy="454126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CLOSURE function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70" name="直接箭头连接符 69"/>
          <p:cNvCxnSpPr>
            <a:stCxn id="52" idx="2"/>
            <a:endCxn id="68" idx="0"/>
          </p:cNvCxnSpPr>
          <p:nvPr/>
        </p:nvCxnSpPr>
        <p:spPr>
          <a:xfrm>
            <a:off x="4954494" y="5933982"/>
            <a:ext cx="0" cy="3179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4926239" y="5928080"/>
            <a:ext cx="15417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are computed by </a:t>
            </a:r>
            <a:endParaRPr lang="zh-CN" altLang="en-US" sz="1400" dirty="0"/>
          </a:p>
        </p:txBody>
      </p:sp>
      <p:sp>
        <p:nvSpPr>
          <p:cNvPr id="78" name="文本框 77"/>
          <p:cNvSpPr txBox="1"/>
          <p:nvPr/>
        </p:nvSpPr>
        <p:spPr>
          <a:xfrm>
            <a:off x="5875494" y="5120549"/>
            <a:ext cx="1171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consist of</a:t>
            </a:r>
            <a:endParaRPr lang="zh-CN" altLang="en-US" sz="1400" dirty="0"/>
          </a:p>
        </p:txBody>
      </p:sp>
      <p:sp>
        <p:nvSpPr>
          <p:cNvPr id="80" name="圆角矩形 47"/>
          <p:cNvSpPr/>
          <p:nvPr/>
        </p:nvSpPr>
        <p:spPr>
          <a:xfrm>
            <a:off x="3670959" y="4707639"/>
            <a:ext cx="1156404" cy="454126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LR(0) conflicts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4026396" y="3994020"/>
            <a:ext cx="1406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exist conflicts</a:t>
            </a:r>
            <a:endParaRPr lang="zh-CN" altLang="en-US" sz="1400" dirty="0"/>
          </a:p>
        </p:txBody>
      </p:sp>
      <p:sp>
        <p:nvSpPr>
          <p:cNvPr id="83" name="文本框 82"/>
          <p:cNvSpPr txBox="1"/>
          <p:nvPr/>
        </p:nvSpPr>
        <p:spPr>
          <a:xfrm>
            <a:off x="5864025" y="3633144"/>
            <a:ext cx="686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type 1</a:t>
            </a:r>
            <a:endParaRPr lang="zh-CN" altLang="en-US" sz="1400" dirty="0"/>
          </a:p>
        </p:txBody>
      </p:sp>
      <p:cxnSp>
        <p:nvCxnSpPr>
          <p:cNvPr id="101" name="直接箭头连接符 100"/>
          <p:cNvCxnSpPr>
            <a:stCxn id="45" idx="2"/>
            <a:endCxn id="46" idx="0"/>
          </p:cNvCxnSpPr>
          <p:nvPr/>
        </p:nvCxnSpPr>
        <p:spPr>
          <a:xfrm>
            <a:off x="5847293" y="4547695"/>
            <a:ext cx="578" cy="3441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连接符: 肘形 101"/>
          <p:cNvCxnSpPr>
            <a:stCxn id="45" idx="1"/>
            <a:endCxn id="80" idx="0"/>
          </p:cNvCxnSpPr>
          <p:nvPr/>
        </p:nvCxnSpPr>
        <p:spPr>
          <a:xfrm rot="10800000" flipV="1">
            <a:off x="4249162" y="4284257"/>
            <a:ext cx="894915" cy="42338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9"/>
          <p:cNvSpPr/>
          <p:nvPr/>
        </p:nvSpPr>
        <p:spPr>
          <a:xfrm>
            <a:off x="6713044" y="2006133"/>
            <a:ext cx="1953568" cy="324040"/>
          </a:xfrm>
          <a:prstGeom prst="rect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Bottom-up parser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7" name="直接箭头连接符 16"/>
          <p:cNvCxnSpPr>
            <a:stCxn id="12" idx="2"/>
            <a:endCxn id="16" idx="0"/>
          </p:cNvCxnSpPr>
          <p:nvPr/>
        </p:nvCxnSpPr>
        <p:spPr>
          <a:xfrm>
            <a:off x="7689828" y="2330173"/>
            <a:ext cx="474" cy="2698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794783" y="2301463"/>
            <a:ext cx="11778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focus on</a:t>
            </a:r>
            <a:endParaRPr lang="zh-CN" altLang="en-US" sz="1600" dirty="0"/>
          </a:p>
        </p:txBody>
      </p:sp>
      <p:sp>
        <p:nvSpPr>
          <p:cNvPr id="16" name="圆角矩形 24"/>
          <p:cNvSpPr/>
          <p:nvPr/>
        </p:nvSpPr>
        <p:spPr>
          <a:xfrm>
            <a:off x="6791648" y="2600014"/>
            <a:ext cx="1797307" cy="338554"/>
          </a:xfrm>
          <a:prstGeom prst="rect">
            <a:avLst/>
          </a:prstGeom>
          <a:solidFill>
            <a:srgbClr val="FFF2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LR family parsers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9" name="圆角矩形 27"/>
          <p:cNvSpPr/>
          <p:nvPr/>
        </p:nvSpPr>
        <p:spPr>
          <a:xfrm>
            <a:off x="6988886" y="3223774"/>
            <a:ext cx="1406437" cy="3941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Parser table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20" name="直接箭头连接符 19"/>
          <p:cNvCxnSpPr>
            <a:stCxn id="16" idx="2"/>
            <a:endCxn id="19" idx="0"/>
          </p:cNvCxnSpPr>
          <p:nvPr/>
        </p:nvCxnSpPr>
        <p:spPr>
          <a:xfrm>
            <a:off x="7690302" y="2938568"/>
            <a:ext cx="1803" cy="2852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7690135" y="2926427"/>
            <a:ext cx="703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tool</a:t>
            </a:r>
            <a:endParaRPr lang="zh-CN" altLang="en-US" sz="1400" dirty="0"/>
          </a:p>
        </p:txBody>
      </p:sp>
      <p:sp>
        <p:nvSpPr>
          <p:cNvPr id="22" name="圆角矩形 35"/>
          <p:cNvSpPr/>
          <p:nvPr/>
        </p:nvSpPr>
        <p:spPr>
          <a:xfrm>
            <a:off x="6988886" y="4014692"/>
            <a:ext cx="1411252" cy="526874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SLR(1) 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parsing table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3" name="圆角矩形 39"/>
          <p:cNvSpPr/>
          <p:nvPr/>
        </p:nvSpPr>
        <p:spPr>
          <a:xfrm>
            <a:off x="8686582" y="4013843"/>
            <a:ext cx="1303384" cy="526875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LALR(1) parsing table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4" name="圆角矩形 41"/>
          <p:cNvSpPr/>
          <p:nvPr/>
        </p:nvSpPr>
        <p:spPr>
          <a:xfrm>
            <a:off x="10293758" y="4026316"/>
            <a:ext cx="1316379" cy="526874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LR(1) </a:t>
            </a:r>
          </a:p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parsing table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5" name="圆角矩形 44"/>
          <p:cNvSpPr/>
          <p:nvPr/>
        </p:nvSpPr>
        <p:spPr>
          <a:xfrm>
            <a:off x="6999998" y="4969358"/>
            <a:ext cx="1400140" cy="526158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limit reduce actions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26" name="直接箭头连接符 25"/>
          <p:cNvCxnSpPr>
            <a:stCxn id="22" idx="2"/>
            <a:endCxn id="25" idx="0"/>
          </p:cNvCxnSpPr>
          <p:nvPr/>
        </p:nvCxnSpPr>
        <p:spPr>
          <a:xfrm>
            <a:off x="7694512" y="4541566"/>
            <a:ext cx="5556" cy="4277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7649650" y="4705900"/>
            <a:ext cx="1265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Based on LR(0)</a:t>
            </a:r>
            <a:endParaRPr lang="zh-CN" altLang="en-US" sz="1400" dirty="0"/>
          </a:p>
        </p:txBody>
      </p:sp>
      <p:sp>
        <p:nvSpPr>
          <p:cNvPr id="28" name="圆角矩形 64"/>
          <p:cNvSpPr/>
          <p:nvPr/>
        </p:nvSpPr>
        <p:spPr>
          <a:xfrm>
            <a:off x="10265586" y="4969358"/>
            <a:ext cx="1344548" cy="538415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LR(0) item + lookaheads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9" name="圆角矩形 65"/>
          <p:cNvSpPr/>
          <p:nvPr/>
        </p:nvSpPr>
        <p:spPr>
          <a:xfrm>
            <a:off x="10264724" y="5824385"/>
            <a:ext cx="1344546" cy="526159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Limit reduce actions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916416" y="4590958"/>
            <a:ext cx="1259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add extra info</a:t>
            </a:r>
            <a:endParaRPr lang="zh-CN" altLang="en-US" sz="1400" dirty="0"/>
          </a:p>
        </p:txBody>
      </p:sp>
      <p:cxnSp>
        <p:nvCxnSpPr>
          <p:cNvPr id="31" name="直接箭头连接符 30"/>
          <p:cNvCxnSpPr>
            <a:stCxn id="24" idx="2"/>
            <a:endCxn id="28" idx="0"/>
          </p:cNvCxnSpPr>
          <p:nvPr/>
        </p:nvCxnSpPr>
        <p:spPr>
          <a:xfrm flipH="1">
            <a:off x="10937860" y="4553190"/>
            <a:ext cx="14088" cy="4161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8" idx="2"/>
            <a:endCxn id="29" idx="0"/>
          </p:cNvCxnSpPr>
          <p:nvPr/>
        </p:nvCxnSpPr>
        <p:spPr>
          <a:xfrm flipH="1">
            <a:off x="10936997" y="5507773"/>
            <a:ext cx="863" cy="3166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10868875" y="5496578"/>
            <a:ext cx="14807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precisely indicate</a:t>
            </a:r>
            <a:endParaRPr lang="zh-CN" altLang="en-US" sz="1400" dirty="0"/>
          </a:p>
        </p:txBody>
      </p:sp>
      <p:sp>
        <p:nvSpPr>
          <p:cNvPr id="36" name="文本框 35"/>
          <p:cNvSpPr txBox="1"/>
          <p:nvPr/>
        </p:nvSpPr>
        <p:spPr>
          <a:xfrm>
            <a:off x="8872103" y="4709217"/>
            <a:ext cx="1392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compromise  LR(1) and SLR(1)</a:t>
            </a:r>
            <a:endParaRPr lang="zh-CN" altLang="en-US" sz="1400" dirty="0"/>
          </a:p>
        </p:txBody>
      </p:sp>
      <p:cxnSp>
        <p:nvCxnSpPr>
          <p:cNvPr id="37" name="直接箭头连接符 36"/>
          <p:cNvCxnSpPr>
            <a:stCxn id="19" idx="2"/>
            <a:endCxn id="22" idx="0"/>
          </p:cNvCxnSpPr>
          <p:nvPr/>
        </p:nvCxnSpPr>
        <p:spPr>
          <a:xfrm>
            <a:off x="7692105" y="3617968"/>
            <a:ext cx="2407" cy="39672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连接符 84"/>
          <p:cNvCxnSpPr>
            <a:stCxn id="19" idx="3"/>
            <a:endCxn id="23" idx="0"/>
          </p:cNvCxnSpPr>
          <p:nvPr/>
        </p:nvCxnSpPr>
        <p:spPr>
          <a:xfrm>
            <a:off x="8395323" y="3420871"/>
            <a:ext cx="942951" cy="592972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肘形连接符 88"/>
          <p:cNvCxnSpPr>
            <a:stCxn id="19" idx="3"/>
            <a:endCxn id="24" idx="0"/>
          </p:cNvCxnSpPr>
          <p:nvPr/>
        </p:nvCxnSpPr>
        <p:spPr>
          <a:xfrm>
            <a:off x="8395323" y="3420871"/>
            <a:ext cx="2556625" cy="60544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7803931" y="3632294"/>
            <a:ext cx="667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type 2</a:t>
            </a:r>
            <a:endParaRPr lang="zh-CN" altLang="en-US" sz="1400" dirty="0"/>
          </a:p>
        </p:txBody>
      </p:sp>
      <p:sp>
        <p:nvSpPr>
          <p:cNvPr id="42" name="文本框 41"/>
          <p:cNvSpPr txBox="1"/>
          <p:nvPr/>
        </p:nvSpPr>
        <p:spPr>
          <a:xfrm>
            <a:off x="9479854" y="3633706"/>
            <a:ext cx="6885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type 3</a:t>
            </a:r>
            <a:endParaRPr lang="zh-CN" altLang="en-US" sz="1400" dirty="0"/>
          </a:p>
        </p:txBody>
      </p:sp>
      <p:sp>
        <p:nvSpPr>
          <p:cNvPr id="43" name="文本框 42"/>
          <p:cNvSpPr txBox="1"/>
          <p:nvPr/>
        </p:nvSpPr>
        <p:spPr>
          <a:xfrm>
            <a:off x="10961578" y="3638639"/>
            <a:ext cx="703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type 4</a:t>
            </a:r>
            <a:endParaRPr lang="zh-CN" altLang="en-US" sz="1400" dirty="0"/>
          </a:p>
        </p:txBody>
      </p:sp>
      <p:cxnSp>
        <p:nvCxnSpPr>
          <p:cNvPr id="74" name="直接箭头连接符 73"/>
          <p:cNvCxnSpPr>
            <a:stCxn id="56" idx="2"/>
            <a:endCxn id="66" idx="0"/>
          </p:cNvCxnSpPr>
          <p:nvPr/>
        </p:nvCxnSpPr>
        <p:spPr>
          <a:xfrm>
            <a:off x="6757659" y="5943655"/>
            <a:ext cx="0" cy="3048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6753719" y="5916385"/>
            <a:ext cx="1206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are given by </a:t>
            </a:r>
            <a:endParaRPr lang="zh-CN" altLang="en-US" sz="1400" dirty="0"/>
          </a:p>
        </p:txBody>
      </p:sp>
      <p:cxnSp>
        <p:nvCxnSpPr>
          <p:cNvPr id="217" name="连接符: 曲线 216"/>
          <p:cNvCxnSpPr>
            <a:stCxn id="22" idx="2"/>
            <a:endCxn id="23" idx="2"/>
          </p:cNvCxnSpPr>
          <p:nvPr/>
        </p:nvCxnSpPr>
        <p:spPr>
          <a:xfrm rot="5400000" flipH="1" flipV="1">
            <a:off x="8515969" y="3719261"/>
            <a:ext cx="848" cy="1643762"/>
          </a:xfrm>
          <a:prstGeom prst="curvedConnector3">
            <a:avLst>
              <a:gd name="adj1" fmla="val -2695754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连接符: 曲线 228"/>
          <p:cNvCxnSpPr>
            <a:stCxn id="24" idx="2"/>
            <a:endCxn id="23" idx="2"/>
          </p:cNvCxnSpPr>
          <p:nvPr/>
        </p:nvCxnSpPr>
        <p:spPr>
          <a:xfrm rot="5400000" flipH="1">
            <a:off x="10138875" y="3740117"/>
            <a:ext cx="12472" cy="1613674"/>
          </a:xfrm>
          <a:prstGeom prst="curvedConnector3">
            <a:avLst>
              <a:gd name="adj1" fmla="val -183290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/>
        </p:nvGrpSpPr>
        <p:grpSpPr>
          <a:xfrm>
            <a:off x="204874" y="2821726"/>
            <a:ext cx="3912283" cy="2779331"/>
            <a:chOff x="251533" y="2505210"/>
            <a:chExt cx="4248942" cy="2969030"/>
          </a:xfrm>
        </p:grpSpPr>
        <p:sp>
          <p:nvSpPr>
            <p:cNvPr id="35" name="文本框 34"/>
            <p:cNvSpPr txBox="1"/>
            <p:nvPr/>
          </p:nvSpPr>
          <p:spPr>
            <a:xfrm>
              <a:off x="1058446" y="3085332"/>
              <a:ext cx="9112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problem</a:t>
              </a:r>
              <a:endParaRPr lang="zh-CN" altLang="en-US" sz="1400" dirty="0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088005" y="3853756"/>
              <a:ext cx="9112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solve</a:t>
              </a:r>
              <a:endParaRPr lang="zh-CN" altLang="en-US" sz="1400" dirty="0"/>
            </a:p>
          </p:txBody>
        </p:sp>
        <p:sp>
          <p:nvSpPr>
            <p:cNvPr id="48" name="圆角矩形 106"/>
            <p:cNvSpPr/>
            <p:nvPr/>
          </p:nvSpPr>
          <p:spPr>
            <a:xfrm>
              <a:off x="2095477" y="4201987"/>
              <a:ext cx="767013" cy="554215"/>
            </a:xfrm>
            <a:prstGeom prst="rect">
              <a:avLst/>
            </a:prstGeom>
            <a:solidFill>
              <a:srgbClr val="E2F0D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First Sets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9" name="圆角矩形 107"/>
            <p:cNvSpPr/>
            <p:nvPr/>
          </p:nvSpPr>
          <p:spPr>
            <a:xfrm>
              <a:off x="3024003" y="4201988"/>
              <a:ext cx="803129" cy="554214"/>
            </a:xfrm>
            <a:prstGeom prst="rect">
              <a:avLst/>
            </a:prstGeom>
            <a:solidFill>
              <a:srgbClr val="E2F0D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Follow Sets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1" name="圆角矩形 145"/>
            <p:cNvSpPr/>
            <p:nvPr/>
          </p:nvSpPr>
          <p:spPr>
            <a:xfrm>
              <a:off x="251744" y="2505210"/>
              <a:ext cx="1545943" cy="541550"/>
            </a:xfrm>
            <a:prstGeom prst="rect">
              <a:avLst/>
            </a:prstGeom>
            <a:solidFill>
              <a:srgbClr val="FFF2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RD-backtrack parser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3" name="圆角矩形 146"/>
            <p:cNvSpPr/>
            <p:nvPr/>
          </p:nvSpPr>
          <p:spPr>
            <a:xfrm>
              <a:off x="2212152" y="2505210"/>
              <a:ext cx="1487533" cy="541550"/>
            </a:xfrm>
            <a:prstGeom prst="rect">
              <a:avLst/>
            </a:prstGeom>
            <a:solidFill>
              <a:srgbClr val="FFF2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Predictive parser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4" name="圆角矩形 148"/>
            <p:cNvSpPr/>
            <p:nvPr/>
          </p:nvSpPr>
          <p:spPr>
            <a:xfrm>
              <a:off x="251533" y="3465836"/>
              <a:ext cx="1545942" cy="347403"/>
            </a:xfrm>
            <a:prstGeom prst="rect">
              <a:avLst/>
            </a:prstGeom>
            <a:solidFill>
              <a:srgbClr val="E2F0D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Left Recursion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5" name="圆角矩形 151"/>
            <p:cNvSpPr/>
            <p:nvPr/>
          </p:nvSpPr>
          <p:spPr>
            <a:xfrm>
              <a:off x="253913" y="4205950"/>
              <a:ext cx="1524857" cy="550253"/>
            </a:xfrm>
            <a:prstGeom prst="rect">
              <a:avLst/>
            </a:prstGeom>
            <a:solidFill>
              <a:srgbClr val="E2F0D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Remove left recursion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7" name="圆角矩形 158"/>
            <p:cNvSpPr/>
            <p:nvPr/>
          </p:nvSpPr>
          <p:spPr>
            <a:xfrm>
              <a:off x="2162788" y="3460907"/>
              <a:ext cx="1582972" cy="347403"/>
            </a:xfrm>
            <a:prstGeom prst="rect">
              <a:avLst/>
            </a:prstGeom>
            <a:solidFill>
              <a:srgbClr val="E2F0D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LL(1) grammar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2947719" y="3782588"/>
              <a:ext cx="909603" cy="328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compute</a:t>
              </a:r>
              <a:endParaRPr lang="zh-CN" altLang="en-US" sz="1400" dirty="0"/>
            </a:p>
          </p:txBody>
        </p:sp>
        <p:sp>
          <p:nvSpPr>
            <p:cNvPr id="60" name="圆角矩形 195"/>
            <p:cNvSpPr/>
            <p:nvPr/>
          </p:nvSpPr>
          <p:spPr>
            <a:xfrm>
              <a:off x="2235098" y="5122736"/>
              <a:ext cx="1393639" cy="351504"/>
            </a:xfrm>
            <a:prstGeom prst="rect">
              <a:avLst/>
            </a:prstGeom>
            <a:solidFill>
              <a:srgbClr val="E2F0D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LL(1) table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61" name="直接箭头连接符 60"/>
            <p:cNvCxnSpPr>
              <a:stCxn id="51" idx="2"/>
              <a:endCxn id="54" idx="0"/>
            </p:cNvCxnSpPr>
            <p:nvPr/>
          </p:nvCxnSpPr>
          <p:spPr>
            <a:xfrm flipH="1">
              <a:off x="1024504" y="3046760"/>
              <a:ext cx="211" cy="41907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>
              <a:stCxn id="53" idx="2"/>
              <a:endCxn id="57" idx="0"/>
            </p:cNvCxnSpPr>
            <p:nvPr/>
          </p:nvCxnSpPr>
          <p:spPr>
            <a:xfrm flipH="1">
              <a:off x="2954274" y="3046760"/>
              <a:ext cx="1644" cy="41414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>
              <a:stCxn id="54" idx="2"/>
              <a:endCxn id="55" idx="0"/>
            </p:cNvCxnSpPr>
            <p:nvPr/>
          </p:nvCxnSpPr>
          <p:spPr>
            <a:xfrm flipH="1">
              <a:off x="1016342" y="3813239"/>
              <a:ext cx="8163" cy="39271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连接符: 肘形 64"/>
            <p:cNvCxnSpPr>
              <a:stCxn id="57" idx="2"/>
              <a:endCxn id="48" idx="0"/>
            </p:cNvCxnSpPr>
            <p:nvPr/>
          </p:nvCxnSpPr>
          <p:spPr>
            <a:xfrm rot="5400000">
              <a:off x="2519791" y="3767504"/>
              <a:ext cx="393677" cy="475290"/>
            </a:xfrm>
            <a:prstGeom prst="bentConnector3">
              <a:avLst>
                <a:gd name="adj1" fmla="val 70255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连接符: 肘形 66"/>
            <p:cNvCxnSpPr>
              <a:stCxn id="57" idx="2"/>
              <a:endCxn id="49" idx="0"/>
            </p:cNvCxnSpPr>
            <p:nvPr/>
          </p:nvCxnSpPr>
          <p:spPr>
            <a:xfrm rot="16200000" flipH="1">
              <a:off x="2993082" y="3769502"/>
              <a:ext cx="393678" cy="471293"/>
            </a:xfrm>
            <a:prstGeom prst="bentConnector3">
              <a:avLst>
                <a:gd name="adj1" fmla="val 70255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连接符: 肘形 68"/>
            <p:cNvCxnSpPr>
              <a:stCxn id="48" idx="2"/>
              <a:endCxn id="60" idx="0"/>
            </p:cNvCxnSpPr>
            <p:nvPr/>
          </p:nvCxnSpPr>
          <p:spPr>
            <a:xfrm rot="16200000" flipH="1">
              <a:off x="2522184" y="4713002"/>
              <a:ext cx="366533" cy="452934"/>
            </a:xfrm>
            <a:prstGeom prst="bentConnector3">
              <a:avLst>
                <a:gd name="adj1" fmla="val 32324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连接符: 肘形 70"/>
            <p:cNvCxnSpPr>
              <a:stCxn id="49" idx="2"/>
              <a:endCxn id="60" idx="0"/>
            </p:cNvCxnSpPr>
            <p:nvPr/>
          </p:nvCxnSpPr>
          <p:spPr>
            <a:xfrm rot="5400000">
              <a:off x="2995476" y="4692643"/>
              <a:ext cx="366534" cy="493650"/>
            </a:xfrm>
            <a:prstGeom prst="bentConnector3">
              <a:avLst>
                <a:gd name="adj1" fmla="val 30964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文本框 72"/>
            <p:cNvSpPr txBox="1"/>
            <p:nvPr/>
          </p:nvSpPr>
          <p:spPr>
            <a:xfrm>
              <a:off x="2064213" y="4833238"/>
              <a:ext cx="95979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construct</a:t>
              </a:r>
              <a:endParaRPr lang="zh-CN" altLang="en-US" sz="1400" dirty="0"/>
            </a:p>
          </p:txBody>
        </p:sp>
        <p:cxnSp>
          <p:nvCxnSpPr>
            <p:cNvPr id="79" name="连接符: 肘形 78"/>
            <p:cNvCxnSpPr>
              <a:stCxn id="53" idx="3"/>
              <a:endCxn id="60" idx="3"/>
            </p:cNvCxnSpPr>
            <p:nvPr/>
          </p:nvCxnSpPr>
          <p:spPr>
            <a:xfrm flipH="1">
              <a:off x="3628737" y="2775986"/>
              <a:ext cx="70947" cy="2522503"/>
            </a:xfrm>
            <a:prstGeom prst="bentConnector3">
              <a:avLst>
                <a:gd name="adj1" fmla="val -34993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本框 80"/>
            <p:cNvSpPr txBox="1"/>
            <p:nvPr/>
          </p:nvSpPr>
          <p:spPr>
            <a:xfrm>
              <a:off x="3915912" y="2700309"/>
              <a:ext cx="5845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tool</a:t>
              </a:r>
              <a:endParaRPr lang="zh-CN" altLang="en-US" sz="1400" dirty="0"/>
            </a:p>
          </p:txBody>
        </p:sp>
      </p:grpSp>
      <p:cxnSp>
        <p:nvCxnSpPr>
          <p:cNvPr id="121" name="肘形连接符 12"/>
          <p:cNvCxnSpPr>
            <a:stCxn id="11" idx="2"/>
            <a:endCxn id="51" idx="0"/>
          </p:cNvCxnSpPr>
          <p:nvPr/>
        </p:nvCxnSpPr>
        <p:spPr>
          <a:xfrm rot="5400000">
            <a:off x="1120813" y="2124568"/>
            <a:ext cx="493139" cy="90117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肘形连接符 12"/>
          <p:cNvCxnSpPr>
            <a:stCxn id="11" idx="2"/>
            <a:endCxn id="53" idx="0"/>
          </p:cNvCxnSpPr>
          <p:nvPr/>
        </p:nvCxnSpPr>
        <p:spPr>
          <a:xfrm rot="16200000" flipH="1">
            <a:off x="2009906" y="2136650"/>
            <a:ext cx="493139" cy="87701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48665" y="1168528"/>
            <a:ext cx="11294669" cy="4821213"/>
          </a:xfrm>
        </p:spPr>
        <p:txBody>
          <a:bodyPr>
            <a:normAutofit/>
          </a:bodyPr>
          <a:lstStyle/>
          <a:p>
            <a:r>
              <a:rPr lang="zh-CN" altLang="en-US" sz="2800" b="0" dirty="0"/>
              <a:t>基于语法结果进一步分析语义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>
                <a:solidFill>
                  <a:srgbClr val="C00000"/>
                </a:solidFill>
              </a:rPr>
              <a:t>输入</a:t>
            </a:r>
            <a:r>
              <a:rPr lang="zh-CN" altLang="en-US" sz="2400" b="0" dirty="0"/>
              <a:t>：语法树；</a:t>
            </a:r>
            <a:r>
              <a:rPr lang="zh-CN" altLang="en-US" sz="2400" b="0" dirty="0">
                <a:solidFill>
                  <a:srgbClr val="C00000"/>
                </a:solidFill>
              </a:rPr>
              <a:t>输出</a:t>
            </a:r>
            <a:r>
              <a:rPr lang="zh-CN" altLang="en-US" sz="2400" b="0" dirty="0"/>
              <a:t>：语法树</a:t>
            </a:r>
            <a:r>
              <a:rPr lang="en-US" altLang="zh-CN" sz="2400" b="0" dirty="0"/>
              <a:t>+</a:t>
            </a:r>
            <a:r>
              <a:rPr lang="zh-CN" altLang="en-US" sz="2400" b="0" dirty="0"/>
              <a:t>符号表</a:t>
            </a:r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收集标识符的属性信息（</a:t>
            </a:r>
            <a:r>
              <a:rPr lang="en-US" altLang="zh-CN" sz="2400" b="0" dirty="0"/>
              <a:t>type, scope</a:t>
            </a:r>
            <a:r>
              <a:rPr lang="zh-CN" altLang="en-US" sz="2400" b="0" dirty="0"/>
              <a:t>等）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输入程序是否符合语义规则？</a:t>
            </a:r>
            <a:endParaRPr lang="en-US" altLang="zh-CN" sz="2400" b="0" dirty="0"/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b="0" dirty="0"/>
              <a:t>变量未声明即使用，重复声明</a:t>
            </a:r>
            <a:endParaRPr lang="en-US" altLang="zh-CN" sz="2000" b="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Semantic Analysis</a:t>
            </a:r>
            <a:r>
              <a:rPr lang="en-US" altLang="zh-CN" sz="3600" b="0" dirty="0"/>
              <a:t>[</a:t>
            </a:r>
            <a:r>
              <a:rPr lang="zh-CN" altLang="en-US" sz="3600" b="0" dirty="0"/>
              <a:t>语义分析</a:t>
            </a:r>
            <a:r>
              <a:rPr lang="en-US" altLang="zh-CN" sz="3600" b="0" dirty="0"/>
              <a:t>]</a:t>
            </a:r>
            <a:endParaRPr lang="zh-CN" altLang="en-US" b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26</a:t>
            </a:fld>
            <a:endParaRPr lang="en-US" noProof="1"/>
          </a:p>
        </p:txBody>
      </p:sp>
      <p:grpSp>
        <p:nvGrpSpPr>
          <p:cNvPr id="28" name="组合 27"/>
          <p:cNvGrpSpPr/>
          <p:nvPr/>
        </p:nvGrpSpPr>
        <p:grpSpPr>
          <a:xfrm>
            <a:off x="4613529" y="3100362"/>
            <a:ext cx="4661747" cy="3665054"/>
            <a:chOff x="3853311" y="3158727"/>
            <a:chExt cx="4661747" cy="3665054"/>
          </a:xfrm>
        </p:grpSpPr>
        <p:grpSp>
          <p:nvGrpSpPr>
            <p:cNvPr id="107" name="组合 106"/>
            <p:cNvGrpSpPr/>
            <p:nvPr/>
          </p:nvGrpSpPr>
          <p:grpSpPr>
            <a:xfrm>
              <a:off x="3853311" y="3158727"/>
              <a:ext cx="4661747" cy="2967890"/>
              <a:chOff x="3042875" y="3258754"/>
              <a:chExt cx="4661747" cy="2967890"/>
            </a:xfrm>
          </p:grpSpPr>
          <p:sp>
            <p:nvSpPr>
              <p:cNvPr id="62" name="文本框 61"/>
              <p:cNvSpPr txBox="1"/>
              <p:nvPr/>
            </p:nvSpPr>
            <p:spPr>
              <a:xfrm>
                <a:off x="3217822" y="4745030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3771666" y="4003674"/>
                <a:ext cx="6235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bool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64" name="文本框 63"/>
              <p:cNvSpPr txBox="1"/>
              <p:nvPr/>
            </p:nvSpPr>
            <p:spPr>
              <a:xfrm>
                <a:off x="3933812" y="4744344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65" name="文本框 64"/>
              <p:cNvSpPr txBox="1"/>
              <p:nvPr/>
            </p:nvSpPr>
            <p:spPr>
              <a:xfrm>
                <a:off x="4516753" y="5315021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66" name="文本框 65"/>
              <p:cNvSpPr txBox="1"/>
              <p:nvPr/>
            </p:nvSpPr>
            <p:spPr>
              <a:xfrm>
                <a:off x="4790577" y="5843218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5495654" y="5843216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5158814" y="5300263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6104748" y="5357255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6491230" y="5842207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71" name="文本框 70"/>
              <p:cNvSpPr txBox="1"/>
              <p:nvPr/>
            </p:nvSpPr>
            <p:spPr>
              <a:xfrm>
                <a:off x="7256296" y="5842207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72" name="文本框 71"/>
              <p:cNvSpPr txBox="1"/>
              <p:nvPr/>
            </p:nvSpPr>
            <p:spPr>
              <a:xfrm>
                <a:off x="6512631" y="4719515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73" name="文本框 72"/>
              <p:cNvSpPr txBox="1"/>
              <p:nvPr/>
            </p:nvSpPr>
            <p:spPr>
              <a:xfrm>
                <a:off x="4834791" y="4747866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5909809" y="3994460"/>
                <a:ext cx="6703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void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75" name="文本框 74"/>
              <p:cNvSpPr txBox="1"/>
              <p:nvPr/>
            </p:nvSpPr>
            <p:spPr>
              <a:xfrm>
                <a:off x="4746750" y="3258754"/>
                <a:ext cx="7427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void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76" name="文本框 75"/>
              <p:cNvSpPr txBox="1"/>
              <p:nvPr/>
            </p:nvSpPr>
            <p:spPr>
              <a:xfrm>
                <a:off x="6879115" y="5334312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grpSp>
            <p:nvGrpSpPr>
              <p:cNvPr id="77" name="组合 76"/>
              <p:cNvGrpSpPr/>
              <p:nvPr/>
            </p:nvGrpSpPr>
            <p:grpSpPr>
              <a:xfrm>
                <a:off x="3042875" y="3258754"/>
                <a:ext cx="4301142" cy="2967890"/>
                <a:chOff x="699129" y="3730023"/>
                <a:chExt cx="4301142" cy="2967890"/>
              </a:xfrm>
            </p:grpSpPr>
            <p:sp>
              <p:nvSpPr>
                <p:cNvPr id="78" name="文本框 77"/>
                <p:cNvSpPr txBox="1"/>
                <p:nvPr/>
              </p:nvSpPr>
              <p:spPr>
                <a:xfrm>
                  <a:off x="1722624" y="3730023"/>
                  <a:ext cx="96126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while</a:t>
                  </a:r>
                  <a:endParaRPr lang="zh-CN" altLang="en-US" sz="2000" b="1" dirty="0"/>
                </a:p>
              </p:txBody>
            </p:sp>
            <p:sp>
              <p:nvSpPr>
                <p:cNvPr id="79" name="文本框 78"/>
                <p:cNvSpPr txBox="1"/>
                <p:nvPr/>
              </p:nvSpPr>
              <p:spPr>
                <a:xfrm>
                  <a:off x="1072030" y="4511443"/>
                  <a:ext cx="27137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&lt;</a:t>
                  </a:r>
                  <a:endParaRPr lang="zh-CN" altLang="en-US" sz="2000" b="1" dirty="0"/>
                </a:p>
              </p:txBody>
            </p:sp>
            <p:sp>
              <p:nvSpPr>
                <p:cNvPr id="80" name="文本框 79"/>
                <p:cNvSpPr txBox="1"/>
                <p:nvPr/>
              </p:nvSpPr>
              <p:spPr>
                <a:xfrm>
                  <a:off x="2893933" y="4503489"/>
                  <a:ext cx="73542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body</a:t>
                  </a:r>
                  <a:endParaRPr lang="zh-CN" altLang="en-US" sz="2000" b="1" dirty="0"/>
                </a:p>
              </p:txBody>
            </p:sp>
            <p:sp>
              <p:nvSpPr>
                <p:cNvPr id="81" name="文本框 80"/>
                <p:cNvSpPr txBox="1"/>
                <p:nvPr/>
              </p:nvSpPr>
              <p:spPr>
                <a:xfrm>
                  <a:off x="2261123" y="5190784"/>
                  <a:ext cx="40054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=</a:t>
                  </a:r>
                  <a:endParaRPr lang="zh-CN" altLang="en-US" sz="2000" b="1" dirty="0"/>
                </a:p>
              </p:txBody>
            </p:sp>
            <p:sp>
              <p:nvSpPr>
                <p:cNvPr id="82" name="文本框 81"/>
                <p:cNvSpPr txBox="1"/>
                <p:nvPr/>
              </p:nvSpPr>
              <p:spPr>
                <a:xfrm>
                  <a:off x="1949626" y="5751119"/>
                  <a:ext cx="40054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x</a:t>
                  </a:r>
                  <a:endParaRPr lang="zh-CN" altLang="en-US" sz="2000" b="1" dirty="0"/>
                </a:p>
              </p:txBody>
            </p:sp>
            <p:sp>
              <p:nvSpPr>
                <p:cNvPr id="83" name="文本框 82"/>
                <p:cNvSpPr txBox="1"/>
                <p:nvPr/>
              </p:nvSpPr>
              <p:spPr>
                <a:xfrm>
                  <a:off x="2571004" y="5759336"/>
                  <a:ext cx="40054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+</a:t>
                  </a:r>
                  <a:endParaRPr lang="zh-CN" altLang="en-US" sz="2000" b="1" dirty="0"/>
                </a:p>
              </p:txBody>
            </p:sp>
            <p:sp>
              <p:nvSpPr>
                <p:cNvPr id="84" name="文本框 83"/>
                <p:cNvSpPr txBox="1"/>
                <p:nvPr/>
              </p:nvSpPr>
              <p:spPr>
                <a:xfrm>
                  <a:off x="2237743" y="6297803"/>
                  <a:ext cx="40054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a</a:t>
                  </a:r>
                  <a:endParaRPr lang="zh-CN" altLang="en-US" sz="2000" b="1" dirty="0"/>
                </a:p>
              </p:txBody>
            </p:sp>
            <p:sp>
              <p:nvSpPr>
                <p:cNvPr id="85" name="文本框 84"/>
                <p:cNvSpPr txBox="1"/>
                <p:nvPr/>
              </p:nvSpPr>
              <p:spPr>
                <a:xfrm>
                  <a:off x="1415119" y="5182583"/>
                  <a:ext cx="40054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z</a:t>
                  </a:r>
                  <a:endParaRPr lang="zh-CN" altLang="en-US" sz="2000" b="1" dirty="0"/>
                </a:p>
              </p:txBody>
            </p:sp>
            <p:sp>
              <p:nvSpPr>
                <p:cNvPr id="86" name="文本框 85"/>
                <p:cNvSpPr txBox="1"/>
                <p:nvPr/>
              </p:nvSpPr>
              <p:spPr>
                <a:xfrm>
                  <a:off x="3937462" y="5183834"/>
                  <a:ext cx="40054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=</a:t>
                  </a:r>
                  <a:endParaRPr lang="zh-CN" altLang="en-US" sz="2000" b="1" dirty="0"/>
                </a:p>
              </p:txBody>
            </p:sp>
            <p:sp>
              <p:nvSpPr>
                <p:cNvPr id="87" name="文本框 86"/>
                <p:cNvSpPr txBox="1"/>
                <p:nvPr/>
              </p:nvSpPr>
              <p:spPr>
                <a:xfrm>
                  <a:off x="3564225" y="5778535"/>
                  <a:ext cx="40054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y</a:t>
                  </a:r>
                  <a:endParaRPr lang="zh-CN" altLang="en-US" sz="2000" b="1" dirty="0"/>
                </a:p>
              </p:txBody>
            </p:sp>
            <p:sp>
              <p:nvSpPr>
                <p:cNvPr id="88" name="文本框 87"/>
                <p:cNvSpPr txBox="1"/>
                <p:nvPr/>
              </p:nvSpPr>
              <p:spPr>
                <a:xfrm>
                  <a:off x="4265017" y="5778535"/>
                  <a:ext cx="40054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+</a:t>
                  </a:r>
                  <a:endParaRPr lang="zh-CN" altLang="en-US" sz="2000" b="1" dirty="0"/>
                </a:p>
              </p:txBody>
            </p:sp>
            <p:sp>
              <p:nvSpPr>
                <p:cNvPr id="89" name="文本框 88"/>
                <p:cNvSpPr txBox="1"/>
                <p:nvPr/>
              </p:nvSpPr>
              <p:spPr>
                <a:xfrm>
                  <a:off x="3950716" y="6287570"/>
                  <a:ext cx="40054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y</a:t>
                  </a:r>
                  <a:endParaRPr lang="zh-CN" altLang="en-US" sz="2000" b="1" dirty="0"/>
                </a:p>
              </p:txBody>
            </p:sp>
            <p:sp>
              <p:nvSpPr>
                <p:cNvPr id="90" name="文本框 89"/>
                <p:cNvSpPr txBox="1"/>
                <p:nvPr/>
              </p:nvSpPr>
              <p:spPr>
                <a:xfrm>
                  <a:off x="4685970" y="6291623"/>
                  <a:ext cx="31430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x</a:t>
                  </a:r>
                  <a:endParaRPr lang="zh-CN" altLang="en-US" sz="2000" b="1" dirty="0"/>
                </a:p>
              </p:txBody>
            </p:sp>
            <p:sp>
              <p:nvSpPr>
                <p:cNvPr id="91" name="文本框 90"/>
                <p:cNvSpPr txBox="1"/>
                <p:nvPr/>
              </p:nvSpPr>
              <p:spPr>
                <a:xfrm>
                  <a:off x="699129" y="5182583"/>
                  <a:ext cx="40054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y</a:t>
                  </a:r>
                  <a:endParaRPr lang="zh-CN" altLang="en-US" sz="2000" b="1" dirty="0"/>
                </a:p>
              </p:txBody>
            </p:sp>
            <p:sp>
              <p:nvSpPr>
                <p:cNvPr id="92" name="文本框 91"/>
                <p:cNvSpPr txBox="1"/>
                <p:nvPr/>
              </p:nvSpPr>
              <p:spPr>
                <a:xfrm>
                  <a:off x="2935949" y="6296957"/>
                  <a:ext cx="40054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b</a:t>
                  </a:r>
                  <a:endParaRPr lang="zh-CN" altLang="en-US" sz="2000" b="1" dirty="0"/>
                </a:p>
              </p:txBody>
            </p:sp>
            <p:cxnSp>
              <p:nvCxnSpPr>
                <p:cNvPr id="93" name="直接连接符 92"/>
                <p:cNvCxnSpPr>
                  <a:stCxn id="78" idx="2"/>
                  <a:endCxn id="79" idx="0"/>
                </p:cNvCxnSpPr>
                <p:nvPr/>
              </p:nvCxnSpPr>
              <p:spPr>
                <a:xfrm flipH="1">
                  <a:off x="1207715" y="4130133"/>
                  <a:ext cx="995540" cy="38131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直接连接符 93"/>
                <p:cNvCxnSpPr>
                  <a:stCxn id="78" idx="2"/>
                  <a:endCxn id="80" idx="0"/>
                </p:cNvCxnSpPr>
                <p:nvPr/>
              </p:nvCxnSpPr>
              <p:spPr>
                <a:xfrm>
                  <a:off x="2203255" y="4130133"/>
                  <a:ext cx="1058390" cy="37335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直接连接符 94"/>
                <p:cNvCxnSpPr>
                  <a:stCxn id="79" idx="2"/>
                  <a:endCxn id="91" idx="0"/>
                </p:cNvCxnSpPr>
                <p:nvPr/>
              </p:nvCxnSpPr>
              <p:spPr>
                <a:xfrm flipH="1">
                  <a:off x="899400" y="4911553"/>
                  <a:ext cx="308315" cy="27103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直接连接符 95"/>
                <p:cNvCxnSpPr>
                  <a:stCxn id="79" idx="2"/>
                  <a:endCxn id="85" idx="0"/>
                </p:cNvCxnSpPr>
                <p:nvPr/>
              </p:nvCxnSpPr>
              <p:spPr>
                <a:xfrm>
                  <a:off x="1207715" y="4911553"/>
                  <a:ext cx="407675" cy="27103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直接连接符 96"/>
                <p:cNvCxnSpPr>
                  <a:stCxn id="80" idx="2"/>
                  <a:endCxn id="81" idx="0"/>
                </p:cNvCxnSpPr>
                <p:nvPr/>
              </p:nvCxnSpPr>
              <p:spPr>
                <a:xfrm flipH="1">
                  <a:off x="2461394" y="4903599"/>
                  <a:ext cx="800251" cy="287185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直接连接符 97"/>
                <p:cNvCxnSpPr>
                  <a:stCxn id="80" idx="2"/>
                  <a:endCxn id="86" idx="0"/>
                </p:cNvCxnSpPr>
                <p:nvPr/>
              </p:nvCxnSpPr>
              <p:spPr>
                <a:xfrm>
                  <a:off x="3261645" y="4903599"/>
                  <a:ext cx="876088" cy="280235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直接连接符 98"/>
                <p:cNvCxnSpPr>
                  <a:stCxn id="81" idx="2"/>
                  <a:endCxn id="82" idx="0"/>
                </p:cNvCxnSpPr>
                <p:nvPr/>
              </p:nvCxnSpPr>
              <p:spPr>
                <a:xfrm flipH="1">
                  <a:off x="2149897" y="5590894"/>
                  <a:ext cx="311497" cy="160225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直接连接符 99"/>
                <p:cNvCxnSpPr>
                  <a:stCxn id="81" idx="2"/>
                  <a:endCxn id="83" idx="0"/>
                </p:cNvCxnSpPr>
                <p:nvPr/>
              </p:nvCxnSpPr>
              <p:spPr>
                <a:xfrm>
                  <a:off x="2461394" y="5590894"/>
                  <a:ext cx="309881" cy="168442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直接连接符 100"/>
                <p:cNvCxnSpPr>
                  <a:stCxn id="83" idx="2"/>
                  <a:endCxn id="84" idx="0"/>
                </p:cNvCxnSpPr>
                <p:nvPr/>
              </p:nvCxnSpPr>
              <p:spPr>
                <a:xfrm flipH="1">
                  <a:off x="2438014" y="6159446"/>
                  <a:ext cx="333261" cy="13835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直接连接符 101"/>
                <p:cNvCxnSpPr>
                  <a:stCxn id="83" idx="2"/>
                  <a:endCxn id="92" idx="0"/>
                </p:cNvCxnSpPr>
                <p:nvPr/>
              </p:nvCxnSpPr>
              <p:spPr>
                <a:xfrm>
                  <a:off x="2771275" y="6159446"/>
                  <a:ext cx="364945" cy="137511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直接连接符 102"/>
                <p:cNvCxnSpPr>
                  <a:stCxn id="86" idx="2"/>
                  <a:endCxn id="87" idx="0"/>
                </p:cNvCxnSpPr>
                <p:nvPr/>
              </p:nvCxnSpPr>
              <p:spPr>
                <a:xfrm flipH="1">
                  <a:off x="3764496" y="5583944"/>
                  <a:ext cx="373237" cy="194591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直接连接符 103"/>
                <p:cNvCxnSpPr>
                  <a:stCxn id="86" idx="2"/>
                  <a:endCxn id="88" idx="0"/>
                </p:cNvCxnSpPr>
                <p:nvPr/>
              </p:nvCxnSpPr>
              <p:spPr>
                <a:xfrm>
                  <a:off x="4137733" y="5583944"/>
                  <a:ext cx="327555" cy="194591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直接连接符 104"/>
                <p:cNvCxnSpPr>
                  <a:stCxn id="88" idx="2"/>
                  <a:endCxn id="89" idx="0"/>
                </p:cNvCxnSpPr>
                <p:nvPr/>
              </p:nvCxnSpPr>
              <p:spPr>
                <a:xfrm flipH="1">
                  <a:off x="4150987" y="6178645"/>
                  <a:ext cx="314301" cy="108925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直接连接符 105"/>
                <p:cNvCxnSpPr>
                  <a:stCxn id="88" idx="2"/>
                  <a:endCxn id="90" idx="0"/>
                </p:cNvCxnSpPr>
                <p:nvPr/>
              </p:nvCxnSpPr>
              <p:spPr>
                <a:xfrm>
                  <a:off x="4465288" y="6178645"/>
                  <a:ext cx="377833" cy="112978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10" name="Text Box 50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163278" y="6146673"/>
              <a:ext cx="3351430" cy="677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0" dirty="0">
                  <a:effectLst/>
                  <a:latin typeface="+mn-lt"/>
                </a:rPr>
                <a:t>Annotated AST/Decorated AST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+mn-lt"/>
                </a:rPr>
                <a:t>[</a:t>
              </a:r>
              <a:r>
                <a:rPr lang="zh-CN" altLang="en-US" sz="1800" dirty="0">
                  <a:latin typeface="+mn-lt"/>
                </a:rPr>
                <a:t>带标注的抽象语法树</a:t>
              </a:r>
              <a:r>
                <a:rPr lang="en-US" altLang="zh-CN" sz="1800" dirty="0">
                  <a:latin typeface="+mn-lt"/>
                </a:rPr>
                <a:t>]</a:t>
              </a:r>
            </a:p>
          </p:txBody>
        </p:sp>
      </p:grpSp>
      <p:pic>
        <p:nvPicPr>
          <p:cNvPr id="26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右箭头 29"/>
          <p:cNvSpPr/>
          <p:nvPr/>
        </p:nvSpPr>
        <p:spPr>
          <a:xfrm>
            <a:off x="4182590" y="4651028"/>
            <a:ext cx="309065" cy="277662"/>
          </a:xfrm>
          <a:prstGeom prst="right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1" name="组合 30"/>
          <p:cNvGrpSpPr/>
          <p:nvPr/>
        </p:nvGrpSpPr>
        <p:grpSpPr>
          <a:xfrm>
            <a:off x="8951040" y="1527231"/>
            <a:ext cx="3281792" cy="4510216"/>
            <a:chOff x="3302675" y="878523"/>
            <a:chExt cx="2929526" cy="3986976"/>
          </a:xfrm>
        </p:grpSpPr>
        <p:sp>
          <p:nvSpPr>
            <p:cNvPr id="33" name="矩形 32"/>
            <p:cNvSpPr/>
            <p:nvPr/>
          </p:nvSpPr>
          <p:spPr>
            <a:xfrm>
              <a:off x="3672345" y="878523"/>
              <a:ext cx="1908614" cy="330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Lexical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3672344" y="1447201"/>
              <a:ext cx="1908615" cy="330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Syntax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3672344" y="2020937"/>
              <a:ext cx="1908616" cy="330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Semantic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3672344" y="2599891"/>
              <a:ext cx="1908614" cy="50810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Intermediate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Generator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3672344" y="4014095"/>
              <a:ext cx="1908614" cy="331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Generator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8" name="直接箭头连接符 10"/>
            <p:cNvCxnSpPr>
              <a:stCxn id="33" idx="2"/>
              <a:endCxn id="34" idx="0"/>
            </p:cNvCxnSpPr>
            <p:nvPr/>
          </p:nvCxnSpPr>
          <p:spPr>
            <a:xfrm>
              <a:off x="4626652" y="1208723"/>
              <a:ext cx="0" cy="23847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箭头连接符 11"/>
            <p:cNvCxnSpPr>
              <a:stCxn id="34" idx="2"/>
              <a:endCxn id="35" idx="0"/>
            </p:cNvCxnSpPr>
            <p:nvPr/>
          </p:nvCxnSpPr>
          <p:spPr>
            <a:xfrm>
              <a:off x="4626652" y="1777401"/>
              <a:ext cx="0" cy="24353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文本框 39"/>
            <p:cNvSpPr txBox="1"/>
            <p:nvPr/>
          </p:nvSpPr>
          <p:spPr>
            <a:xfrm>
              <a:off x="3914334" y="1145958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token  </a:t>
              </a:r>
              <a:r>
                <a:rPr lang="en-US" altLang="zh-CN" sz="1600" dirty="0"/>
                <a:t>s</a:t>
              </a:r>
              <a:r>
                <a:rPr lang="en-US" altLang="zh-CN" sz="1600" dirty="0">
                  <a:solidFill>
                    <a:schemeClr val="tx1"/>
                  </a:solidFill>
                </a:rPr>
                <a:t>tream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3786671" y="1728565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syntax  tree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直接箭头连接符 24"/>
            <p:cNvCxnSpPr>
              <a:stCxn id="35" idx="2"/>
              <a:endCxn id="36" idx="0"/>
            </p:cNvCxnSpPr>
            <p:nvPr/>
          </p:nvCxnSpPr>
          <p:spPr>
            <a:xfrm flipH="1">
              <a:off x="4626651" y="2351137"/>
              <a:ext cx="1" cy="24875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箭头连接符 27"/>
            <p:cNvCxnSpPr>
              <a:stCxn id="36" idx="2"/>
            </p:cNvCxnSpPr>
            <p:nvPr/>
          </p:nvCxnSpPr>
          <p:spPr>
            <a:xfrm>
              <a:off x="4626651" y="3107994"/>
              <a:ext cx="0" cy="26347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接箭头连接符 30"/>
            <p:cNvCxnSpPr>
              <a:stCxn id="48" idx="2"/>
              <a:endCxn id="37" idx="0"/>
            </p:cNvCxnSpPr>
            <p:nvPr/>
          </p:nvCxnSpPr>
          <p:spPr>
            <a:xfrm>
              <a:off x="4626651" y="3765442"/>
              <a:ext cx="0" cy="24865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文本框 44"/>
            <p:cNvSpPr txBox="1"/>
            <p:nvPr/>
          </p:nvSpPr>
          <p:spPr>
            <a:xfrm>
              <a:off x="3584251" y="3045268"/>
              <a:ext cx="26479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 err="1"/>
                <a:t>i</a:t>
              </a:r>
              <a:r>
                <a:rPr lang="zh-CN" altLang="en-US" sz="1600" dirty="0"/>
                <a:t>ntermediate  representation</a:t>
              </a: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3574500" y="3716095"/>
              <a:ext cx="26479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 err="1"/>
                <a:t>i</a:t>
              </a:r>
              <a:r>
                <a:rPr lang="zh-CN" altLang="en-US" sz="1600" dirty="0"/>
                <a:t>ntermediate  representation</a:t>
              </a: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3786671" y="2288675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syntax  tree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3672344" y="3368879"/>
              <a:ext cx="1908614" cy="39656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Optimizer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302675" y="4566221"/>
              <a:ext cx="2647950" cy="299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/>
                <a:t>Target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Machine Code</a:t>
              </a:r>
              <a:endParaRPr lang="zh-CN" altLang="en-US" sz="1600" dirty="0"/>
            </a:p>
          </p:txBody>
        </p:sp>
        <p:cxnSp>
          <p:nvCxnSpPr>
            <p:cNvPr id="50" name="直接箭头连接符 62"/>
            <p:cNvCxnSpPr>
              <a:stCxn id="37" idx="2"/>
            </p:cNvCxnSpPr>
            <p:nvPr/>
          </p:nvCxnSpPr>
          <p:spPr>
            <a:xfrm>
              <a:off x="4626651" y="4345295"/>
              <a:ext cx="0" cy="24865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/>
        </p:nvGrpSpPr>
        <p:grpSpPr>
          <a:xfrm>
            <a:off x="-11010" y="3167083"/>
            <a:ext cx="4301142" cy="2967890"/>
            <a:chOff x="699129" y="3730023"/>
            <a:chExt cx="4301142" cy="2967890"/>
          </a:xfrm>
        </p:grpSpPr>
        <p:sp>
          <p:nvSpPr>
            <p:cNvPr id="5" name="文本框 4"/>
            <p:cNvSpPr txBox="1"/>
            <p:nvPr/>
          </p:nvSpPr>
          <p:spPr>
            <a:xfrm>
              <a:off x="1722624" y="3730023"/>
              <a:ext cx="9612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while</a:t>
              </a:r>
              <a:endParaRPr lang="zh-CN" altLang="en-US" sz="2000" b="1" dirty="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72030" y="4511443"/>
              <a:ext cx="2713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&lt;</a:t>
              </a:r>
              <a:endParaRPr lang="zh-CN" altLang="en-US" b="1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893933" y="4503489"/>
              <a:ext cx="8432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body</a:t>
              </a:r>
              <a:endParaRPr lang="zh-CN" altLang="en-US" sz="2000" b="1" dirty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261123" y="5190784"/>
              <a:ext cx="400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=</a:t>
              </a:r>
              <a:endParaRPr lang="zh-CN" altLang="en-US" sz="2000" b="1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949626" y="5751119"/>
              <a:ext cx="400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x</a:t>
              </a:r>
              <a:endParaRPr lang="zh-CN" altLang="en-US" sz="2000" b="1" dirty="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571004" y="5759336"/>
              <a:ext cx="400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+</a:t>
              </a:r>
              <a:endParaRPr lang="zh-CN" altLang="en-US" sz="2000" b="1" dirty="0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237743" y="6297803"/>
              <a:ext cx="400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a</a:t>
              </a:r>
              <a:endParaRPr lang="zh-CN" altLang="en-US" sz="2000" b="1" dirty="0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15119" y="5182583"/>
              <a:ext cx="400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z</a:t>
              </a:r>
              <a:endParaRPr lang="zh-CN" altLang="en-US" sz="2000" b="1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937462" y="5183834"/>
              <a:ext cx="400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=</a:t>
              </a:r>
              <a:endParaRPr lang="zh-CN" altLang="en-US" sz="2000" b="1" dirty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564225" y="5778535"/>
              <a:ext cx="400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y</a:t>
              </a:r>
              <a:endParaRPr lang="zh-CN" altLang="en-US" sz="2000" b="1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4265017" y="5778535"/>
              <a:ext cx="400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+</a:t>
              </a:r>
              <a:endParaRPr lang="zh-CN" altLang="en-US" sz="2000" b="1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950716" y="6287570"/>
              <a:ext cx="400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y</a:t>
              </a:r>
              <a:endParaRPr lang="zh-CN" altLang="en-US" sz="2000" b="1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685970" y="6291623"/>
              <a:ext cx="3143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x</a:t>
              </a:r>
              <a:endParaRPr lang="zh-CN" altLang="en-US" sz="2000" b="1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99129" y="5182583"/>
              <a:ext cx="400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y</a:t>
              </a:r>
              <a:endParaRPr lang="zh-CN" altLang="en-US" sz="2000" b="1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935949" y="6296957"/>
              <a:ext cx="4005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b</a:t>
              </a:r>
              <a:endParaRPr lang="zh-CN" altLang="en-US" sz="2000" b="1" dirty="0"/>
            </a:p>
          </p:txBody>
        </p:sp>
        <p:cxnSp>
          <p:nvCxnSpPr>
            <p:cNvPr id="22" name="直接连接符 21"/>
            <p:cNvCxnSpPr>
              <a:stCxn id="5" idx="2"/>
              <a:endCxn id="8" idx="0"/>
            </p:cNvCxnSpPr>
            <p:nvPr/>
          </p:nvCxnSpPr>
          <p:spPr>
            <a:xfrm flipH="1">
              <a:off x="1207715" y="4130133"/>
              <a:ext cx="995540" cy="38131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>
              <a:stCxn id="5" idx="2"/>
              <a:endCxn id="9" idx="0"/>
            </p:cNvCxnSpPr>
            <p:nvPr/>
          </p:nvCxnSpPr>
          <p:spPr>
            <a:xfrm>
              <a:off x="2203255" y="4130133"/>
              <a:ext cx="1112307" cy="373356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>
              <a:stCxn id="8" idx="2"/>
              <a:endCxn id="20" idx="0"/>
            </p:cNvCxnSpPr>
            <p:nvPr/>
          </p:nvCxnSpPr>
          <p:spPr>
            <a:xfrm flipH="1">
              <a:off x="899400" y="4911553"/>
              <a:ext cx="308315" cy="27103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>
              <a:stCxn id="8" idx="2"/>
              <a:endCxn id="14" idx="0"/>
            </p:cNvCxnSpPr>
            <p:nvPr/>
          </p:nvCxnSpPr>
          <p:spPr>
            <a:xfrm>
              <a:off x="1207715" y="4911553"/>
              <a:ext cx="407675" cy="27103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>
              <a:stCxn id="9" idx="2"/>
              <a:endCxn id="10" idx="0"/>
            </p:cNvCxnSpPr>
            <p:nvPr/>
          </p:nvCxnSpPr>
          <p:spPr>
            <a:xfrm flipH="1">
              <a:off x="2461394" y="4903599"/>
              <a:ext cx="854168" cy="28718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>
              <a:stCxn id="9" idx="2"/>
              <a:endCxn id="15" idx="0"/>
            </p:cNvCxnSpPr>
            <p:nvPr/>
          </p:nvCxnSpPr>
          <p:spPr>
            <a:xfrm>
              <a:off x="3315562" y="4903599"/>
              <a:ext cx="822171" cy="28023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>
              <a:stCxn id="10" idx="2"/>
              <a:endCxn id="11" idx="0"/>
            </p:cNvCxnSpPr>
            <p:nvPr/>
          </p:nvCxnSpPr>
          <p:spPr>
            <a:xfrm flipH="1">
              <a:off x="2149897" y="5590894"/>
              <a:ext cx="311497" cy="16022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>
              <a:stCxn id="10" idx="2"/>
              <a:endCxn id="12" idx="0"/>
            </p:cNvCxnSpPr>
            <p:nvPr/>
          </p:nvCxnSpPr>
          <p:spPr>
            <a:xfrm>
              <a:off x="2461394" y="5590894"/>
              <a:ext cx="309881" cy="168442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>
              <a:stCxn id="12" idx="2"/>
              <a:endCxn id="13" idx="0"/>
            </p:cNvCxnSpPr>
            <p:nvPr/>
          </p:nvCxnSpPr>
          <p:spPr>
            <a:xfrm flipH="1">
              <a:off x="2438014" y="6159446"/>
              <a:ext cx="333261" cy="138357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>
              <a:stCxn id="12" idx="2"/>
              <a:endCxn id="21" idx="0"/>
            </p:cNvCxnSpPr>
            <p:nvPr/>
          </p:nvCxnSpPr>
          <p:spPr>
            <a:xfrm>
              <a:off x="2771275" y="6159446"/>
              <a:ext cx="364945" cy="13751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>
              <a:stCxn id="15" idx="2"/>
              <a:endCxn id="16" idx="0"/>
            </p:cNvCxnSpPr>
            <p:nvPr/>
          </p:nvCxnSpPr>
          <p:spPr>
            <a:xfrm flipH="1">
              <a:off x="3764496" y="5583944"/>
              <a:ext cx="373237" cy="19459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>
              <a:stCxn id="15" idx="2"/>
              <a:endCxn id="17" idx="0"/>
            </p:cNvCxnSpPr>
            <p:nvPr/>
          </p:nvCxnSpPr>
          <p:spPr>
            <a:xfrm>
              <a:off x="4137733" y="5583944"/>
              <a:ext cx="327555" cy="194591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>
              <a:stCxn id="17" idx="2"/>
              <a:endCxn id="18" idx="0"/>
            </p:cNvCxnSpPr>
            <p:nvPr/>
          </p:nvCxnSpPr>
          <p:spPr>
            <a:xfrm flipH="1">
              <a:off x="4150987" y="6178645"/>
              <a:ext cx="314301" cy="10892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>
              <a:stCxn id="17" idx="2"/>
              <a:endCxn id="19" idx="0"/>
            </p:cNvCxnSpPr>
            <p:nvPr/>
          </p:nvCxnSpPr>
          <p:spPr>
            <a:xfrm>
              <a:off x="4465288" y="6178645"/>
              <a:ext cx="377833" cy="11297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 Box 5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808028" y="6088308"/>
            <a:ext cx="2906758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+mn-lt"/>
              </a:rPr>
              <a:t>Abstract Syntax Tree (AST)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+mn-lt"/>
              </a:rPr>
              <a:t>[</a:t>
            </a:r>
            <a:r>
              <a:rPr lang="zh-CN" altLang="en-US" sz="1800" dirty="0">
                <a:latin typeface="+mn-lt"/>
              </a:rPr>
              <a:t>抽象语法树</a:t>
            </a:r>
            <a:r>
              <a:rPr lang="en-US" altLang="zh-CN" sz="1800" dirty="0">
                <a:latin typeface="+mn-lt"/>
              </a:rPr>
              <a:t>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Semantic Analysis</a:t>
            </a:r>
            <a:r>
              <a:rPr lang="en-US" altLang="zh-CN" sz="3600" b="0" dirty="0"/>
              <a:t>[</a:t>
            </a:r>
            <a:r>
              <a:rPr lang="zh-CN" altLang="en-US" sz="3600" b="0" dirty="0"/>
              <a:t>语义分析</a:t>
            </a:r>
            <a:r>
              <a:rPr lang="en-US" altLang="zh-CN" sz="3600" b="0" dirty="0"/>
              <a:t>]</a:t>
            </a:r>
            <a:endParaRPr lang="zh-CN" altLang="en-US" b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27</a:t>
            </a:fld>
            <a:endParaRPr lang="en-US" noProof="1"/>
          </a:p>
        </p:txBody>
      </p:sp>
      <p:pic>
        <p:nvPicPr>
          <p:cNvPr id="26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2149333" y="3461133"/>
            <a:ext cx="1740147" cy="739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Syntax Directed Definitions (SDD)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直接箭头连接符 4"/>
          <p:cNvCxnSpPr>
            <a:stCxn id="4" idx="2"/>
            <a:endCxn id="9" idx="0"/>
          </p:cNvCxnSpPr>
          <p:nvPr/>
        </p:nvCxnSpPr>
        <p:spPr>
          <a:xfrm flipH="1">
            <a:off x="1438292" y="4200816"/>
            <a:ext cx="1581115" cy="6495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stCxn id="4" idx="2"/>
            <a:endCxn id="14" idx="0"/>
          </p:cNvCxnSpPr>
          <p:nvPr/>
        </p:nvCxnSpPr>
        <p:spPr>
          <a:xfrm>
            <a:off x="3019407" y="4200816"/>
            <a:ext cx="1464990" cy="5565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863527" y="4850406"/>
            <a:ext cx="1149529" cy="4401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attributes</a:t>
            </a:r>
          </a:p>
        </p:txBody>
      </p:sp>
      <p:sp>
        <p:nvSpPr>
          <p:cNvPr id="10" name="矩形 9"/>
          <p:cNvSpPr/>
          <p:nvPr/>
        </p:nvSpPr>
        <p:spPr>
          <a:xfrm>
            <a:off x="110617" y="5717470"/>
            <a:ext cx="1295526" cy="6382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Synthesized attribute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572772" y="5722714"/>
            <a:ext cx="1149529" cy="6443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Inherited attribute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" name="直接箭头连接符 11"/>
          <p:cNvCxnSpPr>
            <a:stCxn id="9" idx="2"/>
            <a:endCxn id="10" idx="0"/>
          </p:cNvCxnSpPr>
          <p:nvPr/>
        </p:nvCxnSpPr>
        <p:spPr>
          <a:xfrm flipH="1">
            <a:off x="758380" y="5290533"/>
            <a:ext cx="679912" cy="426937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9" idx="2"/>
            <a:endCxn id="11" idx="0"/>
          </p:cNvCxnSpPr>
          <p:nvPr/>
        </p:nvCxnSpPr>
        <p:spPr>
          <a:xfrm>
            <a:off x="1438292" y="5290533"/>
            <a:ext cx="709245" cy="432181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3862335" y="4757362"/>
            <a:ext cx="1244124" cy="5989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calculation order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658137" y="5770614"/>
            <a:ext cx="1254740" cy="7396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topological order 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095548" y="5753061"/>
            <a:ext cx="1366538" cy="7396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Dependence Graph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直接箭头连接符 16"/>
          <p:cNvCxnSpPr>
            <a:stCxn id="14" idx="2"/>
            <a:endCxn id="16" idx="0"/>
          </p:cNvCxnSpPr>
          <p:nvPr/>
        </p:nvCxnSpPr>
        <p:spPr>
          <a:xfrm flipH="1">
            <a:off x="3778817" y="5356298"/>
            <a:ext cx="705580" cy="396763"/>
          </a:xfrm>
          <a:prstGeom prst="straightConnector1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14" idx="2"/>
            <a:endCxn id="15" idx="0"/>
          </p:cNvCxnSpPr>
          <p:nvPr/>
        </p:nvCxnSpPr>
        <p:spPr>
          <a:xfrm>
            <a:off x="4484397" y="5356298"/>
            <a:ext cx="801110" cy="414316"/>
          </a:xfrm>
          <a:prstGeom prst="straightConnector1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1797304" y="2348188"/>
            <a:ext cx="803247" cy="468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S-SDD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501013" y="2292581"/>
            <a:ext cx="877396" cy="5431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L-SDD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518204" y="1313790"/>
            <a:ext cx="1349389" cy="6679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LR-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parsable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grammar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199593" y="1324025"/>
            <a:ext cx="1467247" cy="6577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LL-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parsable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grammar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直接箭头连接符 22"/>
          <p:cNvCxnSpPr>
            <a:stCxn id="4" idx="0"/>
            <a:endCxn id="19" idx="2"/>
          </p:cNvCxnSpPr>
          <p:nvPr/>
        </p:nvCxnSpPr>
        <p:spPr>
          <a:xfrm flipH="1" flipV="1">
            <a:off x="2198928" y="2816798"/>
            <a:ext cx="820479" cy="6443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9" idx="0"/>
            <a:endCxn id="21" idx="2"/>
          </p:cNvCxnSpPr>
          <p:nvPr/>
        </p:nvCxnSpPr>
        <p:spPr>
          <a:xfrm flipH="1" flipV="1">
            <a:off x="2192899" y="1981767"/>
            <a:ext cx="6029" cy="3664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4" idx="0"/>
            <a:endCxn id="20" idx="2"/>
          </p:cNvCxnSpPr>
          <p:nvPr/>
        </p:nvCxnSpPr>
        <p:spPr>
          <a:xfrm flipV="1">
            <a:off x="3019407" y="2835713"/>
            <a:ext cx="920304" cy="6254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20" idx="0"/>
            <a:endCxn id="22" idx="2"/>
          </p:cNvCxnSpPr>
          <p:nvPr/>
        </p:nvCxnSpPr>
        <p:spPr>
          <a:xfrm flipH="1" flipV="1">
            <a:off x="3933217" y="1981767"/>
            <a:ext cx="6494" cy="3108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9" idx="3"/>
            <a:endCxn id="14" idx="1"/>
          </p:cNvCxnSpPr>
          <p:nvPr/>
        </p:nvCxnSpPr>
        <p:spPr>
          <a:xfrm flipV="1">
            <a:off x="2013056" y="5056830"/>
            <a:ext cx="1849279" cy="13640"/>
          </a:xfrm>
          <a:prstGeom prst="straightConnector1">
            <a:avLst/>
          </a:prstGeom>
          <a:ln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7527569" y="3451549"/>
            <a:ext cx="1798235" cy="739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Syntax Directed Translation (SDT)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869205" y="4777190"/>
            <a:ext cx="2689015" cy="6471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add actions at diff position for synth. &amp; 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inhe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attr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901172" y="5883750"/>
            <a:ext cx="1491057" cy="7619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augment non-terminal functions</a:t>
            </a:r>
          </a:p>
        </p:txBody>
      </p:sp>
      <p:cxnSp>
        <p:nvCxnSpPr>
          <p:cNvPr id="51" name="直接箭头连接符 50"/>
          <p:cNvCxnSpPr>
            <a:stCxn id="30" idx="2"/>
            <a:endCxn id="32" idx="0"/>
          </p:cNvCxnSpPr>
          <p:nvPr/>
        </p:nvCxnSpPr>
        <p:spPr>
          <a:xfrm>
            <a:off x="8426687" y="4191232"/>
            <a:ext cx="1787026" cy="5859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32" idx="2"/>
            <a:endCxn id="47" idx="0"/>
          </p:cNvCxnSpPr>
          <p:nvPr/>
        </p:nvCxnSpPr>
        <p:spPr>
          <a:xfrm flipH="1">
            <a:off x="8646701" y="5424375"/>
            <a:ext cx="1567012" cy="4593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7497014" y="1301525"/>
            <a:ext cx="12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handle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492484" y="2420346"/>
            <a:ext cx="997305" cy="5431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symbol table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9105605" y="2420346"/>
            <a:ext cx="997305" cy="5431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 checking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512804" y="1385218"/>
            <a:ext cx="968611" cy="456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scope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8324062" y="1396496"/>
            <a:ext cx="997305" cy="43680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4" name="直接箭头连接符 63"/>
          <p:cNvCxnSpPr>
            <a:stCxn id="54" idx="3"/>
            <a:endCxn id="55" idx="1"/>
          </p:cNvCxnSpPr>
          <p:nvPr/>
        </p:nvCxnSpPr>
        <p:spPr>
          <a:xfrm>
            <a:off x="7489789" y="2691912"/>
            <a:ext cx="1615816" cy="0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stCxn id="30" idx="0"/>
            <a:endCxn id="54" idx="2"/>
          </p:cNvCxnSpPr>
          <p:nvPr/>
        </p:nvCxnSpPr>
        <p:spPr>
          <a:xfrm flipH="1" flipV="1">
            <a:off x="6991137" y="2963478"/>
            <a:ext cx="1435550" cy="488071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stCxn id="30" idx="0"/>
            <a:endCxn id="55" idx="2"/>
          </p:cNvCxnSpPr>
          <p:nvPr/>
        </p:nvCxnSpPr>
        <p:spPr>
          <a:xfrm flipV="1">
            <a:off x="8426687" y="2963478"/>
            <a:ext cx="1177571" cy="488071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>
            <a:stCxn id="54" idx="0"/>
            <a:endCxn id="57" idx="2"/>
          </p:cNvCxnSpPr>
          <p:nvPr/>
        </p:nvCxnSpPr>
        <p:spPr>
          <a:xfrm flipV="1">
            <a:off x="6991137" y="1841438"/>
            <a:ext cx="5973" cy="578908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>
            <a:stCxn id="57" idx="3"/>
            <a:endCxn id="59" idx="1"/>
          </p:cNvCxnSpPr>
          <p:nvPr/>
        </p:nvCxnSpPr>
        <p:spPr>
          <a:xfrm>
            <a:off x="7481415" y="1613328"/>
            <a:ext cx="842647" cy="1569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>
            <a:stCxn id="4" idx="3"/>
            <a:endCxn id="30" idx="1"/>
          </p:cNvCxnSpPr>
          <p:nvPr/>
        </p:nvCxnSpPr>
        <p:spPr>
          <a:xfrm flipV="1">
            <a:off x="3889480" y="3821391"/>
            <a:ext cx="3638089" cy="95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90"/>
          <p:cNvSpPr txBox="1"/>
          <p:nvPr/>
        </p:nvSpPr>
        <p:spPr>
          <a:xfrm>
            <a:off x="2711730" y="2961920"/>
            <a:ext cx="12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class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2062555" y="4727199"/>
            <a:ext cx="1531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 depended by 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7830805" y="2958286"/>
            <a:ext cx="1712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application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3870359" y="3472154"/>
            <a:ext cx="21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semantic rules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134965" y="4244656"/>
            <a:ext cx="1712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convert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S-SDD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6227470" y="4737902"/>
            <a:ext cx="1704438" cy="6493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add actions at production end</a:t>
            </a:r>
          </a:p>
        </p:txBody>
      </p:sp>
      <p:cxnSp>
        <p:nvCxnSpPr>
          <p:cNvPr id="97" name="直接箭头连接符 96"/>
          <p:cNvCxnSpPr>
            <a:stCxn id="30" idx="2"/>
            <a:endCxn id="96" idx="0"/>
          </p:cNvCxnSpPr>
          <p:nvPr/>
        </p:nvCxnSpPr>
        <p:spPr>
          <a:xfrm flipH="1">
            <a:off x="7079689" y="4191232"/>
            <a:ext cx="1346998" cy="5466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97"/>
          <p:cNvSpPr txBox="1"/>
          <p:nvPr/>
        </p:nvSpPr>
        <p:spPr>
          <a:xfrm>
            <a:off x="5771679" y="3447381"/>
            <a:ext cx="2197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semantic actions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9" name="直接箭头连接符 98"/>
          <p:cNvCxnSpPr/>
          <p:nvPr/>
        </p:nvCxnSpPr>
        <p:spPr>
          <a:xfrm>
            <a:off x="5471307" y="3665808"/>
            <a:ext cx="33230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矩形 99"/>
          <p:cNvSpPr/>
          <p:nvPr/>
        </p:nvSpPr>
        <p:spPr>
          <a:xfrm>
            <a:off x="6376147" y="5920010"/>
            <a:ext cx="1397752" cy="4470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extend stack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1" name="直接箭头连接符 100"/>
          <p:cNvCxnSpPr>
            <a:stCxn id="96" idx="2"/>
            <a:endCxn id="100" idx="0"/>
          </p:cNvCxnSpPr>
          <p:nvPr/>
        </p:nvCxnSpPr>
        <p:spPr>
          <a:xfrm flipH="1">
            <a:off x="7075023" y="5387266"/>
            <a:ext cx="4666" cy="532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本框 101"/>
          <p:cNvSpPr txBox="1"/>
          <p:nvPr/>
        </p:nvSpPr>
        <p:spPr>
          <a:xfrm>
            <a:off x="6167519" y="5478662"/>
            <a:ext cx="2029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Impl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for LR parser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9449269" y="4244040"/>
            <a:ext cx="1712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convert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L-SDD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8501371" y="5432868"/>
            <a:ext cx="1712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LL RDP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9498406" y="6080053"/>
            <a:ext cx="143061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extend stack</a:t>
            </a:r>
          </a:p>
        </p:txBody>
      </p:sp>
      <p:cxnSp>
        <p:nvCxnSpPr>
          <p:cNvPr id="106" name="直接箭头连接符 105"/>
          <p:cNvCxnSpPr>
            <a:stCxn id="32" idx="2"/>
            <a:endCxn id="105" idx="0"/>
          </p:cNvCxnSpPr>
          <p:nvPr/>
        </p:nvCxnSpPr>
        <p:spPr>
          <a:xfrm flipH="1">
            <a:off x="10213712" y="5424375"/>
            <a:ext cx="1" cy="6556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/>
          <p:cNvSpPr txBox="1"/>
          <p:nvPr/>
        </p:nvSpPr>
        <p:spPr>
          <a:xfrm>
            <a:off x="9882381" y="5438840"/>
            <a:ext cx="49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LL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11035195" y="6080053"/>
            <a:ext cx="91977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marker</a:t>
            </a:r>
          </a:p>
        </p:txBody>
      </p:sp>
      <p:cxnSp>
        <p:nvCxnSpPr>
          <p:cNvPr id="109" name="直接箭头连接符 108"/>
          <p:cNvCxnSpPr>
            <a:stCxn id="32" idx="2"/>
            <a:endCxn id="108" idx="0"/>
          </p:cNvCxnSpPr>
          <p:nvPr/>
        </p:nvCxnSpPr>
        <p:spPr>
          <a:xfrm>
            <a:off x="10213713" y="5424375"/>
            <a:ext cx="1281367" cy="6556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/>
          <p:cNvSpPr txBox="1"/>
          <p:nvPr/>
        </p:nvSpPr>
        <p:spPr>
          <a:xfrm>
            <a:off x="10753708" y="5441984"/>
            <a:ext cx="427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LR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矩形 114"/>
          <p:cNvSpPr/>
          <p:nvPr/>
        </p:nvSpPr>
        <p:spPr>
          <a:xfrm>
            <a:off x="9646132" y="1064286"/>
            <a:ext cx="968611" cy="36933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stack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" name="矩形 115"/>
          <p:cNvSpPr/>
          <p:nvPr/>
        </p:nvSpPr>
        <p:spPr>
          <a:xfrm>
            <a:off x="9646133" y="1773719"/>
            <a:ext cx="968612" cy="4267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chaining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7" name="直接箭头连接符 116"/>
          <p:cNvCxnSpPr>
            <a:stCxn id="59" idx="3"/>
            <a:endCxn id="115" idx="1"/>
          </p:cNvCxnSpPr>
          <p:nvPr/>
        </p:nvCxnSpPr>
        <p:spPr>
          <a:xfrm flipV="1">
            <a:off x="9321367" y="1248953"/>
            <a:ext cx="324765" cy="365944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>
            <a:stCxn id="59" idx="3"/>
            <a:endCxn id="116" idx="1"/>
          </p:cNvCxnSpPr>
          <p:nvPr/>
        </p:nvCxnSpPr>
        <p:spPr>
          <a:xfrm>
            <a:off x="9321367" y="1614897"/>
            <a:ext cx="324766" cy="372182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>
            <a:stCxn id="115" idx="2"/>
            <a:endCxn id="116" idx="0"/>
          </p:cNvCxnSpPr>
          <p:nvPr/>
        </p:nvCxnSpPr>
        <p:spPr>
          <a:xfrm>
            <a:off x="10130438" y="1433619"/>
            <a:ext cx="1" cy="340100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框 120"/>
          <p:cNvSpPr txBox="1"/>
          <p:nvPr/>
        </p:nvSpPr>
        <p:spPr>
          <a:xfrm>
            <a:off x="10041597" y="1399766"/>
            <a:ext cx="12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improve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7685697" y="2345206"/>
            <a:ext cx="12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offer info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10908671" y="2086460"/>
            <a:ext cx="856851" cy="3629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static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10828364" y="3200918"/>
            <a:ext cx="99145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</a:t>
            </a:r>
            <a:endParaRPr lang="zh-CN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5" name="直接箭头连接符 124"/>
          <p:cNvCxnSpPr>
            <a:stCxn id="55" idx="3"/>
            <a:endCxn id="123" idx="1"/>
          </p:cNvCxnSpPr>
          <p:nvPr/>
        </p:nvCxnSpPr>
        <p:spPr>
          <a:xfrm flipV="1">
            <a:off x="10102910" y="2267926"/>
            <a:ext cx="805761" cy="423986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/>
          <p:cNvCxnSpPr>
            <a:stCxn id="55" idx="3"/>
            <a:endCxn id="124" idx="1"/>
          </p:cNvCxnSpPr>
          <p:nvPr/>
        </p:nvCxnSpPr>
        <p:spPr>
          <a:xfrm>
            <a:off x="10102910" y="2691912"/>
            <a:ext cx="725454" cy="693672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文本框 126"/>
          <p:cNvSpPr txBox="1"/>
          <p:nvPr/>
        </p:nvSpPr>
        <p:spPr>
          <a:xfrm>
            <a:off x="10383838" y="2803121"/>
            <a:ext cx="1324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at execution</a:t>
            </a:r>
          </a:p>
        </p:txBody>
      </p:sp>
      <p:sp>
        <p:nvSpPr>
          <p:cNvPr id="128" name="文本框 127"/>
          <p:cNvSpPr txBox="1"/>
          <p:nvPr/>
        </p:nvSpPr>
        <p:spPr>
          <a:xfrm>
            <a:off x="10308540" y="2401877"/>
            <a:ext cx="1484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at compile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2918" y="1178362"/>
            <a:ext cx="8352532" cy="5459023"/>
          </a:xfrm>
        </p:spPr>
        <p:txBody>
          <a:bodyPr>
            <a:normAutofit/>
          </a:bodyPr>
          <a:lstStyle/>
          <a:p>
            <a:pPr lvl="1">
              <a:buSzPct val="50000"/>
              <a:buFont typeface="Wingdings" panose="05000000000000000000" pitchFamily="2" charset="2"/>
              <a:buChar char="l"/>
            </a:pPr>
            <a:r>
              <a:rPr lang="zh-CN" altLang="en-US" sz="2800" b="0" dirty="0"/>
              <a:t>初步翻译，生成等价于源程序的中间表示（</a:t>
            </a:r>
            <a:r>
              <a:rPr lang="en-US" altLang="zh-CN" sz="2800" b="0" dirty="0"/>
              <a:t>IR</a:t>
            </a:r>
            <a:r>
              <a:rPr lang="zh-CN" altLang="en-US" sz="2800" b="0" dirty="0"/>
              <a:t>）：</a:t>
            </a:r>
            <a:endParaRPr lang="en-US" altLang="zh-CN" sz="2800" b="0" dirty="0"/>
          </a:p>
          <a:p>
            <a:pPr lvl="2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>
                <a:solidFill>
                  <a:srgbClr val="C00000"/>
                </a:solidFill>
              </a:rPr>
              <a:t>输入</a:t>
            </a:r>
            <a:r>
              <a:rPr lang="zh-CN" altLang="en-US" sz="2400" b="0" dirty="0"/>
              <a:t>：语法树；</a:t>
            </a:r>
            <a:r>
              <a:rPr lang="zh-CN" altLang="en-US" sz="2400" b="0" dirty="0">
                <a:solidFill>
                  <a:srgbClr val="C00000"/>
                </a:solidFill>
              </a:rPr>
              <a:t>输出</a:t>
            </a:r>
            <a:r>
              <a:rPr lang="zh-CN" altLang="en-US" sz="2400" b="0" dirty="0"/>
              <a:t>：</a:t>
            </a:r>
            <a:r>
              <a:rPr lang="en-US" altLang="zh-CN" sz="2400" b="0" dirty="0"/>
              <a:t>IR</a:t>
            </a:r>
            <a:r>
              <a:rPr lang="zh-CN" altLang="en-US" sz="2400" b="0" dirty="0"/>
              <a:t> </a:t>
            </a:r>
            <a:endParaRPr lang="en-US" altLang="zh-CN" sz="2400" b="0" dirty="0"/>
          </a:p>
          <a:p>
            <a:pPr lvl="2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建立源和目标语言的桥梁，易于翻译过程的实现，利于实现某些优化算法 </a:t>
            </a:r>
            <a:endParaRPr lang="en-US" altLang="zh-CN" sz="2400" b="0" dirty="0"/>
          </a:p>
          <a:p>
            <a:pPr lvl="2">
              <a:buSzPct val="50000"/>
              <a:buFont typeface="Wingdings" panose="05000000000000000000" pitchFamily="2" charset="2"/>
              <a:buChar char="u"/>
            </a:pPr>
            <a:r>
              <a:rPr lang="en-US" altLang="zh-CN" sz="2400" b="0" dirty="0"/>
              <a:t> IR</a:t>
            </a:r>
            <a:r>
              <a:rPr lang="zh-CN" altLang="en-US" sz="2400" b="0" dirty="0"/>
              <a:t>形式：例如三地址码（</a:t>
            </a:r>
            <a:r>
              <a:rPr lang="en-US" altLang="zh-CN" sz="2400" b="0" dirty="0"/>
              <a:t>TAC, Three Address Code </a:t>
            </a:r>
            <a:r>
              <a:rPr lang="zh-CN" altLang="en-US" sz="2400" b="0" dirty="0"/>
              <a:t>）</a:t>
            </a:r>
            <a:br>
              <a:rPr lang="en-US" altLang="zh-CN" sz="2400" b="0" dirty="0"/>
            </a:br>
            <a:br>
              <a:rPr lang="zh-CN" altLang="en-US" sz="1600" dirty="0"/>
            </a:br>
            <a:r>
              <a:rPr lang="zh-CN" altLang="en-US" sz="2400" b="0" dirty="0"/>
              <a:t> </a:t>
            </a:r>
            <a:endParaRPr lang="en-US" altLang="zh-CN" sz="2400" b="0" dirty="0"/>
          </a:p>
          <a:p>
            <a:pPr marL="457200" lvl="1" indent="0">
              <a:buSzPct val="50000"/>
              <a:buNone/>
            </a:pPr>
            <a:endParaRPr lang="en-US" altLang="zh-CN" sz="2400" b="0" dirty="0"/>
          </a:p>
          <a:p>
            <a:pPr marL="457200" lvl="1" indent="0">
              <a:buSzPct val="50000"/>
              <a:buNone/>
            </a:pPr>
            <a:r>
              <a:rPr lang="en-US" altLang="zh-CN" sz="2400" b="0" dirty="0"/>
              <a:t>      </a:t>
            </a:r>
            <a:br>
              <a:rPr lang="zh-CN" altLang="en-US" sz="2400" b="0" dirty="0"/>
            </a:br>
            <a:endParaRPr lang="zh-CN" altLang="en-US" sz="2400" b="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Intermediate Code</a:t>
            </a:r>
            <a:r>
              <a:rPr lang="en-US" altLang="zh-CN" sz="3600" b="0" dirty="0">
                <a:latin typeface="+mn-ea"/>
                <a:ea typeface="+mn-ea"/>
              </a:rPr>
              <a:t>[</a:t>
            </a:r>
            <a:r>
              <a:rPr lang="zh-CN" altLang="en-US" sz="3600" b="0" dirty="0">
                <a:latin typeface="+mn-ea"/>
                <a:ea typeface="+mn-ea"/>
              </a:rPr>
              <a:t>中间代码生成</a:t>
            </a:r>
            <a:r>
              <a:rPr lang="en-US" altLang="zh-CN" sz="3600" b="0" dirty="0">
                <a:latin typeface="+mn-ea"/>
                <a:ea typeface="+mn-ea"/>
              </a:rPr>
              <a:t>]</a:t>
            </a:r>
            <a:r>
              <a:rPr lang="zh-CN" altLang="en-US" sz="3600" b="0" dirty="0">
                <a:latin typeface="+mn-ea"/>
                <a:ea typeface="+mn-ea"/>
              </a:rPr>
              <a:t> 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28</a:t>
            </a:fld>
            <a:endParaRPr lang="en-US" noProof="1"/>
          </a:p>
        </p:txBody>
      </p:sp>
      <p:sp>
        <p:nvSpPr>
          <p:cNvPr id="8" name="文本框 7"/>
          <p:cNvSpPr txBox="1"/>
          <p:nvPr/>
        </p:nvSpPr>
        <p:spPr>
          <a:xfrm>
            <a:off x="5779858" y="3687150"/>
            <a:ext cx="2546072" cy="230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goto</a:t>
            </a:r>
            <a:r>
              <a:rPr lang="en-US" altLang="zh-CN" dirty="0"/>
              <a:t> L1</a:t>
            </a:r>
          </a:p>
          <a:p>
            <a:r>
              <a:rPr lang="en-US" altLang="zh-CN" dirty="0"/>
              <a:t>L2:</a:t>
            </a:r>
          </a:p>
          <a:p>
            <a:r>
              <a:rPr lang="en-US" altLang="zh-CN" dirty="0"/>
              <a:t>        t1 := a + b</a:t>
            </a:r>
          </a:p>
          <a:p>
            <a:r>
              <a:rPr lang="en-US" altLang="zh-CN" dirty="0"/>
              <a:t>        x := t1 </a:t>
            </a:r>
          </a:p>
          <a:p>
            <a:r>
              <a:rPr lang="en-US" altLang="zh-CN" dirty="0"/>
              <a:t>        t2 := y + x </a:t>
            </a:r>
          </a:p>
          <a:p>
            <a:r>
              <a:rPr lang="en-US" altLang="zh-CN" dirty="0"/>
              <a:t>        y := t2</a:t>
            </a:r>
          </a:p>
          <a:p>
            <a:r>
              <a:rPr lang="en-US" altLang="zh-CN" dirty="0"/>
              <a:t>L1:</a:t>
            </a:r>
          </a:p>
          <a:p>
            <a:r>
              <a:rPr lang="en-US" altLang="zh-CN" dirty="0"/>
              <a:t>        if y &lt; z </a:t>
            </a:r>
            <a:r>
              <a:rPr lang="en-US" altLang="zh-CN" dirty="0" err="1"/>
              <a:t>goto</a:t>
            </a:r>
            <a:r>
              <a:rPr lang="en-US" altLang="zh-CN" dirty="0"/>
              <a:t> L2</a:t>
            </a:r>
          </a:p>
        </p:txBody>
      </p:sp>
      <p:pic>
        <p:nvPicPr>
          <p:cNvPr id="29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右箭头 33"/>
          <p:cNvSpPr/>
          <p:nvPr/>
        </p:nvSpPr>
        <p:spPr>
          <a:xfrm>
            <a:off x="5196977" y="4814201"/>
            <a:ext cx="309065" cy="277662"/>
          </a:xfrm>
          <a:prstGeom prst="right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5" name="组合 34"/>
          <p:cNvGrpSpPr/>
          <p:nvPr/>
        </p:nvGrpSpPr>
        <p:grpSpPr>
          <a:xfrm>
            <a:off x="8536070" y="1527231"/>
            <a:ext cx="3281792" cy="4510216"/>
            <a:chOff x="3302675" y="878523"/>
            <a:chExt cx="2929526" cy="3986976"/>
          </a:xfrm>
        </p:grpSpPr>
        <p:sp>
          <p:nvSpPr>
            <p:cNvPr id="36" name="矩形 35"/>
            <p:cNvSpPr/>
            <p:nvPr/>
          </p:nvSpPr>
          <p:spPr>
            <a:xfrm>
              <a:off x="3672345" y="878523"/>
              <a:ext cx="1908614" cy="330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Lexical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3672344" y="1447201"/>
              <a:ext cx="1908615" cy="330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Syntax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3672344" y="2020937"/>
              <a:ext cx="1908616" cy="330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Semantic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3672344" y="2599891"/>
              <a:ext cx="1908614" cy="50810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Intermediate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Generator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3672344" y="4014095"/>
              <a:ext cx="1908614" cy="331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Generator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1" name="直接箭头连接符 10"/>
            <p:cNvCxnSpPr>
              <a:stCxn id="36" idx="2"/>
              <a:endCxn id="37" idx="0"/>
            </p:cNvCxnSpPr>
            <p:nvPr/>
          </p:nvCxnSpPr>
          <p:spPr>
            <a:xfrm>
              <a:off x="4626652" y="1208723"/>
              <a:ext cx="0" cy="23847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箭头连接符 11"/>
            <p:cNvCxnSpPr>
              <a:stCxn id="37" idx="2"/>
              <a:endCxn id="38" idx="0"/>
            </p:cNvCxnSpPr>
            <p:nvPr/>
          </p:nvCxnSpPr>
          <p:spPr>
            <a:xfrm>
              <a:off x="4626652" y="1777401"/>
              <a:ext cx="0" cy="24353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文本框 42"/>
            <p:cNvSpPr txBox="1"/>
            <p:nvPr/>
          </p:nvSpPr>
          <p:spPr>
            <a:xfrm>
              <a:off x="3914334" y="1145958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token  </a:t>
              </a:r>
              <a:r>
                <a:rPr lang="en-US" altLang="zh-CN" sz="1600" dirty="0"/>
                <a:t>s</a:t>
              </a:r>
              <a:r>
                <a:rPr lang="en-US" altLang="zh-CN" sz="1600" dirty="0">
                  <a:solidFill>
                    <a:schemeClr val="tx1"/>
                  </a:solidFill>
                </a:rPr>
                <a:t>tream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3786671" y="1728565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syntax  tree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45" name="直接箭头连接符 24"/>
            <p:cNvCxnSpPr>
              <a:stCxn id="38" idx="2"/>
              <a:endCxn id="39" idx="0"/>
            </p:cNvCxnSpPr>
            <p:nvPr/>
          </p:nvCxnSpPr>
          <p:spPr>
            <a:xfrm flipH="1">
              <a:off x="4626651" y="2351137"/>
              <a:ext cx="1" cy="24875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接箭头连接符 27"/>
            <p:cNvCxnSpPr>
              <a:stCxn id="39" idx="2"/>
            </p:cNvCxnSpPr>
            <p:nvPr/>
          </p:nvCxnSpPr>
          <p:spPr>
            <a:xfrm>
              <a:off x="4626651" y="3107994"/>
              <a:ext cx="0" cy="26347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接箭头连接符 30"/>
            <p:cNvCxnSpPr>
              <a:stCxn id="51" idx="2"/>
              <a:endCxn id="40" idx="0"/>
            </p:cNvCxnSpPr>
            <p:nvPr/>
          </p:nvCxnSpPr>
          <p:spPr>
            <a:xfrm>
              <a:off x="4626651" y="3765442"/>
              <a:ext cx="0" cy="24865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文本框 47"/>
            <p:cNvSpPr txBox="1"/>
            <p:nvPr/>
          </p:nvSpPr>
          <p:spPr>
            <a:xfrm>
              <a:off x="3584251" y="3045268"/>
              <a:ext cx="26479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 err="1"/>
                <a:t>i</a:t>
              </a:r>
              <a:r>
                <a:rPr lang="zh-CN" altLang="en-US" sz="1600" dirty="0"/>
                <a:t>ntermediate  representation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574500" y="3716095"/>
              <a:ext cx="26479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 err="1"/>
                <a:t>i</a:t>
              </a:r>
              <a:r>
                <a:rPr lang="zh-CN" altLang="en-US" sz="1600" dirty="0"/>
                <a:t>ntermediate  representation</a:t>
              </a: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3786671" y="2288675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syntax  tree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672344" y="3368879"/>
              <a:ext cx="1908614" cy="39656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Optimizer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3302675" y="4566221"/>
              <a:ext cx="2647950" cy="299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/>
                <a:t>Target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Machine Code</a:t>
              </a:r>
              <a:endParaRPr lang="zh-CN" altLang="en-US" sz="1600" dirty="0"/>
            </a:p>
          </p:txBody>
        </p:sp>
        <p:cxnSp>
          <p:nvCxnSpPr>
            <p:cNvPr id="53" name="直接箭头连接符 62"/>
            <p:cNvCxnSpPr>
              <a:stCxn id="40" idx="2"/>
            </p:cNvCxnSpPr>
            <p:nvPr/>
          </p:nvCxnSpPr>
          <p:spPr>
            <a:xfrm>
              <a:off x="4626651" y="4345295"/>
              <a:ext cx="0" cy="24865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/>
        </p:nvGrpSpPr>
        <p:grpSpPr>
          <a:xfrm>
            <a:off x="516291" y="3100362"/>
            <a:ext cx="4661747" cy="3464229"/>
            <a:chOff x="3853311" y="3158727"/>
            <a:chExt cx="4661747" cy="3464229"/>
          </a:xfrm>
        </p:grpSpPr>
        <p:grpSp>
          <p:nvGrpSpPr>
            <p:cNvPr id="5" name="组合 4"/>
            <p:cNvGrpSpPr/>
            <p:nvPr/>
          </p:nvGrpSpPr>
          <p:grpSpPr>
            <a:xfrm>
              <a:off x="3853311" y="3158727"/>
              <a:ext cx="4661747" cy="2967890"/>
              <a:chOff x="3042875" y="3258754"/>
              <a:chExt cx="4661747" cy="2967890"/>
            </a:xfrm>
          </p:grpSpPr>
          <p:sp>
            <p:nvSpPr>
              <p:cNvPr id="9" name="文本框 8"/>
              <p:cNvSpPr txBox="1"/>
              <p:nvPr/>
            </p:nvSpPr>
            <p:spPr>
              <a:xfrm>
                <a:off x="3217822" y="4745030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3771666" y="4003674"/>
                <a:ext cx="6235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bool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3933812" y="4744344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4516753" y="5315021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4790577" y="5843218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5495654" y="5843216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5158814" y="5300263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6104748" y="5357255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6491230" y="5842207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7256296" y="5842207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6512631" y="4719515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4834791" y="4747866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5909809" y="3994460"/>
                <a:ext cx="6703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void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4746750" y="3258754"/>
                <a:ext cx="7427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void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6879115" y="5334312"/>
                <a:ext cx="448326" cy="370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C00000"/>
                    </a:solidFill>
                  </a:rPr>
                  <a:t>int</a:t>
                </a:r>
                <a:endParaRPr lang="zh-CN" altLang="en-US" dirty="0">
                  <a:solidFill>
                    <a:srgbClr val="C00000"/>
                  </a:solidFill>
                </a:endParaRPr>
              </a:p>
            </p:txBody>
          </p:sp>
          <p:grpSp>
            <p:nvGrpSpPr>
              <p:cNvPr id="24" name="组合 23"/>
              <p:cNvGrpSpPr/>
              <p:nvPr/>
            </p:nvGrpSpPr>
            <p:grpSpPr>
              <a:xfrm>
                <a:off x="3042875" y="3258754"/>
                <a:ext cx="4301142" cy="2967890"/>
                <a:chOff x="699129" y="3730023"/>
                <a:chExt cx="4301142" cy="2967890"/>
              </a:xfrm>
            </p:grpSpPr>
            <p:sp>
              <p:nvSpPr>
                <p:cNvPr id="25" name="文本框 24"/>
                <p:cNvSpPr txBox="1"/>
                <p:nvPr/>
              </p:nvSpPr>
              <p:spPr>
                <a:xfrm>
                  <a:off x="1722624" y="3730023"/>
                  <a:ext cx="96126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while</a:t>
                  </a:r>
                  <a:endParaRPr lang="zh-CN" altLang="en-US" sz="2000" b="1" dirty="0"/>
                </a:p>
              </p:txBody>
            </p:sp>
            <p:sp>
              <p:nvSpPr>
                <p:cNvPr id="26" name="文本框 25"/>
                <p:cNvSpPr txBox="1"/>
                <p:nvPr/>
              </p:nvSpPr>
              <p:spPr>
                <a:xfrm>
                  <a:off x="1072030" y="4511443"/>
                  <a:ext cx="27137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&lt;</a:t>
                  </a:r>
                  <a:endParaRPr lang="zh-CN" altLang="en-US" sz="2000" b="1" dirty="0"/>
                </a:p>
              </p:txBody>
            </p:sp>
            <p:sp>
              <p:nvSpPr>
                <p:cNvPr id="27" name="文本框 26"/>
                <p:cNvSpPr txBox="1"/>
                <p:nvPr/>
              </p:nvSpPr>
              <p:spPr>
                <a:xfrm>
                  <a:off x="2893933" y="4503489"/>
                  <a:ext cx="73542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body</a:t>
                  </a:r>
                  <a:endParaRPr lang="zh-CN" altLang="en-US" sz="2000" b="1" dirty="0"/>
                </a:p>
              </p:txBody>
            </p:sp>
            <p:sp>
              <p:nvSpPr>
                <p:cNvPr id="28" name="文本框 27"/>
                <p:cNvSpPr txBox="1"/>
                <p:nvPr/>
              </p:nvSpPr>
              <p:spPr>
                <a:xfrm>
                  <a:off x="2261123" y="5190784"/>
                  <a:ext cx="40054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=</a:t>
                  </a:r>
                  <a:endParaRPr lang="zh-CN" altLang="en-US" sz="2000" b="1" dirty="0"/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1949626" y="5751119"/>
                  <a:ext cx="40054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x</a:t>
                  </a:r>
                  <a:endParaRPr lang="zh-CN" altLang="en-US" sz="2000" b="1" dirty="0"/>
                </a:p>
              </p:txBody>
            </p:sp>
            <p:sp>
              <p:nvSpPr>
                <p:cNvPr id="33" name="文本框 32"/>
                <p:cNvSpPr txBox="1"/>
                <p:nvPr/>
              </p:nvSpPr>
              <p:spPr>
                <a:xfrm>
                  <a:off x="2571004" y="5759336"/>
                  <a:ext cx="40054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+</a:t>
                  </a:r>
                  <a:endParaRPr lang="zh-CN" altLang="en-US" sz="2000" b="1" dirty="0"/>
                </a:p>
              </p:txBody>
            </p:sp>
            <p:sp>
              <p:nvSpPr>
                <p:cNvPr id="54" name="文本框 53"/>
                <p:cNvSpPr txBox="1"/>
                <p:nvPr/>
              </p:nvSpPr>
              <p:spPr>
                <a:xfrm>
                  <a:off x="2237743" y="6297803"/>
                  <a:ext cx="40054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a</a:t>
                  </a:r>
                  <a:endParaRPr lang="zh-CN" altLang="en-US" sz="2000" b="1" dirty="0"/>
                </a:p>
              </p:txBody>
            </p:sp>
            <p:sp>
              <p:nvSpPr>
                <p:cNvPr id="55" name="文本框 54"/>
                <p:cNvSpPr txBox="1"/>
                <p:nvPr/>
              </p:nvSpPr>
              <p:spPr>
                <a:xfrm>
                  <a:off x="1415119" y="5182583"/>
                  <a:ext cx="40054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z</a:t>
                  </a:r>
                  <a:endParaRPr lang="zh-CN" altLang="en-US" sz="2000" b="1" dirty="0"/>
                </a:p>
              </p:txBody>
            </p:sp>
            <p:sp>
              <p:nvSpPr>
                <p:cNvPr id="56" name="文本框 55"/>
                <p:cNvSpPr txBox="1"/>
                <p:nvPr/>
              </p:nvSpPr>
              <p:spPr>
                <a:xfrm>
                  <a:off x="3937462" y="5183834"/>
                  <a:ext cx="40054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=</a:t>
                  </a:r>
                  <a:endParaRPr lang="zh-CN" altLang="en-US" sz="2000" b="1" dirty="0"/>
                </a:p>
              </p:txBody>
            </p:sp>
            <p:sp>
              <p:nvSpPr>
                <p:cNvPr id="57" name="文本框 56"/>
                <p:cNvSpPr txBox="1"/>
                <p:nvPr/>
              </p:nvSpPr>
              <p:spPr>
                <a:xfrm>
                  <a:off x="3564225" y="5778535"/>
                  <a:ext cx="40054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y</a:t>
                  </a:r>
                  <a:endParaRPr lang="zh-CN" altLang="en-US" sz="2000" b="1" dirty="0"/>
                </a:p>
              </p:txBody>
            </p:sp>
            <p:sp>
              <p:nvSpPr>
                <p:cNvPr id="58" name="文本框 57"/>
                <p:cNvSpPr txBox="1"/>
                <p:nvPr/>
              </p:nvSpPr>
              <p:spPr>
                <a:xfrm>
                  <a:off x="4265017" y="5778535"/>
                  <a:ext cx="40054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+</a:t>
                  </a:r>
                  <a:endParaRPr lang="zh-CN" altLang="en-US" sz="2000" b="1" dirty="0"/>
                </a:p>
              </p:txBody>
            </p:sp>
            <p:sp>
              <p:nvSpPr>
                <p:cNvPr id="59" name="文本框 58"/>
                <p:cNvSpPr txBox="1"/>
                <p:nvPr/>
              </p:nvSpPr>
              <p:spPr>
                <a:xfrm>
                  <a:off x="3950716" y="6287570"/>
                  <a:ext cx="40054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y</a:t>
                  </a:r>
                  <a:endParaRPr lang="zh-CN" altLang="en-US" sz="2000" b="1" dirty="0"/>
                </a:p>
              </p:txBody>
            </p:sp>
            <p:sp>
              <p:nvSpPr>
                <p:cNvPr id="60" name="文本框 59"/>
                <p:cNvSpPr txBox="1"/>
                <p:nvPr/>
              </p:nvSpPr>
              <p:spPr>
                <a:xfrm>
                  <a:off x="4685970" y="6291623"/>
                  <a:ext cx="31430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x</a:t>
                  </a:r>
                  <a:endParaRPr lang="zh-CN" altLang="en-US" sz="2000" b="1" dirty="0"/>
                </a:p>
              </p:txBody>
            </p:sp>
            <p:sp>
              <p:nvSpPr>
                <p:cNvPr id="61" name="文本框 60"/>
                <p:cNvSpPr txBox="1"/>
                <p:nvPr/>
              </p:nvSpPr>
              <p:spPr>
                <a:xfrm>
                  <a:off x="699129" y="5182583"/>
                  <a:ext cx="40054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y</a:t>
                  </a:r>
                  <a:endParaRPr lang="zh-CN" altLang="en-US" sz="2000" b="1" dirty="0"/>
                </a:p>
              </p:txBody>
            </p:sp>
            <p:sp>
              <p:nvSpPr>
                <p:cNvPr id="62" name="文本框 61"/>
                <p:cNvSpPr txBox="1"/>
                <p:nvPr/>
              </p:nvSpPr>
              <p:spPr>
                <a:xfrm>
                  <a:off x="2935949" y="6296957"/>
                  <a:ext cx="40054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0" b="1" dirty="0"/>
                    <a:t>b</a:t>
                  </a:r>
                  <a:endParaRPr lang="zh-CN" altLang="en-US" sz="2000" b="1" dirty="0"/>
                </a:p>
              </p:txBody>
            </p:sp>
            <p:cxnSp>
              <p:nvCxnSpPr>
                <p:cNvPr id="63" name="直接连接符 62"/>
                <p:cNvCxnSpPr>
                  <a:stCxn id="25" idx="2"/>
                  <a:endCxn id="26" idx="0"/>
                </p:cNvCxnSpPr>
                <p:nvPr/>
              </p:nvCxnSpPr>
              <p:spPr>
                <a:xfrm flipH="1">
                  <a:off x="1207715" y="4130133"/>
                  <a:ext cx="995540" cy="38131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连接符 63"/>
                <p:cNvCxnSpPr>
                  <a:stCxn id="25" idx="2"/>
                  <a:endCxn id="27" idx="0"/>
                </p:cNvCxnSpPr>
                <p:nvPr/>
              </p:nvCxnSpPr>
              <p:spPr>
                <a:xfrm>
                  <a:off x="2203255" y="4130133"/>
                  <a:ext cx="1058390" cy="373356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连接符 64"/>
                <p:cNvCxnSpPr>
                  <a:stCxn id="26" idx="2"/>
                  <a:endCxn id="61" idx="0"/>
                </p:cNvCxnSpPr>
                <p:nvPr/>
              </p:nvCxnSpPr>
              <p:spPr>
                <a:xfrm flipH="1">
                  <a:off x="899400" y="4911553"/>
                  <a:ext cx="308315" cy="27103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连接符 65"/>
                <p:cNvCxnSpPr>
                  <a:stCxn id="26" idx="2"/>
                  <a:endCxn id="55" idx="0"/>
                </p:cNvCxnSpPr>
                <p:nvPr/>
              </p:nvCxnSpPr>
              <p:spPr>
                <a:xfrm>
                  <a:off x="1207715" y="4911553"/>
                  <a:ext cx="407675" cy="271030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连接符 66"/>
                <p:cNvCxnSpPr>
                  <a:stCxn id="27" idx="2"/>
                  <a:endCxn id="28" idx="0"/>
                </p:cNvCxnSpPr>
                <p:nvPr/>
              </p:nvCxnSpPr>
              <p:spPr>
                <a:xfrm flipH="1">
                  <a:off x="2461394" y="4903599"/>
                  <a:ext cx="800251" cy="287185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连接符 67"/>
                <p:cNvCxnSpPr>
                  <a:stCxn id="27" idx="2"/>
                  <a:endCxn id="56" idx="0"/>
                </p:cNvCxnSpPr>
                <p:nvPr/>
              </p:nvCxnSpPr>
              <p:spPr>
                <a:xfrm>
                  <a:off x="3261645" y="4903599"/>
                  <a:ext cx="876088" cy="280235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连接符 68"/>
                <p:cNvCxnSpPr>
                  <a:stCxn id="28" idx="2"/>
                  <a:endCxn id="31" idx="0"/>
                </p:cNvCxnSpPr>
                <p:nvPr/>
              </p:nvCxnSpPr>
              <p:spPr>
                <a:xfrm flipH="1">
                  <a:off x="2149897" y="5590894"/>
                  <a:ext cx="311497" cy="160225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连接符 69"/>
                <p:cNvCxnSpPr>
                  <a:stCxn id="28" idx="2"/>
                  <a:endCxn id="33" idx="0"/>
                </p:cNvCxnSpPr>
                <p:nvPr/>
              </p:nvCxnSpPr>
              <p:spPr>
                <a:xfrm>
                  <a:off x="2461394" y="5590894"/>
                  <a:ext cx="309881" cy="168442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连接符 70"/>
                <p:cNvCxnSpPr>
                  <a:stCxn id="33" idx="2"/>
                  <a:endCxn id="54" idx="0"/>
                </p:cNvCxnSpPr>
                <p:nvPr/>
              </p:nvCxnSpPr>
              <p:spPr>
                <a:xfrm flipH="1">
                  <a:off x="2438014" y="6159446"/>
                  <a:ext cx="333261" cy="138357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连接符 71"/>
                <p:cNvCxnSpPr>
                  <a:stCxn id="33" idx="2"/>
                  <a:endCxn id="62" idx="0"/>
                </p:cNvCxnSpPr>
                <p:nvPr/>
              </p:nvCxnSpPr>
              <p:spPr>
                <a:xfrm>
                  <a:off x="2771275" y="6159446"/>
                  <a:ext cx="364945" cy="137511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连接符 72"/>
                <p:cNvCxnSpPr>
                  <a:stCxn id="56" idx="2"/>
                  <a:endCxn id="57" idx="0"/>
                </p:cNvCxnSpPr>
                <p:nvPr/>
              </p:nvCxnSpPr>
              <p:spPr>
                <a:xfrm flipH="1">
                  <a:off x="3764496" y="5583944"/>
                  <a:ext cx="373237" cy="194591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连接符 73"/>
                <p:cNvCxnSpPr>
                  <a:stCxn id="56" idx="2"/>
                  <a:endCxn id="58" idx="0"/>
                </p:cNvCxnSpPr>
                <p:nvPr/>
              </p:nvCxnSpPr>
              <p:spPr>
                <a:xfrm>
                  <a:off x="4137733" y="5583944"/>
                  <a:ext cx="327555" cy="194591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连接符 74"/>
                <p:cNvCxnSpPr>
                  <a:stCxn id="58" idx="2"/>
                  <a:endCxn id="59" idx="0"/>
                </p:cNvCxnSpPr>
                <p:nvPr/>
              </p:nvCxnSpPr>
              <p:spPr>
                <a:xfrm flipH="1">
                  <a:off x="4150987" y="6178645"/>
                  <a:ext cx="314301" cy="108925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连接符 75"/>
                <p:cNvCxnSpPr>
                  <a:stCxn id="58" idx="2"/>
                  <a:endCxn id="60" idx="0"/>
                </p:cNvCxnSpPr>
                <p:nvPr/>
              </p:nvCxnSpPr>
              <p:spPr>
                <a:xfrm>
                  <a:off x="4465288" y="6178645"/>
                  <a:ext cx="377833" cy="112978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" name="Text Box 50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163278" y="6222846"/>
              <a:ext cx="3351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i="0" dirty="0">
                  <a:effectLst/>
                  <a:latin typeface="+mn-lt"/>
                </a:rPr>
                <a:t>Annotated AST/Decorated AST</a:t>
              </a:r>
            </a:p>
          </p:txBody>
        </p:sp>
      </p:grpSp>
      <p:sp>
        <p:nvSpPr>
          <p:cNvPr id="77" name="Text Box 5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426679" y="6164481"/>
            <a:ext cx="32524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 dirty="0">
                <a:effectLst/>
                <a:latin typeface="+mn-lt"/>
              </a:rPr>
              <a:t>Intermediate Representation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Intermediate Code</a:t>
            </a:r>
            <a:r>
              <a:rPr lang="en-US" altLang="zh-CN" sz="3600" b="0" dirty="0">
                <a:latin typeface="+mn-ea"/>
                <a:ea typeface="+mn-ea"/>
              </a:rPr>
              <a:t>[</a:t>
            </a:r>
            <a:r>
              <a:rPr lang="zh-CN" altLang="en-US" sz="3600" b="0" dirty="0">
                <a:latin typeface="+mn-ea"/>
                <a:ea typeface="+mn-ea"/>
              </a:rPr>
              <a:t>中间代码生成</a:t>
            </a:r>
            <a:r>
              <a:rPr lang="en-US" altLang="zh-CN" sz="3600" b="0" dirty="0">
                <a:latin typeface="+mn-ea"/>
                <a:ea typeface="+mn-ea"/>
              </a:rPr>
              <a:t>]</a:t>
            </a:r>
            <a:r>
              <a:rPr lang="zh-CN" altLang="en-US" sz="3600" b="0" dirty="0">
                <a:latin typeface="+mn-ea"/>
                <a:ea typeface="+mn-ea"/>
              </a:rPr>
              <a:t> 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29</a:t>
            </a:fld>
            <a:endParaRPr lang="en-US" noProof="1"/>
          </a:p>
        </p:txBody>
      </p:sp>
      <p:pic>
        <p:nvPicPr>
          <p:cNvPr id="29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" name="圆角矩形 86"/>
          <p:cNvSpPr/>
          <p:nvPr/>
        </p:nvSpPr>
        <p:spPr>
          <a:xfrm>
            <a:off x="9241132" y="2746829"/>
            <a:ext cx="1548790" cy="397741"/>
          </a:xfrm>
          <a:prstGeom prst="roundRect">
            <a:avLst/>
          </a:prstGeom>
          <a:solidFill>
            <a:srgbClr val="E2F0D9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BackPatching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12" name="矩形 111"/>
          <p:cNvSpPr/>
          <p:nvPr>
            <p:custDataLst>
              <p:tags r:id="rId1"/>
            </p:custDataLst>
          </p:nvPr>
        </p:nvSpPr>
        <p:spPr>
          <a:xfrm>
            <a:off x="1004570" y="3299026"/>
            <a:ext cx="2046896" cy="6498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Intermediate Code Representation</a:t>
            </a:r>
          </a:p>
        </p:txBody>
      </p:sp>
      <p:sp>
        <p:nvSpPr>
          <p:cNvPr id="113" name="矩形 112"/>
          <p:cNvSpPr/>
          <p:nvPr>
            <p:custDataLst>
              <p:tags r:id="rId2"/>
            </p:custDataLst>
          </p:nvPr>
        </p:nvSpPr>
        <p:spPr>
          <a:xfrm>
            <a:off x="4312959" y="3299026"/>
            <a:ext cx="1736752" cy="6506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Static Type Check</a:t>
            </a:r>
          </a:p>
        </p:txBody>
      </p:sp>
      <p:sp>
        <p:nvSpPr>
          <p:cNvPr id="114" name="矩形 113"/>
          <p:cNvSpPr/>
          <p:nvPr>
            <p:custDataLst>
              <p:tags r:id="rId3"/>
            </p:custDataLst>
          </p:nvPr>
        </p:nvSpPr>
        <p:spPr>
          <a:xfrm>
            <a:off x="6849841" y="3296968"/>
            <a:ext cx="1793266" cy="6513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Intermediate Code Generation</a:t>
            </a:r>
          </a:p>
        </p:txBody>
      </p:sp>
      <p:sp>
        <p:nvSpPr>
          <p:cNvPr id="115" name="矩形 114"/>
          <p:cNvSpPr/>
          <p:nvPr>
            <p:custDataLst>
              <p:tags r:id="rId4"/>
            </p:custDataLst>
          </p:nvPr>
        </p:nvSpPr>
        <p:spPr>
          <a:xfrm>
            <a:off x="1319349" y="2212799"/>
            <a:ext cx="1417342" cy="534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Abstract Syntax Tree</a:t>
            </a:r>
          </a:p>
        </p:txBody>
      </p:sp>
      <p:sp>
        <p:nvSpPr>
          <p:cNvPr id="116" name="矩形 115"/>
          <p:cNvSpPr/>
          <p:nvPr>
            <p:custDataLst>
              <p:tags r:id="rId5"/>
            </p:custDataLst>
          </p:nvPr>
        </p:nvSpPr>
        <p:spPr>
          <a:xfrm>
            <a:off x="1531759" y="1318805"/>
            <a:ext cx="992521" cy="4022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DAG</a:t>
            </a:r>
          </a:p>
        </p:txBody>
      </p:sp>
      <p:cxnSp>
        <p:nvCxnSpPr>
          <p:cNvPr id="118" name="直接箭头连接符 117"/>
          <p:cNvCxnSpPr>
            <a:stCxn id="115" idx="0"/>
            <a:endCxn id="116" idx="2"/>
          </p:cNvCxnSpPr>
          <p:nvPr/>
        </p:nvCxnSpPr>
        <p:spPr>
          <a:xfrm flipV="1">
            <a:off x="2028020" y="1721049"/>
            <a:ext cx="0" cy="491750"/>
          </a:xfrm>
          <a:prstGeom prst="straightConnector1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9" name="矩形 118"/>
          <p:cNvSpPr/>
          <p:nvPr>
            <p:custDataLst>
              <p:tags r:id="rId6"/>
            </p:custDataLst>
          </p:nvPr>
        </p:nvSpPr>
        <p:spPr>
          <a:xfrm>
            <a:off x="1319349" y="4652902"/>
            <a:ext cx="1417342" cy="534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Three-Address Code</a:t>
            </a:r>
          </a:p>
        </p:txBody>
      </p:sp>
      <p:sp>
        <p:nvSpPr>
          <p:cNvPr id="120" name="矩形 119"/>
          <p:cNvSpPr/>
          <p:nvPr>
            <p:custDataLst>
              <p:tags r:id="rId7"/>
            </p:custDataLst>
          </p:nvPr>
        </p:nvSpPr>
        <p:spPr>
          <a:xfrm>
            <a:off x="1531758" y="5737571"/>
            <a:ext cx="992521" cy="4022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SSA</a:t>
            </a:r>
          </a:p>
        </p:txBody>
      </p:sp>
      <p:cxnSp>
        <p:nvCxnSpPr>
          <p:cNvPr id="125" name="直接箭头连接符 124"/>
          <p:cNvCxnSpPr>
            <a:stCxn id="112" idx="0"/>
            <a:endCxn id="115" idx="2"/>
          </p:cNvCxnSpPr>
          <p:nvPr/>
        </p:nvCxnSpPr>
        <p:spPr>
          <a:xfrm flipV="1">
            <a:off x="2028018" y="2747123"/>
            <a:ext cx="2" cy="551902"/>
          </a:xfrm>
          <a:prstGeom prst="straightConnector1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6" name="直接箭头连接符 125"/>
          <p:cNvCxnSpPr>
            <a:stCxn id="112" idx="2"/>
            <a:endCxn id="119" idx="0"/>
          </p:cNvCxnSpPr>
          <p:nvPr/>
        </p:nvCxnSpPr>
        <p:spPr>
          <a:xfrm>
            <a:off x="2028018" y="3948285"/>
            <a:ext cx="0" cy="704215"/>
          </a:xfrm>
          <a:prstGeom prst="straightConnector1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7" name="直接箭头连接符 126"/>
          <p:cNvCxnSpPr>
            <a:stCxn id="119" idx="2"/>
            <a:endCxn id="120" idx="0"/>
          </p:cNvCxnSpPr>
          <p:nvPr/>
        </p:nvCxnSpPr>
        <p:spPr>
          <a:xfrm>
            <a:off x="2028020" y="5186592"/>
            <a:ext cx="0" cy="551180"/>
          </a:xfrm>
          <a:prstGeom prst="straightConnector1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9" name="矩形 128"/>
          <p:cNvSpPr/>
          <p:nvPr>
            <p:custDataLst>
              <p:tags r:id="rId8"/>
            </p:custDataLst>
          </p:nvPr>
        </p:nvSpPr>
        <p:spPr>
          <a:xfrm>
            <a:off x="7662411" y="5558154"/>
            <a:ext cx="1130583" cy="566420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  <a:sym typeface="+mn-ea"/>
              </a:rPr>
              <a:t>Variable Definition</a:t>
            </a: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130" name="矩形 129"/>
          <p:cNvSpPr/>
          <p:nvPr>
            <p:custDataLst>
              <p:tags r:id="rId9"/>
            </p:custDataLst>
          </p:nvPr>
        </p:nvSpPr>
        <p:spPr>
          <a:xfrm>
            <a:off x="8922421" y="5558245"/>
            <a:ext cx="1267534" cy="569593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  <a:sym typeface="+mn-ea"/>
              </a:rPr>
              <a:t>Assignment</a:t>
            </a: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131" name="矩形 130"/>
          <p:cNvSpPr/>
          <p:nvPr>
            <p:custDataLst>
              <p:tags r:id="rId10"/>
            </p:custDataLst>
          </p:nvPr>
        </p:nvSpPr>
        <p:spPr>
          <a:xfrm>
            <a:off x="6453954" y="5558156"/>
            <a:ext cx="1079030" cy="565785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  <a:sym typeface="+mn-ea"/>
              </a:rPr>
              <a:t>Process</a:t>
            </a: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132" name="矩形 131"/>
          <p:cNvSpPr/>
          <p:nvPr>
            <p:custDataLst>
              <p:tags r:id="rId11"/>
            </p:custDataLst>
          </p:nvPr>
        </p:nvSpPr>
        <p:spPr>
          <a:xfrm>
            <a:off x="10319383" y="5563974"/>
            <a:ext cx="1226644" cy="560185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  <a:sym typeface="+mn-ea"/>
              </a:rPr>
              <a:t>Boolean</a:t>
            </a: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  <a:sym typeface="+mn-ea"/>
              </a:rPr>
              <a:t>Expression</a:t>
            </a: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sp>
        <p:nvSpPr>
          <p:cNvPr id="138" name="矩形 137"/>
          <p:cNvSpPr/>
          <p:nvPr>
            <p:custDataLst>
              <p:tags r:id="rId12"/>
            </p:custDataLst>
          </p:nvPr>
        </p:nvSpPr>
        <p:spPr>
          <a:xfrm>
            <a:off x="7037803" y="4453443"/>
            <a:ext cx="1417342" cy="5350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Direct Translation</a:t>
            </a:r>
          </a:p>
        </p:txBody>
      </p:sp>
      <p:sp>
        <p:nvSpPr>
          <p:cNvPr id="139" name="矩形 138"/>
          <p:cNvSpPr/>
          <p:nvPr>
            <p:custDataLst>
              <p:tags r:id="rId13"/>
            </p:custDataLst>
          </p:nvPr>
        </p:nvSpPr>
        <p:spPr>
          <a:xfrm>
            <a:off x="7037803" y="2212830"/>
            <a:ext cx="1417342" cy="5350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Indirect Translation</a:t>
            </a:r>
          </a:p>
        </p:txBody>
      </p:sp>
      <p:sp>
        <p:nvSpPr>
          <p:cNvPr id="140" name="矩形 139"/>
          <p:cNvSpPr/>
          <p:nvPr>
            <p:custDataLst>
              <p:tags r:id="rId14"/>
            </p:custDataLst>
          </p:nvPr>
        </p:nvSpPr>
        <p:spPr>
          <a:xfrm>
            <a:off x="7853682" y="1195070"/>
            <a:ext cx="1417320" cy="525779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  <a:sym typeface="+mn-ea"/>
              </a:rPr>
              <a:t>Jumping</a:t>
            </a:r>
          </a:p>
        </p:txBody>
      </p:sp>
      <p:cxnSp>
        <p:nvCxnSpPr>
          <p:cNvPr id="141" name="直接箭头连接符 140"/>
          <p:cNvCxnSpPr>
            <a:stCxn id="112" idx="3"/>
            <a:endCxn id="113" idx="1"/>
          </p:cNvCxnSpPr>
          <p:nvPr/>
        </p:nvCxnSpPr>
        <p:spPr>
          <a:xfrm>
            <a:off x="3051467" y="3623973"/>
            <a:ext cx="1261492" cy="376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1" name="直接箭头连接符 150"/>
          <p:cNvCxnSpPr>
            <a:stCxn id="113" idx="3"/>
            <a:endCxn id="114" idx="1"/>
          </p:cNvCxnSpPr>
          <p:nvPr/>
        </p:nvCxnSpPr>
        <p:spPr>
          <a:xfrm flipV="1">
            <a:off x="6049711" y="3622444"/>
            <a:ext cx="800100" cy="1905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2" name="直接箭头连接符 151"/>
          <p:cNvCxnSpPr>
            <a:stCxn id="114" idx="0"/>
            <a:endCxn id="139" idx="2"/>
          </p:cNvCxnSpPr>
          <p:nvPr/>
        </p:nvCxnSpPr>
        <p:spPr>
          <a:xfrm flipV="1">
            <a:off x="7746474" y="2748329"/>
            <a:ext cx="0" cy="548639"/>
          </a:xfrm>
          <a:prstGeom prst="straightConnector1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3" name="直接箭头连接符 152"/>
          <p:cNvCxnSpPr>
            <a:stCxn id="114" idx="2"/>
            <a:endCxn id="138" idx="0"/>
          </p:cNvCxnSpPr>
          <p:nvPr/>
        </p:nvCxnSpPr>
        <p:spPr>
          <a:xfrm>
            <a:off x="7746474" y="3948363"/>
            <a:ext cx="0" cy="504825"/>
          </a:xfrm>
          <a:prstGeom prst="straightConnector1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4" name="直接箭头连接符 153"/>
          <p:cNvCxnSpPr>
            <a:stCxn id="138" idx="2"/>
            <a:endCxn id="131" idx="0"/>
          </p:cNvCxnSpPr>
          <p:nvPr/>
        </p:nvCxnSpPr>
        <p:spPr>
          <a:xfrm flipH="1">
            <a:off x="6993469" y="4988517"/>
            <a:ext cx="753005" cy="569639"/>
          </a:xfrm>
          <a:prstGeom prst="straightConnector1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5" name="直接箭头连接符 154"/>
          <p:cNvCxnSpPr>
            <a:stCxn id="138" idx="2"/>
            <a:endCxn id="130" idx="0"/>
          </p:cNvCxnSpPr>
          <p:nvPr/>
        </p:nvCxnSpPr>
        <p:spPr>
          <a:xfrm>
            <a:off x="7746474" y="4988517"/>
            <a:ext cx="1809714" cy="569728"/>
          </a:xfrm>
          <a:prstGeom prst="straightConnector1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>
            <a:stCxn id="138" idx="2"/>
            <a:endCxn id="129" idx="0"/>
          </p:cNvCxnSpPr>
          <p:nvPr/>
        </p:nvCxnSpPr>
        <p:spPr>
          <a:xfrm>
            <a:off x="7746474" y="4988517"/>
            <a:ext cx="481229" cy="569637"/>
          </a:xfrm>
          <a:prstGeom prst="straightConnector1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7" name="直接箭头连接符 156"/>
          <p:cNvCxnSpPr>
            <a:stCxn id="138" idx="2"/>
            <a:endCxn id="132" idx="0"/>
          </p:cNvCxnSpPr>
          <p:nvPr/>
        </p:nvCxnSpPr>
        <p:spPr>
          <a:xfrm>
            <a:off x="7746474" y="4988517"/>
            <a:ext cx="3186231" cy="575457"/>
          </a:xfrm>
          <a:prstGeom prst="straightConnector1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8" name="直接箭头连接符 157"/>
          <p:cNvCxnSpPr>
            <a:stCxn id="139" idx="0"/>
            <a:endCxn id="140" idx="2"/>
          </p:cNvCxnSpPr>
          <p:nvPr/>
        </p:nvCxnSpPr>
        <p:spPr>
          <a:xfrm flipV="1">
            <a:off x="7746474" y="1720704"/>
            <a:ext cx="815975" cy="492125"/>
          </a:xfrm>
          <a:prstGeom prst="straightConnector1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5" name="文本框 164"/>
          <p:cNvSpPr txBox="1"/>
          <p:nvPr/>
        </p:nvSpPr>
        <p:spPr>
          <a:xfrm>
            <a:off x="742316" y="5187315"/>
            <a:ext cx="1285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Facilitate Optimization</a:t>
            </a:r>
          </a:p>
        </p:txBody>
      </p:sp>
      <p:sp>
        <p:nvSpPr>
          <p:cNvPr id="168" name="文本框 167"/>
          <p:cNvSpPr txBox="1"/>
          <p:nvPr>
            <p:custDataLst>
              <p:tags r:id="rId15"/>
            </p:custDataLst>
          </p:nvPr>
        </p:nvSpPr>
        <p:spPr>
          <a:xfrm>
            <a:off x="1075977" y="4233877"/>
            <a:ext cx="109793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Low Level</a:t>
            </a:r>
          </a:p>
        </p:txBody>
      </p:sp>
      <p:sp>
        <p:nvSpPr>
          <p:cNvPr id="169" name="文本框 168"/>
          <p:cNvSpPr txBox="1"/>
          <p:nvPr>
            <p:custDataLst>
              <p:tags r:id="rId16"/>
            </p:custDataLst>
          </p:nvPr>
        </p:nvSpPr>
        <p:spPr>
          <a:xfrm>
            <a:off x="1185485" y="1753319"/>
            <a:ext cx="114365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Simplify</a:t>
            </a:r>
          </a:p>
        </p:txBody>
      </p:sp>
      <p:sp>
        <p:nvSpPr>
          <p:cNvPr id="170" name="文本框 169"/>
          <p:cNvSpPr txBox="1"/>
          <p:nvPr>
            <p:custDataLst>
              <p:tags r:id="rId17"/>
            </p:custDataLst>
          </p:nvPr>
        </p:nvSpPr>
        <p:spPr>
          <a:xfrm>
            <a:off x="1004570" y="2753531"/>
            <a:ext cx="1156988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High Level</a:t>
            </a:r>
          </a:p>
        </p:txBody>
      </p:sp>
      <p:sp>
        <p:nvSpPr>
          <p:cNvPr id="183" name="文本框 182"/>
          <p:cNvSpPr txBox="1"/>
          <p:nvPr>
            <p:custDataLst>
              <p:tags r:id="rId18"/>
            </p:custDataLst>
          </p:nvPr>
        </p:nvSpPr>
        <p:spPr>
          <a:xfrm>
            <a:off x="7870575" y="4032471"/>
            <a:ext cx="119381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One-Pass</a:t>
            </a:r>
          </a:p>
        </p:txBody>
      </p:sp>
      <p:sp>
        <p:nvSpPr>
          <p:cNvPr id="184" name="文本框 183"/>
          <p:cNvSpPr txBox="1"/>
          <p:nvPr>
            <p:custDataLst>
              <p:tags r:id="rId19"/>
            </p:custDataLst>
          </p:nvPr>
        </p:nvSpPr>
        <p:spPr>
          <a:xfrm>
            <a:off x="9519264" y="1829171"/>
            <a:ext cx="99252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trike="sngStrike" dirty="0">
                <a:latin typeface="Calibri" panose="020F0502020204030204" pitchFamily="34" charset="0"/>
                <a:cs typeface="Calibri" panose="020F0502020204030204" pitchFamily="34" charset="0"/>
              </a:rPr>
              <a:t>Two-Pass</a:t>
            </a:r>
          </a:p>
        </p:txBody>
      </p:sp>
      <p:sp>
        <p:nvSpPr>
          <p:cNvPr id="185" name="文本框 184"/>
          <p:cNvSpPr txBox="1"/>
          <p:nvPr>
            <p:custDataLst>
              <p:tags r:id="rId20"/>
            </p:custDataLst>
          </p:nvPr>
        </p:nvSpPr>
        <p:spPr>
          <a:xfrm>
            <a:off x="8145780" y="1798320"/>
            <a:ext cx="12750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alibri" panose="020F0502020204030204" pitchFamily="34" charset="0"/>
                <a:cs typeface="Calibri" panose="020F0502020204030204" pitchFamily="34" charset="0"/>
              </a:rPr>
              <a:t>Control-Flow</a:t>
            </a:r>
          </a:p>
        </p:txBody>
      </p:sp>
      <p:cxnSp>
        <p:nvCxnSpPr>
          <p:cNvPr id="186" name="肘形连接符 128"/>
          <p:cNvCxnSpPr>
            <a:stCxn id="184" idx="2"/>
            <a:endCxn id="111" idx="0"/>
          </p:cNvCxnSpPr>
          <p:nvPr/>
        </p:nvCxnSpPr>
        <p:spPr>
          <a:xfrm rot="5400000" flipV="1">
            <a:off x="9725660" y="2456816"/>
            <a:ext cx="580390" cy="3175"/>
          </a:xfrm>
          <a:prstGeom prst="bentConnector2">
            <a:avLst/>
          </a:prstGeom>
          <a:ln w="28575" cmpd="dbl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7" name="右箭头 129"/>
          <p:cNvSpPr/>
          <p:nvPr/>
        </p:nvSpPr>
        <p:spPr>
          <a:xfrm rot="10800000">
            <a:off x="8872679" y="2933525"/>
            <a:ext cx="189233" cy="89304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文本框 187"/>
          <p:cNvSpPr txBox="1"/>
          <p:nvPr>
            <p:custDataLst>
              <p:tags r:id="rId21"/>
            </p:custDataLst>
          </p:nvPr>
        </p:nvSpPr>
        <p:spPr>
          <a:xfrm>
            <a:off x="7853503" y="2809871"/>
            <a:ext cx="101919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One-Pass</a:t>
            </a:r>
          </a:p>
        </p:txBody>
      </p:sp>
      <p:cxnSp>
        <p:nvCxnSpPr>
          <p:cNvPr id="2" name="肘形连接符 1"/>
          <p:cNvCxnSpPr>
            <a:stCxn id="140" idx="0"/>
            <a:endCxn id="184" idx="0"/>
          </p:cNvCxnSpPr>
          <p:nvPr/>
        </p:nvCxnSpPr>
        <p:spPr>
          <a:xfrm rot="16200000" flipH="1">
            <a:off x="8971280" y="785495"/>
            <a:ext cx="634365" cy="1452880"/>
          </a:xfrm>
          <a:prstGeom prst="bentConnector3">
            <a:avLst>
              <a:gd name="adj1" fmla="val -37588"/>
            </a:avLst>
          </a:prstGeom>
          <a:ln w="28575" cmpd="dbl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 6"/>
          <p:cNvSpPr/>
          <p:nvPr>
            <p:custDataLst>
              <p:tags r:id="rId22"/>
            </p:custDataLst>
          </p:nvPr>
        </p:nvSpPr>
        <p:spPr>
          <a:xfrm>
            <a:off x="3077210" y="4098925"/>
            <a:ext cx="1235710" cy="4908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quadruples</a:t>
            </a:r>
          </a:p>
        </p:txBody>
      </p:sp>
      <p:sp>
        <p:nvSpPr>
          <p:cNvPr id="8" name="矩形 7"/>
          <p:cNvSpPr/>
          <p:nvPr>
            <p:custDataLst>
              <p:tags r:id="rId23"/>
            </p:custDataLst>
          </p:nvPr>
        </p:nvSpPr>
        <p:spPr>
          <a:xfrm>
            <a:off x="3077210" y="4678045"/>
            <a:ext cx="1235710" cy="4908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triples</a:t>
            </a:r>
          </a:p>
        </p:txBody>
      </p:sp>
      <p:sp>
        <p:nvSpPr>
          <p:cNvPr id="9" name="矩形 8"/>
          <p:cNvSpPr/>
          <p:nvPr>
            <p:custDataLst>
              <p:tags r:id="rId24"/>
            </p:custDataLst>
          </p:nvPr>
        </p:nvSpPr>
        <p:spPr>
          <a:xfrm>
            <a:off x="3077210" y="5264150"/>
            <a:ext cx="1235710" cy="4908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indirect triples</a:t>
            </a:r>
          </a:p>
        </p:txBody>
      </p:sp>
      <p:cxnSp>
        <p:nvCxnSpPr>
          <p:cNvPr id="10" name="直接箭头连接符 9"/>
          <p:cNvCxnSpPr>
            <a:stCxn id="119" idx="3"/>
            <a:endCxn id="7" idx="1"/>
          </p:cNvCxnSpPr>
          <p:nvPr/>
        </p:nvCxnSpPr>
        <p:spPr>
          <a:xfrm flipV="1">
            <a:off x="2736678" y="4344525"/>
            <a:ext cx="340360" cy="575310"/>
          </a:xfrm>
          <a:prstGeom prst="straightConnector1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119" idx="3"/>
            <a:endCxn id="8" idx="1"/>
          </p:cNvCxnSpPr>
          <p:nvPr/>
        </p:nvCxnSpPr>
        <p:spPr>
          <a:xfrm>
            <a:off x="2736678" y="4919835"/>
            <a:ext cx="340360" cy="3810"/>
          </a:xfrm>
          <a:prstGeom prst="straightConnector1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119" idx="3"/>
            <a:endCxn id="9" idx="1"/>
          </p:cNvCxnSpPr>
          <p:nvPr/>
        </p:nvCxnSpPr>
        <p:spPr>
          <a:xfrm>
            <a:off x="2736678" y="4919835"/>
            <a:ext cx="340360" cy="589915"/>
          </a:xfrm>
          <a:prstGeom prst="straightConnector1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矩形 12"/>
          <p:cNvSpPr/>
          <p:nvPr>
            <p:custDataLst>
              <p:tags r:id="rId25"/>
            </p:custDataLst>
          </p:nvPr>
        </p:nvSpPr>
        <p:spPr>
          <a:xfrm>
            <a:off x="5181154" y="5558155"/>
            <a:ext cx="1143373" cy="565785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Array</a:t>
            </a:r>
          </a:p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Reference</a:t>
            </a:r>
          </a:p>
        </p:txBody>
      </p:sp>
      <p:cxnSp>
        <p:nvCxnSpPr>
          <p:cNvPr id="14" name="直接箭头连接符 13"/>
          <p:cNvCxnSpPr>
            <a:stCxn id="138" idx="2"/>
            <a:endCxn id="13" idx="0"/>
          </p:cNvCxnSpPr>
          <p:nvPr/>
        </p:nvCxnSpPr>
        <p:spPr>
          <a:xfrm flipH="1">
            <a:off x="5752841" y="4988517"/>
            <a:ext cx="1993633" cy="569638"/>
          </a:xfrm>
          <a:prstGeom prst="straightConnector1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/>
          <p:nvPr>
            <p:custDataLst>
              <p:tags r:id="rId26"/>
            </p:custDataLst>
          </p:nvPr>
        </p:nvSpPr>
        <p:spPr>
          <a:xfrm>
            <a:off x="6260466" y="1195070"/>
            <a:ext cx="1417320" cy="525780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  <a:sym typeface="+mn-ea"/>
              </a:rPr>
              <a:t>Control</a:t>
            </a: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</a:endParaRPr>
          </a:p>
        </p:txBody>
      </p:sp>
      <p:cxnSp>
        <p:nvCxnSpPr>
          <p:cNvPr id="16" name="直接箭头连接符 15"/>
          <p:cNvCxnSpPr>
            <a:stCxn id="139" idx="0"/>
            <a:endCxn id="15" idx="2"/>
          </p:cNvCxnSpPr>
          <p:nvPr/>
        </p:nvCxnSpPr>
        <p:spPr>
          <a:xfrm flipH="1" flipV="1">
            <a:off x="6969233" y="1720704"/>
            <a:ext cx="777240" cy="492125"/>
          </a:xfrm>
          <a:prstGeom prst="straightConnector1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肘形连接符 16"/>
          <p:cNvCxnSpPr>
            <a:stCxn id="15" idx="0"/>
            <a:endCxn id="184" idx="0"/>
          </p:cNvCxnSpPr>
          <p:nvPr/>
        </p:nvCxnSpPr>
        <p:spPr>
          <a:xfrm rot="16200000" flipH="1">
            <a:off x="8174355" y="-10795"/>
            <a:ext cx="634365" cy="3046095"/>
          </a:xfrm>
          <a:prstGeom prst="bentConnector3">
            <a:avLst>
              <a:gd name="adj1" fmla="val -37538"/>
            </a:avLst>
          </a:prstGeom>
          <a:ln w="28575" cmpd="dbl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31842" y="1238894"/>
            <a:ext cx="7911859" cy="2686183"/>
          </a:xfrm>
        </p:spPr>
        <p:txBody>
          <a:bodyPr>
            <a:normAutofit/>
          </a:bodyPr>
          <a:lstStyle/>
          <a:p>
            <a:pPr>
              <a:spcBef>
                <a:spcPts val="500"/>
              </a:spcBef>
              <a:buSzPct val="50000"/>
              <a:buFont typeface="Wingdings" panose="05000000000000000000" pitchFamily="2" charset="2"/>
              <a:buChar char="l"/>
            </a:pPr>
            <a:r>
              <a:rPr lang="zh-CN" altLang="en-US" sz="2800" b="0" dirty="0"/>
              <a:t>加工变换中间代码使其更好（代码更短、性能更高、内存使用更少）</a:t>
            </a:r>
            <a:endParaRPr lang="en-US" altLang="zh-CN" sz="28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265" b="0" dirty="0">
                <a:solidFill>
                  <a:srgbClr val="C00000"/>
                </a:solidFill>
              </a:rPr>
              <a:t>输入</a:t>
            </a:r>
            <a:r>
              <a:rPr lang="zh-CN" altLang="en-US" sz="2265" b="0" dirty="0"/>
              <a:t>：</a:t>
            </a:r>
            <a:r>
              <a:rPr lang="en-US" altLang="zh-CN" sz="2265" b="0" dirty="0"/>
              <a:t>IR</a:t>
            </a:r>
            <a:r>
              <a:rPr lang="zh-CN" altLang="en-US" sz="2265" b="0" dirty="0"/>
              <a:t>；</a:t>
            </a:r>
            <a:r>
              <a:rPr lang="zh-CN" altLang="en-US" sz="2265" b="0" dirty="0">
                <a:solidFill>
                  <a:srgbClr val="C00000"/>
                </a:solidFill>
              </a:rPr>
              <a:t>输出</a:t>
            </a:r>
            <a:r>
              <a:rPr lang="zh-CN" altLang="en-US" sz="2265" b="0" dirty="0"/>
              <a:t>：</a:t>
            </a:r>
            <a:r>
              <a:rPr lang="en-US" altLang="zh-CN" sz="2265" b="0" dirty="0"/>
              <a:t>(</a:t>
            </a:r>
            <a:r>
              <a:rPr lang="zh-CN" altLang="en-US" sz="2265" b="0" dirty="0"/>
              <a:t>优化的）</a:t>
            </a:r>
            <a:r>
              <a:rPr lang="en-US" altLang="zh-CN" sz="2265" b="0" dirty="0"/>
              <a:t>IR</a:t>
            </a:r>
            <a:r>
              <a:rPr lang="zh-CN" altLang="en-US" sz="2265" b="0" dirty="0"/>
              <a:t> </a:t>
            </a:r>
            <a:endParaRPr lang="en-US" altLang="zh-CN" sz="2265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265" b="0" dirty="0"/>
              <a:t>机器无关（</a:t>
            </a:r>
            <a:r>
              <a:rPr lang="en-US" altLang="zh-CN" sz="2265" b="0" dirty="0"/>
              <a:t>machine independent</a:t>
            </a:r>
            <a:r>
              <a:rPr lang="zh-CN" altLang="en-US" sz="2265" b="0" dirty="0"/>
              <a:t>）</a:t>
            </a:r>
            <a:r>
              <a:rPr lang="en-US" altLang="zh-CN" sz="2265" b="0" dirty="0"/>
              <a:t> 	</a:t>
            </a:r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265" b="0" dirty="0"/>
              <a:t>例如：重复运算识别；运算操作替换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Code Optimization</a:t>
            </a:r>
            <a:r>
              <a:rPr lang="en-US" altLang="zh-CN" sz="3600" b="0" dirty="0">
                <a:latin typeface="+mn-ea"/>
                <a:ea typeface="+mn-ea"/>
              </a:rPr>
              <a:t>[</a:t>
            </a:r>
            <a:r>
              <a:rPr lang="zh-CN" altLang="en-US" sz="3600" b="0" dirty="0">
                <a:latin typeface="+mn-ea"/>
                <a:ea typeface="+mn-ea"/>
              </a:rPr>
              <a:t>代码优化</a:t>
            </a:r>
            <a:r>
              <a:rPr lang="en-US" altLang="zh-CN" sz="3600" b="0" dirty="0">
                <a:latin typeface="+mn-ea"/>
                <a:ea typeface="+mn-ea"/>
              </a:rPr>
              <a:t>]</a:t>
            </a:r>
            <a:r>
              <a:rPr lang="zh-CN" altLang="en-US" sz="3600" b="0" dirty="0">
                <a:latin typeface="+mn-ea"/>
                <a:ea typeface="+mn-ea"/>
              </a:rPr>
              <a:t>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30</a:t>
            </a:fld>
            <a:endParaRPr lang="en-US" noProof="1"/>
          </a:p>
        </p:txBody>
      </p:sp>
      <p:sp>
        <p:nvSpPr>
          <p:cNvPr id="8" name="文本框 7"/>
          <p:cNvSpPr txBox="1"/>
          <p:nvPr/>
        </p:nvSpPr>
        <p:spPr>
          <a:xfrm>
            <a:off x="5352759" y="3745309"/>
            <a:ext cx="2546072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t1 = a + b</a:t>
            </a:r>
          </a:p>
          <a:p>
            <a:r>
              <a:rPr lang="en-US" altLang="zh-CN" dirty="0" err="1"/>
              <a:t>goto</a:t>
            </a:r>
            <a:r>
              <a:rPr lang="en-US" altLang="zh-CN" dirty="0"/>
              <a:t> L1</a:t>
            </a:r>
          </a:p>
          <a:p>
            <a:r>
              <a:rPr lang="en-US" altLang="zh-CN" dirty="0"/>
              <a:t>L2:</a:t>
            </a:r>
          </a:p>
          <a:p>
            <a:r>
              <a:rPr lang="en-US" altLang="zh-CN" dirty="0"/>
              <a:t>        t2 := y + t1 </a:t>
            </a:r>
          </a:p>
          <a:p>
            <a:r>
              <a:rPr lang="en-US" altLang="zh-CN" dirty="0"/>
              <a:t>        y := t2</a:t>
            </a:r>
          </a:p>
          <a:p>
            <a:r>
              <a:rPr lang="en-US" altLang="zh-CN" dirty="0"/>
              <a:t>L1:</a:t>
            </a:r>
          </a:p>
          <a:p>
            <a:r>
              <a:rPr lang="en-US" altLang="zh-CN" dirty="0"/>
              <a:t>        if y &lt; z </a:t>
            </a:r>
            <a:r>
              <a:rPr lang="en-US" altLang="zh-CN" dirty="0" err="1"/>
              <a:t>goto</a:t>
            </a:r>
            <a:r>
              <a:rPr lang="en-US" altLang="zh-CN" dirty="0"/>
              <a:t> L2</a:t>
            </a:r>
          </a:p>
        </p:txBody>
      </p:sp>
      <p:pic>
        <p:nvPicPr>
          <p:cNvPr id="54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右箭头 8"/>
          <p:cNvSpPr/>
          <p:nvPr/>
        </p:nvSpPr>
        <p:spPr>
          <a:xfrm>
            <a:off x="4266116" y="4712024"/>
            <a:ext cx="309065" cy="277662"/>
          </a:xfrm>
          <a:prstGeom prst="right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1" name="组合 10"/>
          <p:cNvGrpSpPr/>
          <p:nvPr/>
        </p:nvGrpSpPr>
        <p:grpSpPr>
          <a:xfrm>
            <a:off x="8536070" y="1527231"/>
            <a:ext cx="3281792" cy="4510216"/>
            <a:chOff x="3302675" y="878523"/>
            <a:chExt cx="2929526" cy="3986976"/>
          </a:xfrm>
        </p:grpSpPr>
        <p:sp>
          <p:nvSpPr>
            <p:cNvPr id="12" name="矩形 11"/>
            <p:cNvSpPr/>
            <p:nvPr/>
          </p:nvSpPr>
          <p:spPr>
            <a:xfrm>
              <a:off x="3672345" y="878523"/>
              <a:ext cx="1908614" cy="330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Lexical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3672344" y="1447201"/>
              <a:ext cx="1908615" cy="330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Syntax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672344" y="2020937"/>
              <a:ext cx="1908616" cy="330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Semantic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672344" y="2599891"/>
              <a:ext cx="1908614" cy="50810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Intermediate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Generator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672344" y="4014095"/>
              <a:ext cx="1908614" cy="331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Generator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直接箭头连接符 10"/>
            <p:cNvCxnSpPr>
              <a:stCxn id="12" idx="2"/>
              <a:endCxn id="13" idx="0"/>
            </p:cNvCxnSpPr>
            <p:nvPr/>
          </p:nvCxnSpPr>
          <p:spPr>
            <a:xfrm>
              <a:off x="4626652" y="1208723"/>
              <a:ext cx="0" cy="23847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11"/>
            <p:cNvCxnSpPr>
              <a:stCxn id="13" idx="2"/>
              <a:endCxn id="14" idx="0"/>
            </p:cNvCxnSpPr>
            <p:nvPr/>
          </p:nvCxnSpPr>
          <p:spPr>
            <a:xfrm>
              <a:off x="4626652" y="1777401"/>
              <a:ext cx="0" cy="24353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文本框 18"/>
            <p:cNvSpPr txBox="1"/>
            <p:nvPr/>
          </p:nvSpPr>
          <p:spPr>
            <a:xfrm>
              <a:off x="3914334" y="1145958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token  </a:t>
              </a:r>
              <a:r>
                <a:rPr lang="en-US" altLang="zh-CN" sz="1600" dirty="0"/>
                <a:t>s</a:t>
              </a:r>
              <a:r>
                <a:rPr lang="en-US" altLang="zh-CN" sz="1600" dirty="0">
                  <a:solidFill>
                    <a:schemeClr val="tx1"/>
                  </a:solidFill>
                </a:rPr>
                <a:t>tream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786671" y="1728565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syntax  tree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直接箭头连接符 24"/>
            <p:cNvCxnSpPr>
              <a:stCxn id="14" idx="2"/>
              <a:endCxn id="15" idx="0"/>
            </p:cNvCxnSpPr>
            <p:nvPr/>
          </p:nvCxnSpPr>
          <p:spPr>
            <a:xfrm flipH="1">
              <a:off x="4626651" y="2351137"/>
              <a:ext cx="1" cy="24875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箭头连接符 27"/>
            <p:cNvCxnSpPr>
              <a:stCxn id="15" idx="2"/>
            </p:cNvCxnSpPr>
            <p:nvPr/>
          </p:nvCxnSpPr>
          <p:spPr>
            <a:xfrm>
              <a:off x="4626651" y="3107994"/>
              <a:ext cx="0" cy="26347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箭头连接符 30"/>
            <p:cNvCxnSpPr>
              <a:stCxn id="27" idx="2"/>
              <a:endCxn id="16" idx="0"/>
            </p:cNvCxnSpPr>
            <p:nvPr/>
          </p:nvCxnSpPr>
          <p:spPr>
            <a:xfrm>
              <a:off x="4626651" y="3765442"/>
              <a:ext cx="0" cy="24865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/>
          </p:nvSpPr>
          <p:spPr>
            <a:xfrm>
              <a:off x="3584251" y="3045268"/>
              <a:ext cx="26479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 err="1"/>
                <a:t>i</a:t>
              </a:r>
              <a:r>
                <a:rPr lang="zh-CN" altLang="en-US" sz="1600" dirty="0"/>
                <a:t>ntermediate  representation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3574500" y="3716095"/>
              <a:ext cx="26479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 err="1"/>
                <a:t>i</a:t>
              </a:r>
              <a:r>
                <a:rPr lang="zh-CN" altLang="en-US" sz="1600" dirty="0"/>
                <a:t>ntermediate  representation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786671" y="2288675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syntax  tree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3672344" y="3368879"/>
              <a:ext cx="1908614" cy="3965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Optimizer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3302675" y="4566221"/>
              <a:ext cx="2647950" cy="299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/>
                <a:t>Target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Machine Code</a:t>
              </a:r>
              <a:endParaRPr lang="zh-CN" altLang="en-US" sz="1600" dirty="0"/>
            </a:p>
          </p:txBody>
        </p:sp>
        <p:cxnSp>
          <p:nvCxnSpPr>
            <p:cNvPr id="29" name="直接箭头连接符 62"/>
            <p:cNvCxnSpPr>
              <a:stCxn id="16" idx="2"/>
            </p:cNvCxnSpPr>
            <p:nvPr/>
          </p:nvCxnSpPr>
          <p:spPr>
            <a:xfrm>
              <a:off x="4626651" y="4345295"/>
              <a:ext cx="0" cy="24865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3595608" y="3995385"/>
            <a:ext cx="1650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</a:rPr>
              <a:t>Quiz: </a:t>
            </a:r>
            <a:r>
              <a:rPr lang="zh-CN" altLang="en-US" b="1" dirty="0">
                <a:solidFill>
                  <a:srgbClr val="C00000"/>
                </a:solidFill>
              </a:rPr>
              <a:t>这里做了什么优化？</a:t>
            </a:r>
            <a:endParaRPr lang="en-GB" b="1" dirty="0">
              <a:solidFill>
                <a:srgbClr val="C0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42466" y="3606809"/>
            <a:ext cx="2546072" cy="230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goto</a:t>
            </a:r>
            <a:r>
              <a:rPr lang="en-US" altLang="zh-CN" dirty="0"/>
              <a:t> L1</a:t>
            </a:r>
          </a:p>
          <a:p>
            <a:r>
              <a:rPr lang="en-US" altLang="zh-CN" dirty="0"/>
              <a:t>L2:</a:t>
            </a:r>
          </a:p>
          <a:p>
            <a:r>
              <a:rPr lang="en-US" altLang="zh-CN" dirty="0"/>
              <a:t>        t1 := a + b</a:t>
            </a:r>
          </a:p>
          <a:p>
            <a:r>
              <a:rPr lang="en-US" altLang="zh-CN" dirty="0"/>
              <a:t>        x := t1 </a:t>
            </a:r>
          </a:p>
          <a:p>
            <a:r>
              <a:rPr lang="en-US" altLang="zh-CN" dirty="0"/>
              <a:t>        t2 := y + x </a:t>
            </a:r>
          </a:p>
          <a:p>
            <a:r>
              <a:rPr lang="en-US" altLang="zh-CN" dirty="0"/>
              <a:t>        y := t2</a:t>
            </a:r>
          </a:p>
          <a:p>
            <a:r>
              <a:rPr lang="en-US" altLang="zh-CN" dirty="0"/>
              <a:t>L1:</a:t>
            </a:r>
          </a:p>
          <a:p>
            <a:r>
              <a:rPr lang="en-US" altLang="zh-CN" dirty="0"/>
              <a:t>        if y &lt; z </a:t>
            </a:r>
            <a:r>
              <a:rPr lang="en-US" altLang="zh-CN" dirty="0" err="1"/>
              <a:t>goto</a:t>
            </a:r>
            <a:r>
              <a:rPr lang="en-US" altLang="zh-CN" dirty="0"/>
              <a:t> L2</a:t>
            </a:r>
          </a:p>
        </p:txBody>
      </p:sp>
      <p:sp>
        <p:nvSpPr>
          <p:cNvPr id="10" name="Text Box 5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89287" y="5956241"/>
            <a:ext cx="32524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 dirty="0">
                <a:effectLst/>
                <a:latin typeface="+mn-lt"/>
              </a:rPr>
              <a:t>Intermediate Representation</a:t>
            </a:r>
          </a:p>
        </p:txBody>
      </p:sp>
      <p:sp>
        <p:nvSpPr>
          <p:cNvPr id="30" name="Text Box 5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829299" y="5803646"/>
            <a:ext cx="359299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 dirty="0">
                <a:effectLst/>
                <a:latin typeface="+mn-lt"/>
              </a:rPr>
              <a:t>Optimized Intermediate Representation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Code Optimization</a:t>
            </a:r>
            <a:r>
              <a:rPr lang="en-US" altLang="zh-CN" sz="3600" b="0" dirty="0">
                <a:latin typeface="+mn-ea"/>
                <a:ea typeface="+mn-ea"/>
              </a:rPr>
              <a:t>[</a:t>
            </a:r>
            <a:r>
              <a:rPr lang="zh-CN" altLang="en-US" sz="3600" b="0" dirty="0">
                <a:latin typeface="+mn-ea"/>
                <a:ea typeface="+mn-ea"/>
              </a:rPr>
              <a:t>代码优化</a:t>
            </a:r>
            <a:r>
              <a:rPr lang="en-US" altLang="zh-CN" sz="3600" b="0" dirty="0">
                <a:latin typeface="+mn-ea"/>
                <a:ea typeface="+mn-ea"/>
              </a:rPr>
              <a:t>]</a:t>
            </a:r>
            <a:r>
              <a:rPr lang="zh-CN" altLang="en-US" sz="3600" b="0" dirty="0">
                <a:latin typeface="+mn-ea"/>
                <a:ea typeface="+mn-ea"/>
              </a:rPr>
              <a:t>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31</a:t>
            </a:fld>
            <a:endParaRPr lang="en-US" noProof="1"/>
          </a:p>
        </p:txBody>
      </p:sp>
      <p:pic>
        <p:nvPicPr>
          <p:cNvPr id="54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2528087" y="2363372"/>
            <a:ext cx="1866900" cy="646331"/>
          </a:xfrm>
          <a:prstGeom prst="rect">
            <a:avLst/>
          </a:prstGeom>
          <a:solidFill>
            <a:srgbClr val="DEEBF7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Layout-related Transformations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25200" y="1219375"/>
            <a:ext cx="1743075" cy="646331"/>
          </a:xfrm>
          <a:prstGeom prst="rect">
            <a:avLst/>
          </a:prstGeom>
          <a:solidFill>
            <a:srgbClr val="DEEBF7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Optimization</a:t>
            </a:r>
            <a:endParaRPr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36148" y="2390816"/>
            <a:ext cx="1866900" cy="646331"/>
          </a:xfrm>
          <a:prstGeom prst="rect">
            <a:avLst/>
          </a:prstGeom>
          <a:solidFill>
            <a:srgbClr val="DEEBF7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Code-related Transformations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3"/>
          <p:cNvSpPr txBox="1"/>
          <p:nvPr/>
        </p:nvSpPr>
        <p:spPr>
          <a:xfrm>
            <a:off x="855520" y="3443191"/>
            <a:ext cx="141605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3"/>
          <p:cNvSpPr txBox="1"/>
          <p:nvPr/>
        </p:nvSpPr>
        <p:spPr>
          <a:xfrm>
            <a:off x="2788437" y="3457373"/>
            <a:ext cx="134620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3"/>
          <p:cNvSpPr txBox="1"/>
          <p:nvPr/>
        </p:nvSpPr>
        <p:spPr>
          <a:xfrm>
            <a:off x="9945501" y="2390815"/>
            <a:ext cx="1866900" cy="646331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Control-Flow Analysis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3"/>
          <p:cNvSpPr txBox="1"/>
          <p:nvPr/>
        </p:nvSpPr>
        <p:spPr>
          <a:xfrm>
            <a:off x="2586900" y="5387695"/>
            <a:ext cx="1638300" cy="646331"/>
          </a:xfrm>
          <a:prstGeom prst="rect">
            <a:avLst/>
          </a:prstGeom>
          <a:solidFill>
            <a:srgbClr val="E2F0D9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Dead Code Elimination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本框 3"/>
          <p:cNvSpPr txBox="1"/>
          <p:nvPr/>
        </p:nvSpPr>
        <p:spPr>
          <a:xfrm>
            <a:off x="850590" y="5387695"/>
            <a:ext cx="1604005" cy="923330"/>
          </a:xfrm>
          <a:prstGeom prst="rect">
            <a:avLst/>
          </a:prstGeom>
          <a:solidFill>
            <a:srgbClr val="E2F0D9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Subexpression Elimination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文本框 3"/>
          <p:cNvSpPr txBox="1"/>
          <p:nvPr/>
        </p:nvSpPr>
        <p:spPr>
          <a:xfrm>
            <a:off x="4338953" y="4004798"/>
            <a:ext cx="1682750" cy="646331"/>
          </a:xfrm>
          <a:prstGeom prst="rect">
            <a:avLst/>
          </a:prstGeom>
          <a:solidFill>
            <a:srgbClr val="FFF2CC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 Optimizations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文本框 3"/>
          <p:cNvSpPr txBox="1"/>
          <p:nvPr/>
        </p:nvSpPr>
        <p:spPr>
          <a:xfrm>
            <a:off x="8297854" y="3998222"/>
            <a:ext cx="1505681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Global Optimizations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直接箭头连接符 14"/>
          <p:cNvCxnSpPr>
            <a:stCxn id="13" idx="2"/>
            <a:endCxn id="12" idx="0"/>
          </p:cNvCxnSpPr>
          <p:nvPr/>
        </p:nvCxnSpPr>
        <p:spPr>
          <a:xfrm flipH="1">
            <a:off x="1652593" y="4651129"/>
            <a:ext cx="3527735" cy="7365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3"/>
          <p:cNvSpPr txBox="1"/>
          <p:nvPr/>
        </p:nvSpPr>
        <p:spPr>
          <a:xfrm>
            <a:off x="4396103" y="5387972"/>
            <a:ext cx="1568450" cy="646331"/>
          </a:xfrm>
          <a:prstGeom prst="rect">
            <a:avLst/>
          </a:prstGeom>
          <a:solidFill>
            <a:srgbClr val="E2F0D9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Constant Propagation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文本框 3"/>
          <p:cNvSpPr txBox="1"/>
          <p:nvPr/>
        </p:nvSpPr>
        <p:spPr>
          <a:xfrm>
            <a:off x="8117244" y="5372813"/>
            <a:ext cx="1866900" cy="646331"/>
          </a:xfrm>
          <a:prstGeom prst="rect">
            <a:avLst/>
          </a:prstGeom>
          <a:solidFill>
            <a:srgbClr val="E2F0D9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Global Constant Propagation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文本框 3"/>
          <p:cNvSpPr txBox="1"/>
          <p:nvPr/>
        </p:nvSpPr>
        <p:spPr>
          <a:xfrm>
            <a:off x="6448387" y="3998223"/>
            <a:ext cx="1193798" cy="646331"/>
          </a:xfrm>
          <a:prstGeom prst="rect">
            <a:avLst/>
          </a:prstGeom>
          <a:solidFill>
            <a:srgbClr val="E2F0D9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Dataflow Analysis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9" name="直接箭头连接符 18"/>
          <p:cNvCxnSpPr>
            <a:stCxn id="7" idx="2"/>
            <a:endCxn id="13" idx="0"/>
          </p:cNvCxnSpPr>
          <p:nvPr/>
        </p:nvCxnSpPr>
        <p:spPr>
          <a:xfrm flipH="1">
            <a:off x="5180328" y="3037147"/>
            <a:ext cx="1289270" cy="9676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7" idx="2"/>
            <a:endCxn id="14" idx="0"/>
          </p:cNvCxnSpPr>
          <p:nvPr/>
        </p:nvCxnSpPr>
        <p:spPr>
          <a:xfrm>
            <a:off x="6469598" y="3037147"/>
            <a:ext cx="2581097" cy="9610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4" idx="2"/>
            <a:endCxn id="17" idx="0"/>
          </p:cNvCxnSpPr>
          <p:nvPr/>
        </p:nvCxnSpPr>
        <p:spPr>
          <a:xfrm flipH="1">
            <a:off x="9050694" y="4644553"/>
            <a:ext cx="1" cy="7282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3" idx="2"/>
            <a:endCxn id="11" idx="0"/>
          </p:cNvCxnSpPr>
          <p:nvPr/>
        </p:nvCxnSpPr>
        <p:spPr>
          <a:xfrm flipH="1">
            <a:off x="3406050" y="4651129"/>
            <a:ext cx="1774278" cy="7365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3" idx="2"/>
            <a:endCxn id="16" idx="0"/>
          </p:cNvCxnSpPr>
          <p:nvPr/>
        </p:nvCxnSpPr>
        <p:spPr>
          <a:xfrm>
            <a:off x="5180328" y="4651129"/>
            <a:ext cx="0" cy="7368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4" idx="2"/>
            <a:endCxn id="8" idx="0"/>
          </p:cNvCxnSpPr>
          <p:nvPr/>
        </p:nvCxnSpPr>
        <p:spPr>
          <a:xfrm flipH="1">
            <a:off x="1563545" y="3009703"/>
            <a:ext cx="1897992" cy="4334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4" idx="2"/>
            <a:endCxn id="9" idx="0"/>
          </p:cNvCxnSpPr>
          <p:nvPr/>
        </p:nvCxnSpPr>
        <p:spPr>
          <a:xfrm>
            <a:off x="3461537" y="3009703"/>
            <a:ext cx="0" cy="4476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5" idx="2"/>
            <a:endCxn id="7" idx="0"/>
          </p:cNvCxnSpPr>
          <p:nvPr/>
        </p:nvCxnSpPr>
        <p:spPr>
          <a:xfrm>
            <a:off x="5096738" y="1865706"/>
            <a:ext cx="1372860" cy="5251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0" idx="1"/>
            <a:endCxn id="7" idx="3"/>
          </p:cNvCxnSpPr>
          <p:nvPr/>
        </p:nvCxnSpPr>
        <p:spPr>
          <a:xfrm flipH="1">
            <a:off x="7403048" y="2713981"/>
            <a:ext cx="2542453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5" idx="2"/>
            <a:endCxn id="4" idx="0"/>
          </p:cNvCxnSpPr>
          <p:nvPr/>
        </p:nvCxnSpPr>
        <p:spPr>
          <a:xfrm flipH="1">
            <a:off x="3461537" y="1865706"/>
            <a:ext cx="1635201" cy="4976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 rot="16200000">
            <a:off x="5080283" y="2664743"/>
            <a:ext cx="461665" cy="147078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Basic Block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 rot="16200000">
            <a:off x="8439057" y="2431300"/>
            <a:ext cx="461665" cy="194595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Across Basic Block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416460" y="1882286"/>
            <a:ext cx="100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824963" y="1906904"/>
            <a:ext cx="100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698659" y="2377667"/>
            <a:ext cx="2284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Basic Blocks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7653496" y="4288370"/>
            <a:ext cx="788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</a:t>
            </a:r>
          </a:p>
        </p:txBody>
      </p:sp>
      <p:sp>
        <p:nvSpPr>
          <p:cNvPr id="39" name="文本框 77"/>
          <p:cNvSpPr txBox="1"/>
          <p:nvPr/>
        </p:nvSpPr>
        <p:spPr>
          <a:xfrm>
            <a:off x="1360207" y="3041781"/>
            <a:ext cx="1052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on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文本框 77"/>
          <p:cNvSpPr txBox="1"/>
          <p:nvPr/>
        </p:nvSpPr>
        <p:spPr>
          <a:xfrm>
            <a:off x="3430676" y="3059884"/>
            <a:ext cx="996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 on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文本框 3"/>
          <p:cNvSpPr txBox="1"/>
          <p:nvPr/>
        </p:nvSpPr>
        <p:spPr>
          <a:xfrm>
            <a:off x="9945501" y="3626760"/>
            <a:ext cx="1866900" cy="369332"/>
          </a:xfrm>
          <a:prstGeom prst="rect">
            <a:avLst/>
          </a:prstGeom>
          <a:solidFill>
            <a:srgbClr val="E2F0D9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Construct CFG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2" name="直接箭头连接符 41"/>
          <p:cNvCxnSpPr>
            <a:stCxn id="10" idx="2"/>
            <a:endCxn id="41" idx="0"/>
          </p:cNvCxnSpPr>
          <p:nvPr/>
        </p:nvCxnSpPr>
        <p:spPr>
          <a:xfrm>
            <a:off x="10878951" y="3037146"/>
            <a:ext cx="0" cy="5896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endCxn id="14" idx="1"/>
          </p:cNvCxnSpPr>
          <p:nvPr/>
        </p:nvCxnSpPr>
        <p:spPr>
          <a:xfrm flipV="1">
            <a:off x="7639536" y="4321388"/>
            <a:ext cx="658318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3"/>
          <p:cNvSpPr txBox="1"/>
          <p:nvPr/>
        </p:nvSpPr>
        <p:spPr>
          <a:xfrm>
            <a:off x="6134348" y="5377648"/>
            <a:ext cx="1638300" cy="646331"/>
          </a:xfrm>
          <a:prstGeom prst="rect">
            <a:avLst/>
          </a:prstGeom>
          <a:solidFill>
            <a:srgbClr val="E2F0D9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 Constant Folding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2" name="直接箭头连接符 51"/>
          <p:cNvCxnSpPr>
            <a:stCxn id="13" idx="2"/>
            <a:endCxn id="51" idx="0"/>
          </p:cNvCxnSpPr>
          <p:nvPr/>
        </p:nvCxnSpPr>
        <p:spPr>
          <a:xfrm>
            <a:off x="5180328" y="4651129"/>
            <a:ext cx="1773170" cy="72651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文本框 3"/>
          <p:cNvSpPr txBox="1"/>
          <p:nvPr/>
        </p:nvSpPr>
        <p:spPr>
          <a:xfrm>
            <a:off x="855260" y="4004798"/>
            <a:ext cx="1672827" cy="646331"/>
          </a:xfrm>
          <a:prstGeom prst="rect">
            <a:avLst/>
          </a:prstGeom>
          <a:solidFill>
            <a:srgbClr val="E2F0D9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Directed Acyclic Graph (DAG)</a:t>
            </a:r>
            <a:endParaRPr lang="zh-CN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6" name="直接箭头连接符 55"/>
          <p:cNvCxnSpPr>
            <a:stCxn id="53" idx="3"/>
            <a:endCxn id="13" idx="1"/>
          </p:cNvCxnSpPr>
          <p:nvPr/>
        </p:nvCxnSpPr>
        <p:spPr>
          <a:xfrm>
            <a:off x="2528087" y="4327964"/>
            <a:ext cx="181086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2651747" y="3984800"/>
            <a:ext cx="1507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info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6512" y="1216233"/>
            <a:ext cx="8183772" cy="4821213"/>
          </a:xfrm>
        </p:spPr>
        <p:txBody>
          <a:bodyPr/>
          <a:lstStyle/>
          <a:p>
            <a:pPr>
              <a:spcBef>
                <a:spcPts val="500"/>
              </a:spcBef>
              <a:buSzPct val="50000"/>
              <a:buFont typeface="Wingdings" panose="05000000000000000000" pitchFamily="2" charset="2"/>
              <a:buChar char="l"/>
            </a:pPr>
            <a:r>
              <a:rPr lang="zh-CN" altLang="en-US" sz="2800" b="0" dirty="0"/>
              <a:t>为特定机器产生目标代码（</a:t>
            </a:r>
            <a:r>
              <a:rPr lang="en-US" altLang="zh-CN" sz="2800" b="0" dirty="0"/>
              <a:t>e.g., </a:t>
            </a:r>
            <a:r>
              <a:rPr lang="zh-CN" altLang="en-US" sz="2800" b="0" dirty="0"/>
              <a:t>汇编）</a:t>
            </a:r>
          </a:p>
          <a:p>
            <a:pPr lvl="1">
              <a:buSzPct val="70000"/>
              <a:buFont typeface="Wingdings" panose="05000000000000000000" pitchFamily="2" charset="2"/>
              <a:buChar char="u"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zh-CN" altLang="en-US" sz="2400" b="0" dirty="0">
                <a:solidFill>
                  <a:srgbClr val="C00000"/>
                </a:solidFill>
              </a:rPr>
              <a:t>输入</a:t>
            </a:r>
            <a:r>
              <a:rPr lang="zh-CN" altLang="en-US" sz="2400" b="0" dirty="0"/>
              <a:t>：</a:t>
            </a:r>
            <a:r>
              <a:rPr lang="en-US" altLang="zh-CN" sz="2400" b="0" dirty="0"/>
              <a:t>(</a:t>
            </a:r>
            <a:r>
              <a:rPr lang="zh-CN" altLang="en-US" sz="2400" b="0" dirty="0"/>
              <a:t>优化的</a:t>
            </a:r>
            <a:r>
              <a:rPr lang="en-US" altLang="zh-CN" sz="2400" b="0" dirty="0"/>
              <a:t>) IR</a:t>
            </a:r>
            <a:r>
              <a:rPr lang="zh-CN" altLang="en-US" sz="2400" b="0" dirty="0"/>
              <a:t>；</a:t>
            </a:r>
            <a:r>
              <a:rPr lang="zh-CN" altLang="en-US" sz="2400" b="0" dirty="0">
                <a:solidFill>
                  <a:srgbClr val="C00000"/>
                </a:solidFill>
              </a:rPr>
              <a:t>输出</a:t>
            </a:r>
            <a:r>
              <a:rPr lang="zh-CN" altLang="en-US" sz="2400" b="0" dirty="0"/>
              <a:t>：目标代码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寄存器分配：放置频繁访问数据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指令选取：确定机器指令实现</a:t>
            </a:r>
            <a:r>
              <a:rPr lang="en-US" altLang="zh-CN" sz="2400" b="0" dirty="0"/>
              <a:t>IR</a:t>
            </a:r>
            <a:r>
              <a:rPr lang="zh-CN" altLang="en-US" sz="2400" b="0" dirty="0"/>
              <a:t>操作 </a:t>
            </a:r>
            <a:endParaRPr lang="en-US" altLang="zh-CN" sz="2400" b="0" dirty="0"/>
          </a:p>
          <a:p>
            <a:pPr lvl="1"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0" dirty="0"/>
              <a:t>进一步的机器有关优化 </a:t>
            </a:r>
            <a:endParaRPr lang="en-US" altLang="zh-CN" sz="2800" dirty="0"/>
          </a:p>
          <a:p>
            <a:pPr lvl="2">
              <a:buSzPct val="50000"/>
              <a:buFont typeface="Wingdings" panose="05000000000000000000" pitchFamily="2" charset="2"/>
              <a:buChar char="p"/>
            </a:pPr>
            <a:r>
              <a:rPr lang="zh-CN" altLang="en-US" sz="2000" b="0" dirty="0"/>
              <a:t>例如：寄存器及访存优化 </a:t>
            </a:r>
            <a:br>
              <a:rPr lang="zh-CN" altLang="en-US" sz="2265" b="0" dirty="0"/>
            </a:br>
            <a:br>
              <a:rPr lang="zh-CN" altLang="en-US" dirty="0"/>
            </a:b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Target Code</a:t>
            </a:r>
            <a:r>
              <a:rPr lang="en-US" altLang="zh-CN" sz="3600" b="0" dirty="0">
                <a:latin typeface="+mn-ea"/>
                <a:ea typeface="+mn-ea"/>
              </a:rPr>
              <a:t>[</a:t>
            </a:r>
            <a:r>
              <a:rPr lang="zh-CN" altLang="en-US" sz="3600" b="0" dirty="0">
                <a:latin typeface="+mn-ea"/>
                <a:ea typeface="+mn-ea"/>
              </a:rPr>
              <a:t>目标代码生成</a:t>
            </a:r>
            <a:r>
              <a:rPr lang="en-US" altLang="zh-CN" sz="3600" b="0" dirty="0">
                <a:latin typeface="+mn-ea"/>
                <a:ea typeface="+mn-ea"/>
              </a:rPr>
              <a:t>]</a:t>
            </a:r>
            <a:r>
              <a:rPr lang="zh-CN" altLang="en-US" sz="3600" b="0" dirty="0">
                <a:latin typeface="+mn-ea"/>
                <a:ea typeface="+mn-ea"/>
              </a:rPr>
              <a:t>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32</a:t>
            </a:fld>
            <a:endParaRPr lang="en-US" noProof="1"/>
          </a:p>
        </p:txBody>
      </p:sp>
      <p:sp>
        <p:nvSpPr>
          <p:cNvPr id="7" name="文本框 6"/>
          <p:cNvSpPr txBox="1"/>
          <p:nvPr/>
        </p:nvSpPr>
        <p:spPr>
          <a:xfrm>
            <a:off x="4255481" y="3982220"/>
            <a:ext cx="3877395" cy="19389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b="0" dirty="0">
                <a:effectLst/>
                <a:latin typeface="Consolas" panose="020B0609020204030204" pitchFamily="49" charset="0"/>
              </a:rPr>
              <a:t>   8b 55 f4   mov   </a:t>
            </a:r>
            <a:r>
              <a:rPr lang="en-US" altLang="zh-CN" sz="1200" b="0" dirty="0" err="1">
                <a:effectLst/>
                <a:latin typeface="Consolas" panose="020B0609020204030204" pitchFamily="49" charset="0"/>
              </a:rPr>
              <a:t>edx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, DWORD PTR [rbp-12]</a:t>
            </a:r>
          </a:p>
          <a:p>
            <a:r>
              <a:rPr lang="en-US" altLang="zh-CN" sz="1200" b="0" dirty="0">
                <a:effectLst/>
                <a:latin typeface="Consolas" panose="020B0609020204030204" pitchFamily="49" charset="0"/>
              </a:rPr>
              <a:t>   8b 45 f0   mov   </a:t>
            </a:r>
            <a:r>
              <a:rPr lang="en-US" altLang="zh-CN" sz="1200" b="0" dirty="0" err="1">
                <a:effectLst/>
                <a:latin typeface="Consolas" panose="020B0609020204030204" pitchFamily="49" charset="0"/>
              </a:rPr>
              <a:t>eax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, DWORD PTR [rbp-16]</a:t>
            </a:r>
          </a:p>
          <a:p>
            <a:r>
              <a:rPr lang="en-US" altLang="zh-CN" sz="1200" b="0" dirty="0">
                <a:effectLst/>
                <a:latin typeface="Consolas" panose="020B0609020204030204" pitchFamily="49" charset="0"/>
              </a:rPr>
              <a:t>   01 d0      add   </a:t>
            </a:r>
            <a:r>
              <a:rPr lang="en-US" altLang="zh-CN" sz="1200" b="0" dirty="0" err="1">
                <a:effectLst/>
                <a:latin typeface="Consolas" panose="020B0609020204030204" pitchFamily="49" charset="0"/>
              </a:rPr>
              <a:t>eax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200" b="0" dirty="0" err="1">
                <a:effectLst/>
                <a:latin typeface="Consolas" panose="020B0609020204030204" pitchFamily="49" charset="0"/>
              </a:rPr>
              <a:t>edx</a:t>
            </a:r>
            <a:endParaRPr lang="en-US" altLang="zh-CN" sz="1200" b="0" dirty="0">
              <a:effectLst/>
              <a:latin typeface="Consolas" panose="020B0609020204030204" pitchFamily="49" charset="0"/>
            </a:endParaRPr>
          </a:p>
          <a:p>
            <a:r>
              <a:rPr lang="zh-CN" altLang="en-US" sz="1200" dirty="0">
                <a:latin typeface="Consolas" panose="020B0609020204030204" pitchFamily="49" charset="0"/>
              </a:rPr>
              <a:t>   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89 45 </a:t>
            </a:r>
            <a:r>
              <a:rPr lang="en-US" altLang="zh-CN" sz="1200" b="0" dirty="0" err="1">
                <a:effectLst/>
                <a:latin typeface="Consolas" panose="020B0609020204030204" pitchFamily="49" charset="0"/>
              </a:rPr>
              <a:t>ec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   mov   DWORD PTR [rbp-20], </a:t>
            </a:r>
            <a:r>
              <a:rPr lang="en-US" altLang="zh-CN" sz="1200" b="0" dirty="0" err="1">
                <a:effectLst/>
                <a:latin typeface="Consolas" panose="020B0609020204030204" pitchFamily="49" charset="0"/>
              </a:rPr>
              <a:t>eax</a:t>
            </a:r>
            <a:endParaRPr lang="en-US" altLang="zh-CN" sz="1200" dirty="0">
              <a:latin typeface="Consolas" panose="020B0609020204030204" pitchFamily="49" charset="0"/>
            </a:endParaRPr>
          </a:p>
          <a:p>
            <a:r>
              <a:rPr lang="zh-CN" altLang="en-US" sz="1200" b="0" dirty="0">
                <a:effectLst/>
                <a:latin typeface="Consolas" panose="020B0609020204030204" pitchFamily="49" charset="0"/>
              </a:rPr>
              <a:t>   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eb 06      </a:t>
            </a:r>
            <a:r>
              <a:rPr lang="en-US" altLang="zh-CN" sz="1200" b="0" dirty="0" err="1">
                <a:effectLst/>
                <a:latin typeface="Consolas" panose="020B0609020204030204" pitchFamily="49" charset="0"/>
              </a:rPr>
              <a:t>jmp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   L2</a:t>
            </a:r>
          </a:p>
          <a:p>
            <a:r>
              <a:rPr lang="en-US" altLang="zh-CN" sz="1200" b="0" dirty="0">
                <a:effectLst/>
                <a:latin typeface="Consolas" panose="020B0609020204030204" pitchFamily="49" charset="0"/>
              </a:rPr>
              <a:t>L3:8b 45 </a:t>
            </a:r>
            <a:r>
              <a:rPr lang="en-US" altLang="zh-CN" sz="1200" b="0" dirty="0" err="1">
                <a:effectLst/>
                <a:latin typeface="Consolas" panose="020B0609020204030204" pitchFamily="49" charset="0"/>
              </a:rPr>
              <a:t>ec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   mov   </a:t>
            </a:r>
            <a:r>
              <a:rPr lang="en-US" altLang="zh-CN" sz="1200" b="0" dirty="0" err="1">
                <a:effectLst/>
                <a:latin typeface="Consolas" panose="020B0609020204030204" pitchFamily="49" charset="0"/>
              </a:rPr>
              <a:t>eax</a:t>
            </a:r>
            <a:r>
              <a:rPr lang="en-US" altLang="zh-CN" sz="1200" b="0" dirty="0">
                <a:effectLst/>
                <a:latin typeface="Consolas" panose="020B0609020204030204" pitchFamily="49" charset="0"/>
              </a:rPr>
              <a:t>, DWORD PTR [rbp-20]</a:t>
            </a:r>
          </a:p>
          <a:p>
            <a:r>
              <a:rPr lang="en-US" altLang="zh-CN" sz="1200" b="0" dirty="0">
                <a:effectLst/>
                <a:latin typeface="Consolas" panose="020B0609020204030204" pitchFamily="49" charset="0"/>
              </a:rPr>
              <a:t>   01 45 fc   add   DWORD PTR [rbp-4], </a:t>
            </a:r>
            <a:r>
              <a:rPr lang="en-US" altLang="zh-CN" sz="1200" b="0" dirty="0" err="1">
                <a:effectLst/>
                <a:latin typeface="Consolas" panose="020B0609020204030204" pitchFamily="49" charset="0"/>
              </a:rPr>
              <a:t>eax</a:t>
            </a:r>
            <a:endParaRPr lang="en-US" altLang="zh-CN" sz="1200" b="0" dirty="0">
              <a:effectLst/>
              <a:latin typeface="Consolas" panose="020B0609020204030204" pitchFamily="49" charset="0"/>
            </a:endParaRPr>
          </a:p>
          <a:p>
            <a:r>
              <a:rPr lang="en-US" altLang="zh-CN" sz="1200" dirty="0">
                <a:latin typeface="Consolas" panose="020B0609020204030204" pitchFamily="49" charset="0"/>
              </a:rPr>
              <a:t>L2:8b 45 fc   mov   </a:t>
            </a:r>
            <a:r>
              <a:rPr lang="en-US" altLang="zh-CN" sz="1200" dirty="0" err="1">
                <a:latin typeface="Consolas" panose="020B0609020204030204" pitchFamily="49" charset="0"/>
              </a:rPr>
              <a:t>eax</a:t>
            </a:r>
            <a:r>
              <a:rPr lang="en-US" altLang="zh-CN" sz="1200" dirty="0">
                <a:latin typeface="Consolas" panose="020B0609020204030204" pitchFamily="49" charset="0"/>
              </a:rPr>
              <a:t>, DWORD PTR [rbp-4]</a:t>
            </a:r>
          </a:p>
          <a:p>
            <a:r>
              <a:rPr lang="en-US" altLang="zh-CN" sz="1200" dirty="0">
                <a:latin typeface="Consolas" panose="020B0609020204030204" pitchFamily="49" charset="0"/>
              </a:rPr>
              <a:t>   3b 45 f8   </a:t>
            </a:r>
            <a:r>
              <a:rPr lang="en-US" altLang="zh-CN" sz="1200" dirty="0" err="1">
                <a:latin typeface="Consolas" panose="020B0609020204030204" pitchFamily="49" charset="0"/>
              </a:rPr>
              <a:t>cmp</a:t>
            </a:r>
            <a:r>
              <a:rPr lang="en-US" altLang="zh-CN" sz="1200" dirty="0">
                <a:latin typeface="Consolas" panose="020B0609020204030204" pitchFamily="49" charset="0"/>
              </a:rPr>
              <a:t>   </a:t>
            </a:r>
            <a:r>
              <a:rPr lang="en-US" altLang="zh-CN" sz="1200" dirty="0" err="1">
                <a:latin typeface="Consolas" panose="020B0609020204030204" pitchFamily="49" charset="0"/>
              </a:rPr>
              <a:t>eax</a:t>
            </a:r>
            <a:r>
              <a:rPr lang="en-US" altLang="zh-CN" sz="1200" dirty="0">
                <a:latin typeface="Consolas" panose="020B0609020204030204" pitchFamily="49" charset="0"/>
              </a:rPr>
              <a:t>, DWORD PTR [rbp-8]</a:t>
            </a:r>
          </a:p>
          <a:p>
            <a:r>
              <a:rPr lang="en-US" altLang="zh-CN" sz="1200" dirty="0">
                <a:latin typeface="Consolas" panose="020B0609020204030204" pitchFamily="49" charset="0"/>
              </a:rPr>
              <a:t>   7c f2      </a:t>
            </a:r>
            <a:r>
              <a:rPr lang="en-US" altLang="zh-CN" sz="1200" dirty="0" err="1">
                <a:latin typeface="Consolas" panose="020B0609020204030204" pitchFamily="49" charset="0"/>
              </a:rPr>
              <a:t>jl</a:t>
            </a:r>
            <a:r>
              <a:rPr lang="en-US" altLang="zh-CN" sz="1200" dirty="0">
                <a:latin typeface="Consolas" panose="020B0609020204030204" pitchFamily="49" charset="0"/>
              </a:rPr>
              <a:t>    L3</a:t>
            </a:r>
          </a:p>
        </p:txBody>
      </p:sp>
      <p:pic>
        <p:nvPicPr>
          <p:cNvPr id="53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右箭头 8"/>
          <p:cNvSpPr/>
          <p:nvPr/>
        </p:nvSpPr>
        <p:spPr>
          <a:xfrm>
            <a:off x="3651926" y="4812885"/>
            <a:ext cx="309065" cy="277662"/>
          </a:xfrm>
          <a:prstGeom prst="rightArrow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0" name="组合 9"/>
          <p:cNvGrpSpPr/>
          <p:nvPr/>
        </p:nvGrpSpPr>
        <p:grpSpPr>
          <a:xfrm>
            <a:off x="8536070" y="1527231"/>
            <a:ext cx="3281792" cy="4510216"/>
            <a:chOff x="3302675" y="878523"/>
            <a:chExt cx="2929526" cy="3986976"/>
          </a:xfrm>
        </p:grpSpPr>
        <p:sp>
          <p:nvSpPr>
            <p:cNvPr id="11" name="矩形 10"/>
            <p:cNvSpPr/>
            <p:nvPr/>
          </p:nvSpPr>
          <p:spPr>
            <a:xfrm>
              <a:off x="3672345" y="878523"/>
              <a:ext cx="1908614" cy="330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Lexical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3672344" y="1447201"/>
              <a:ext cx="1908615" cy="330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Syntax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3672344" y="2020937"/>
              <a:ext cx="1908616" cy="330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Semantic Analyzer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672344" y="2599891"/>
              <a:ext cx="1908614" cy="50810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Intermediate</a:t>
              </a:r>
            </a:p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Generator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3672344" y="4014095"/>
              <a:ext cx="1908614" cy="331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Generator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直接箭头连接符 10"/>
            <p:cNvCxnSpPr>
              <a:stCxn id="11" idx="2"/>
              <a:endCxn id="12" idx="0"/>
            </p:cNvCxnSpPr>
            <p:nvPr/>
          </p:nvCxnSpPr>
          <p:spPr>
            <a:xfrm>
              <a:off x="4626652" y="1208723"/>
              <a:ext cx="0" cy="23847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箭头连接符 11"/>
            <p:cNvCxnSpPr>
              <a:stCxn id="12" idx="2"/>
              <a:endCxn id="13" idx="0"/>
            </p:cNvCxnSpPr>
            <p:nvPr/>
          </p:nvCxnSpPr>
          <p:spPr>
            <a:xfrm>
              <a:off x="4626652" y="1777401"/>
              <a:ext cx="0" cy="24353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文本框 17"/>
            <p:cNvSpPr txBox="1"/>
            <p:nvPr/>
          </p:nvSpPr>
          <p:spPr>
            <a:xfrm>
              <a:off x="3914334" y="1145958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token  </a:t>
              </a:r>
              <a:r>
                <a:rPr lang="en-US" altLang="zh-CN" sz="1600" dirty="0"/>
                <a:t>s</a:t>
              </a:r>
              <a:r>
                <a:rPr lang="en-US" altLang="zh-CN" sz="1600" dirty="0">
                  <a:solidFill>
                    <a:schemeClr val="tx1"/>
                  </a:solidFill>
                </a:rPr>
                <a:t>tream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786671" y="1728565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syntax  tree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直接箭头连接符 24"/>
            <p:cNvCxnSpPr>
              <a:stCxn id="13" idx="2"/>
              <a:endCxn id="14" idx="0"/>
            </p:cNvCxnSpPr>
            <p:nvPr/>
          </p:nvCxnSpPr>
          <p:spPr>
            <a:xfrm flipH="1">
              <a:off x="4626651" y="2351137"/>
              <a:ext cx="1" cy="24875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箭头连接符 27"/>
            <p:cNvCxnSpPr>
              <a:stCxn id="14" idx="2"/>
            </p:cNvCxnSpPr>
            <p:nvPr/>
          </p:nvCxnSpPr>
          <p:spPr>
            <a:xfrm>
              <a:off x="4626651" y="3107994"/>
              <a:ext cx="0" cy="26347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箭头连接符 30"/>
            <p:cNvCxnSpPr>
              <a:stCxn id="26" idx="2"/>
              <a:endCxn id="15" idx="0"/>
            </p:cNvCxnSpPr>
            <p:nvPr/>
          </p:nvCxnSpPr>
          <p:spPr>
            <a:xfrm>
              <a:off x="4626651" y="3765442"/>
              <a:ext cx="0" cy="24865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/>
          </p:nvSpPr>
          <p:spPr>
            <a:xfrm>
              <a:off x="3584251" y="3045268"/>
              <a:ext cx="26479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 err="1"/>
                <a:t>i</a:t>
              </a:r>
              <a:r>
                <a:rPr lang="zh-CN" altLang="en-US" sz="1600" dirty="0"/>
                <a:t>ntermediate  representation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3574500" y="3716095"/>
              <a:ext cx="26479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 err="1"/>
                <a:t>i</a:t>
              </a:r>
              <a:r>
                <a:rPr lang="zh-CN" altLang="en-US" sz="1600" dirty="0"/>
                <a:t>ntermediate  representation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3786671" y="2288675"/>
              <a:ext cx="15176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syntax  tree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672344" y="3368879"/>
              <a:ext cx="1908614" cy="39656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</a:rPr>
                <a:t>Code Optimizer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302675" y="4566221"/>
              <a:ext cx="2647950" cy="2992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/>
                <a:t>Target</a:t>
              </a:r>
              <a:r>
                <a:rPr lang="zh-CN" altLang="en-US" sz="1600" dirty="0"/>
                <a:t> </a:t>
              </a:r>
              <a:r>
                <a:rPr lang="en-US" altLang="zh-CN" sz="1600" dirty="0"/>
                <a:t>Machine Code</a:t>
              </a:r>
              <a:endParaRPr lang="zh-CN" altLang="en-US" sz="1600" dirty="0"/>
            </a:p>
          </p:txBody>
        </p:sp>
        <p:cxnSp>
          <p:nvCxnSpPr>
            <p:cNvPr id="28" name="直接箭头连接符 62"/>
            <p:cNvCxnSpPr>
              <a:stCxn id="15" idx="2"/>
            </p:cNvCxnSpPr>
            <p:nvPr/>
          </p:nvCxnSpPr>
          <p:spPr>
            <a:xfrm>
              <a:off x="4626651" y="4345295"/>
              <a:ext cx="0" cy="24865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811365" y="3936054"/>
            <a:ext cx="2546072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t1 = a + b</a:t>
            </a:r>
          </a:p>
          <a:p>
            <a:r>
              <a:rPr lang="en-US" altLang="zh-CN" dirty="0" err="1"/>
              <a:t>goto</a:t>
            </a:r>
            <a:r>
              <a:rPr lang="en-US" altLang="zh-CN" dirty="0"/>
              <a:t> L1</a:t>
            </a:r>
          </a:p>
          <a:p>
            <a:r>
              <a:rPr lang="en-US" altLang="zh-CN" dirty="0"/>
              <a:t>L2:</a:t>
            </a:r>
          </a:p>
          <a:p>
            <a:r>
              <a:rPr lang="en-US" altLang="zh-CN" dirty="0"/>
              <a:t>        t2 := y + t1 </a:t>
            </a:r>
          </a:p>
          <a:p>
            <a:r>
              <a:rPr lang="en-US" altLang="zh-CN" dirty="0"/>
              <a:t>        y := t2</a:t>
            </a:r>
          </a:p>
          <a:p>
            <a:r>
              <a:rPr lang="en-US" altLang="zh-CN" dirty="0"/>
              <a:t>L1:</a:t>
            </a:r>
          </a:p>
          <a:p>
            <a:r>
              <a:rPr lang="en-US" altLang="zh-CN" dirty="0"/>
              <a:t>        if y &lt; z </a:t>
            </a:r>
            <a:r>
              <a:rPr lang="en-US" altLang="zh-CN" dirty="0" err="1"/>
              <a:t>goto</a:t>
            </a:r>
            <a:r>
              <a:rPr lang="en-US" altLang="zh-CN" dirty="0"/>
              <a:t> L2</a:t>
            </a:r>
          </a:p>
        </p:txBody>
      </p:sp>
      <p:sp>
        <p:nvSpPr>
          <p:cNvPr id="5" name="Text Box 50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87905" y="5994391"/>
            <a:ext cx="359299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 dirty="0">
                <a:effectLst/>
                <a:latin typeface="+mn-lt"/>
              </a:rPr>
              <a:t>Optimized Intermediate Representation</a:t>
            </a:r>
          </a:p>
        </p:txBody>
      </p:sp>
      <p:sp>
        <p:nvSpPr>
          <p:cNvPr id="29" name="Text Box 5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397881" y="6112245"/>
            <a:ext cx="35929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 dirty="0">
                <a:effectLst/>
                <a:latin typeface="+mn-lt"/>
              </a:rPr>
              <a:t>Target Machine Code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Target Code</a:t>
            </a:r>
            <a:r>
              <a:rPr lang="en-US" altLang="zh-CN" sz="3600" b="0" dirty="0">
                <a:latin typeface="+mn-ea"/>
                <a:ea typeface="+mn-ea"/>
              </a:rPr>
              <a:t>[</a:t>
            </a:r>
            <a:r>
              <a:rPr lang="zh-CN" altLang="en-US" sz="3600" b="0" dirty="0">
                <a:latin typeface="+mn-ea"/>
                <a:ea typeface="+mn-ea"/>
              </a:rPr>
              <a:t>目标代码生成</a:t>
            </a:r>
            <a:r>
              <a:rPr lang="en-US" altLang="zh-CN" sz="3600" b="0" dirty="0">
                <a:latin typeface="+mn-ea"/>
                <a:ea typeface="+mn-ea"/>
              </a:rPr>
              <a:t>]</a:t>
            </a:r>
            <a:r>
              <a:rPr lang="zh-CN" altLang="en-US" sz="3600" b="0" dirty="0">
                <a:latin typeface="+mn-ea"/>
                <a:ea typeface="+mn-ea"/>
              </a:rPr>
              <a:t>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33</a:t>
            </a:fld>
            <a:endParaRPr lang="en-US" noProof="1"/>
          </a:p>
        </p:txBody>
      </p:sp>
      <p:pic>
        <p:nvPicPr>
          <p:cNvPr id="53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矩形 30"/>
          <p:cNvSpPr/>
          <p:nvPr>
            <p:custDataLst>
              <p:tags r:id="rId1"/>
            </p:custDataLst>
          </p:nvPr>
        </p:nvSpPr>
        <p:spPr>
          <a:xfrm>
            <a:off x="4876800" y="3234690"/>
            <a:ext cx="1242695" cy="54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Code Generation</a:t>
            </a: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1786890" y="4173220"/>
            <a:ext cx="936625" cy="54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Primary Task</a:t>
            </a:r>
          </a:p>
        </p:txBody>
      </p:sp>
      <p:sp>
        <p:nvSpPr>
          <p:cNvPr id="38" name="矩形 37"/>
          <p:cNvSpPr/>
          <p:nvPr>
            <p:custDataLst>
              <p:tags r:id="rId3"/>
            </p:custDataLst>
          </p:nvPr>
        </p:nvSpPr>
        <p:spPr>
          <a:xfrm>
            <a:off x="340360" y="4921885"/>
            <a:ext cx="1205230" cy="539750"/>
          </a:xfrm>
          <a:prstGeom prst="rect">
            <a:avLst/>
          </a:prstGeom>
          <a:solidFill>
            <a:srgbClr val="FFF2C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Instruction Selection</a:t>
            </a:r>
          </a:p>
        </p:txBody>
      </p:sp>
      <p:sp>
        <p:nvSpPr>
          <p:cNvPr id="61" name="矩形 60"/>
          <p:cNvSpPr/>
          <p:nvPr>
            <p:custDataLst>
              <p:tags r:id="rId4"/>
            </p:custDataLst>
          </p:nvPr>
        </p:nvSpPr>
        <p:spPr>
          <a:xfrm>
            <a:off x="1711325" y="4921885"/>
            <a:ext cx="1093470" cy="539750"/>
          </a:xfrm>
          <a:prstGeom prst="rect">
            <a:avLst/>
          </a:prstGeom>
          <a:solidFill>
            <a:srgbClr val="FFF2C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Register allocation</a:t>
            </a:r>
          </a:p>
        </p:txBody>
      </p:sp>
      <p:sp>
        <p:nvSpPr>
          <p:cNvPr id="62" name="矩形 61"/>
          <p:cNvSpPr/>
          <p:nvPr>
            <p:custDataLst>
              <p:tags r:id="rId5"/>
            </p:custDataLst>
          </p:nvPr>
        </p:nvSpPr>
        <p:spPr>
          <a:xfrm>
            <a:off x="2970530" y="4921885"/>
            <a:ext cx="1196975" cy="539750"/>
          </a:xfrm>
          <a:prstGeom prst="rect">
            <a:avLst/>
          </a:prstGeom>
          <a:solidFill>
            <a:srgbClr val="FFF2C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Instruction Ordering</a:t>
            </a:r>
          </a:p>
        </p:txBody>
      </p:sp>
      <p:cxnSp>
        <p:nvCxnSpPr>
          <p:cNvPr id="16" name="直接箭头连接符 15"/>
          <p:cNvCxnSpPr>
            <a:stCxn id="37" idx="2"/>
            <a:endCxn id="61" idx="0"/>
          </p:cNvCxnSpPr>
          <p:nvPr/>
        </p:nvCxnSpPr>
        <p:spPr>
          <a:xfrm>
            <a:off x="2255496" y="4712881"/>
            <a:ext cx="2540" cy="2089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/>
          <p:cNvCxnSpPr/>
          <p:nvPr/>
        </p:nvCxnSpPr>
        <p:spPr>
          <a:xfrm rot="5400000">
            <a:off x="1393694" y="4132183"/>
            <a:ext cx="281105" cy="1442500"/>
          </a:xfrm>
          <a:prstGeom prst="bentConnector3">
            <a:avLst>
              <a:gd name="adj1" fmla="val 3775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连接符: 肘形 22"/>
          <p:cNvCxnSpPr>
            <a:stCxn id="37" idx="2"/>
            <a:endCxn id="62" idx="0"/>
          </p:cNvCxnSpPr>
          <p:nvPr/>
        </p:nvCxnSpPr>
        <p:spPr>
          <a:xfrm rot="5400000" flipV="1">
            <a:off x="2807970" y="4160520"/>
            <a:ext cx="208915" cy="1313815"/>
          </a:xfrm>
          <a:prstGeom prst="bentConnector3">
            <a:avLst>
              <a:gd name="adj1" fmla="val 5015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/>
          <p:cNvSpPr/>
          <p:nvPr>
            <p:custDataLst>
              <p:tags r:id="rId6"/>
            </p:custDataLst>
          </p:nvPr>
        </p:nvSpPr>
        <p:spPr>
          <a:xfrm>
            <a:off x="6691630" y="4173220"/>
            <a:ext cx="658495" cy="421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Type</a:t>
            </a:r>
          </a:p>
        </p:txBody>
      </p:sp>
      <p:sp>
        <p:nvSpPr>
          <p:cNvPr id="51" name="矩形 50"/>
          <p:cNvSpPr/>
          <p:nvPr>
            <p:custDataLst>
              <p:tags r:id="rId7"/>
            </p:custDataLst>
          </p:nvPr>
        </p:nvSpPr>
        <p:spPr>
          <a:xfrm>
            <a:off x="4345305" y="4918075"/>
            <a:ext cx="1177925" cy="421005"/>
          </a:xfrm>
          <a:prstGeom prst="rect">
            <a:avLst/>
          </a:prstGeom>
          <a:solidFill>
            <a:srgbClr val="FFF2C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Expression</a:t>
            </a:r>
          </a:p>
        </p:txBody>
      </p:sp>
      <p:sp>
        <p:nvSpPr>
          <p:cNvPr id="52" name="矩形 51"/>
          <p:cNvSpPr/>
          <p:nvPr>
            <p:custDataLst>
              <p:tags r:id="rId8"/>
            </p:custDataLst>
          </p:nvPr>
        </p:nvSpPr>
        <p:spPr>
          <a:xfrm>
            <a:off x="5685155" y="4918075"/>
            <a:ext cx="1278255" cy="421005"/>
          </a:xfrm>
          <a:prstGeom prst="rect">
            <a:avLst/>
          </a:prstGeom>
          <a:solidFill>
            <a:srgbClr val="FFF2C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Conditional</a:t>
            </a:r>
          </a:p>
        </p:txBody>
      </p:sp>
      <p:sp>
        <p:nvSpPr>
          <p:cNvPr id="55" name="矩形 54"/>
          <p:cNvSpPr/>
          <p:nvPr>
            <p:custDataLst>
              <p:tags r:id="rId9"/>
            </p:custDataLst>
          </p:nvPr>
        </p:nvSpPr>
        <p:spPr>
          <a:xfrm>
            <a:off x="7127298" y="4921677"/>
            <a:ext cx="1371585" cy="420734"/>
          </a:xfrm>
          <a:prstGeom prst="rect">
            <a:avLst/>
          </a:prstGeom>
          <a:solidFill>
            <a:srgbClr val="FFF2C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Function call</a:t>
            </a:r>
          </a:p>
        </p:txBody>
      </p:sp>
      <p:sp>
        <p:nvSpPr>
          <p:cNvPr id="56" name="矩形 55"/>
          <p:cNvSpPr/>
          <p:nvPr>
            <p:custDataLst>
              <p:tags r:id="rId10"/>
            </p:custDataLst>
          </p:nvPr>
        </p:nvSpPr>
        <p:spPr>
          <a:xfrm>
            <a:off x="6517640" y="5641975"/>
            <a:ext cx="1160145" cy="537210"/>
          </a:xfrm>
          <a:prstGeom prst="rect">
            <a:avLst/>
          </a:prstGeom>
          <a:solidFill>
            <a:srgbClr val="FFF2C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Activation Record</a:t>
            </a:r>
          </a:p>
        </p:txBody>
      </p:sp>
      <p:sp>
        <p:nvSpPr>
          <p:cNvPr id="58" name="矩形 57"/>
          <p:cNvSpPr/>
          <p:nvPr>
            <p:custDataLst>
              <p:tags r:id="rId11"/>
            </p:custDataLst>
          </p:nvPr>
        </p:nvSpPr>
        <p:spPr>
          <a:xfrm>
            <a:off x="7949109" y="5636267"/>
            <a:ext cx="1428389" cy="537199"/>
          </a:xfrm>
          <a:prstGeom prst="rect">
            <a:avLst/>
          </a:prstGeom>
          <a:solidFill>
            <a:srgbClr val="FFF2C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Caller/Callee Conventions</a:t>
            </a:r>
          </a:p>
        </p:txBody>
      </p:sp>
      <p:cxnSp>
        <p:nvCxnSpPr>
          <p:cNvPr id="69" name="连接符: 肘形 68"/>
          <p:cNvCxnSpPr>
            <a:stCxn id="55" idx="2"/>
            <a:endCxn id="56" idx="0"/>
          </p:cNvCxnSpPr>
          <p:nvPr/>
        </p:nvCxnSpPr>
        <p:spPr>
          <a:xfrm rot="5400000">
            <a:off x="7305993" y="5134928"/>
            <a:ext cx="299085" cy="71501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/>
          <p:cNvCxnSpPr>
            <a:stCxn id="55" idx="2"/>
            <a:endCxn id="58" idx="0"/>
          </p:cNvCxnSpPr>
          <p:nvPr/>
        </p:nvCxnSpPr>
        <p:spPr>
          <a:xfrm rot="5400000" flipV="1">
            <a:off x="8091488" y="5064443"/>
            <a:ext cx="293370" cy="85026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/>
          <p:cNvSpPr/>
          <p:nvPr>
            <p:custDataLst>
              <p:tags r:id="rId12"/>
            </p:custDataLst>
          </p:nvPr>
        </p:nvSpPr>
        <p:spPr>
          <a:xfrm>
            <a:off x="10259695" y="4918075"/>
            <a:ext cx="824230" cy="421005"/>
          </a:xfrm>
          <a:prstGeom prst="rect">
            <a:avLst/>
          </a:prstGeom>
          <a:solidFill>
            <a:srgbClr val="FFF2C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Object</a:t>
            </a:r>
          </a:p>
        </p:txBody>
      </p:sp>
      <p:cxnSp>
        <p:nvCxnSpPr>
          <p:cNvPr id="83" name="连接符: 肘形 82"/>
          <p:cNvCxnSpPr>
            <a:stCxn id="41" idx="2"/>
          </p:cNvCxnSpPr>
          <p:nvPr/>
        </p:nvCxnSpPr>
        <p:spPr>
          <a:xfrm rot="5400000">
            <a:off x="5821998" y="3718878"/>
            <a:ext cx="323850" cy="2074545"/>
          </a:xfrm>
          <a:prstGeom prst="bentConnector3">
            <a:avLst>
              <a:gd name="adj1" fmla="val 4990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连接符: 肘形 84"/>
          <p:cNvCxnSpPr>
            <a:stCxn id="41" idx="2"/>
            <a:endCxn id="52" idx="0"/>
          </p:cNvCxnSpPr>
          <p:nvPr/>
        </p:nvCxnSpPr>
        <p:spPr>
          <a:xfrm rot="5400000">
            <a:off x="6510973" y="4407853"/>
            <a:ext cx="323850" cy="696595"/>
          </a:xfrm>
          <a:prstGeom prst="bentConnector3">
            <a:avLst>
              <a:gd name="adj1" fmla="val 4990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连接符: 肘形 86"/>
          <p:cNvCxnSpPr>
            <a:stCxn id="41" idx="2"/>
            <a:endCxn id="55" idx="0"/>
          </p:cNvCxnSpPr>
          <p:nvPr/>
        </p:nvCxnSpPr>
        <p:spPr>
          <a:xfrm rot="5400000" flipV="1">
            <a:off x="7253288" y="4362133"/>
            <a:ext cx="327660" cy="791845"/>
          </a:xfrm>
          <a:prstGeom prst="bentConnector3">
            <a:avLst>
              <a:gd name="adj1" fmla="val 49903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88"/>
          <p:cNvCxnSpPr>
            <a:stCxn id="41" idx="2"/>
            <a:endCxn id="77" idx="0"/>
          </p:cNvCxnSpPr>
          <p:nvPr/>
        </p:nvCxnSpPr>
        <p:spPr>
          <a:xfrm rot="5400000" flipV="1">
            <a:off x="8684578" y="2930843"/>
            <a:ext cx="323850" cy="3650615"/>
          </a:xfrm>
          <a:prstGeom prst="bentConnector3">
            <a:avLst>
              <a:gd name="adj1" fmla="val 4990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13"/>
            </p:custDataLst>
          </p:nvPr>
        </p:nvSpPr>
        <p:spPr>
          <a:xfrm>
            <a:off x="9580880" y="5636895"/>
            <a:ext cx="998220" cy="421200"/>
          </a:xfrm>
          <a:prstGeom prst="rect">
            <a:avLst/>
          </a:prstGeom>
          <a:solidFill>
            <a:srgbClr val="FFF2C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Dispatch</a:t>
            </a:r>
          </a:p>
        </p:txBody>
      </p:sp>
      <p:sp>
        <p:nvSpPr>
          <p:cNvPr id="4" name="矩形 3"/>
          <p:cNvSpPr/>
          <p:nvPr>
            <p:custDataLst>
              <p:tags r:id="rId14"/>
            </p:custDataLst>
          </p:nvPr>
        </p:nvSpPr>
        <p:spPr>
          <a:xfrm>
            <a:off x="10666730" y="5636895"/>
            <a:ext cx="1304290" cy="421005"/>
          </a:xfrm>
          <a:prstGeom prst="rect">
            <a:avLst/>
          </a:prstGeom>
          <a:solidFill>
            <a:srgbClr val="FFF2C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Inheritance</a:t>
            </a:r>
          </a:p>
        </p:txBody>
      </p:sp>
      <p:sp>
        <p:nvSpPr>
          <p:cNvPr id="5" name="矩形 4"/>
          <p:cNvSpPr/>
          <p:nvPr>
            <p:custDataLst>
              <p:tags r:id="rId15"/>
            </p:custDataLst>
          </p:nvPr>
        </p:nvSpPr>
        <p:spPr>
          <a:xfrm>
            <a:off x="2053590" y="1541780"/>
            <a:ext cx="1404000" cy="540000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Peephole Optimization</a:t>
            </a: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16"/>
            </p:custDataLst>
          </p:nvPr>
        </p:nvSpPr>
        <p:spPr>
          <a:xfrm>
            <a:off x="4013200" y="1551305"/>
            <a:ext cx="1185545" cy="539750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  <a:sym typeface="+mn-ea"/>
              </a:rPr>
              <a:t>Register Allocation</a:t>
            </a:r>
          </a:p>
        </p:txBody>
      </p:sp>
      <p:sp>
        <p:nvSpPr>
          <p:cNvPr id="8" name="矩形 7"/>
          <p:cNvSpPr/>
          <p:nvPr>
            <p:custDataLst>
              <p:tags r:id="rId17"/>
            </p:custDataLst>
          </p:nvPr>
        </p:nvSpPr>
        <p:spPr>
          <a:xfrm>
            <a:off x="5789295" y="1551305"/>
            <a:ext cx="1231900" cy="539750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Instruction Scheduling</a:t>
            </a:r>
            <a:endParaRPr lang="en-US" altLang="zh-CN" dirty="0">
              <a:solidFill>
                <a:schemeClr val="tx1"/>
              </a:solidFill>
              <a:latin typeface="Calibri" panose="020F0502020204030204" pitchFamily="34" charset="0"/>
              <a:ea typeface="等线" panose="02010600030101010101" charset="-122"/>
              <a:cs typeface="Calibri" panose="020F0502020204030204" pitchFamily="34" charset="0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8"/>
            </p:custDataLst>
          </p:nvPr>
        </p:nvSpPr>
        <p:spPr>
          <a:xfrm>
            <a:off x="7606665" y="1542415"/>
            <a:ext cx="1263015" cy="540000"/>
          </a:xfrm>
          <a:prstGeom prst="rect">
            <a:avLst/>
          </a:prstGeom>
          <a:solidFill>
            <a:srgbClr val="E2F0D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  <a:sym typeface="+mn-ea"/>
              </a:rPr>
              <a:t>Instruction Selection</a:t>
            </a:r>
          </a:p>
        </p:txBody>
      </p:sp>
      <p:sp>
        <p:nvSpPr>
          <p:cNvPr id="33" name="矩形 32"/>
          <p:cNvSpPr/>
          <p:nvPr>
            <p:custDataLst>
              <p:tags r:id="rId19"/>
            </p:custDataLst>
          </p:nvPr>
        </p:nvSpPr>
        <p:spPr>
          <a:xfrm>
            <a:off x="4804410" y="2399030"/>
            <a:ext cx="1387475" cy="540000"/>
          </a:xfrm>
          <a:prstGeom prst="rect">
            <a:avLst/>
          </a:prstGeom>
          <a:solidFill>
            <a:srgbClr val="DEEBF7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charset="-122"/>
                <a:cs typeface="Calibri" panose="020F0502020204030204" pitchFamily="34" charset="0"/>
              </a:rPr>
              <a:t>Machine Optimization</a:t>
            </a:r>
          </a:p>
        </p:txBody>
      </p:sp>
      <p:cxnSp>
        <p:nvCxnSpPr>
          <p:cNvPr id="10" name="肘形连接符 9"/>
          <p:cNvCxnSpPr>
            <a:stCxn id="77" idx="2"/>
            <a:endCxn id="2" idx="0"/>
          </p:cNvCxnSpPr>
          <p:nvPr/>
        </p:nvCxnSpPr>
        <p:spPr>
          <a:xfrm rot="5400000">
            <a:off x="10226993" y="5192078"/>
            <a:ext cx="297815" cy="59182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肘形连接符 10"/>
          <p:cNvCxnSpPr>
            <a:stCxn id="77" idx="2"/>
            <a:endCxn id="4" idx="0"/>
          </p:cNvCxnSpPr>
          <p:nvPr/>
        </p:nvCxnSpPr>
        <p:spPr>
          <a:xfrm rot="16200000" flipH="1">
            <a:off x="10846435" y="5164454"/>
            <a:ext cx="297815" cy="64706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肘形连接符 11"/>
          <p:cNvCxnSpPr>
            <a:stCxn id="31" idx="2"/>
            <a:endCxn id="37" idx="0"/>
          </p:cNvCxnSpPr>
          <p:nvPr/>
        </p:nvCxnSpPr>
        <p:spPr>
          <a:xfrm rot="5400000">
            <a:off x="3677603" y="2352358"/>
            <a:ext cx="398780" cy="3242945"/>
          </a:xfrm>
          <a:prstGeom prst="bentConnector3">
            <a:avLst>
              <a:gd name="adj1" fmla="val 4992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肘形连接符 13"/>
          <p:cNvCxnSpPr>
            <a:stCxn id="31" idx="2"/>
            <a:endCxn id="41" idx="0"/>
          </p:cNvCxnSpPr>
          <p:nvPr/>
        </p:nvCxnSpPr>
        <p:spPr>
          <a:xfrm rot="5400000" flipV="1">
            <a:off x="6060440" y="3212465"/>
            <a:ext cx="398780" cy="152273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31" idx="0"/>
            <a:endCxn id="33" idx="2"/>
          </p:cNvCxnSpPr>
          <p:nvPr/>
        </p:nvCxnSpPr>
        <p:spPr>
          <a:xfrm flipV="1">
            <a:off x="5498465" y="2938780"/>
            <a:ext cx="0" cy="2959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肘形连接符 16"/>
          <p:cNvCxnSpPr>
            <a:stCxn id="33" idx="0"/>
            <a:endCxn id="5" idx="2"/>
          </p:cNvCxnSpPr>
          <p:nvPr/>
        </p:nvCxnSpPr>
        <p:spPr>
          <a:xfrm rot="16200000" flipV="1">
            <a:off x="3968433" y="868998"/>
            <a:ext cx="317500" cy="2742565"/>
          </a:xfrm>
          <a:prstGeom prst="bentConnector3">
            <a:avLst>
              <a:gd name="adj1" fmla="val 501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肘形连接符 23"/>
          <p:cNvCxnSpPr>
            <a:stCxn id="33" idx="0"/>
            <a:endCxn id="7" idx="2"/>
          </p:cNvCxnSpPr>
          <p:nvPr/>
        </p:nvCxnSpPr>
        <p:spPr>
          <a:xfrm rot="16200000" flipV="1">
            <a:off x="4898390" y="1798955"/>
            <a:ext cx="307975" cy="892175"/>
          </a:xfrm>
          <a:prstGeom prst="bentConnector3">
            <a:avLst>
              <a:gd name="adj1" fmla="val 4989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肘形连接符 24"/>
          <p:cNvCxnSpPr>
            <a:stCxn id="33" idx="0"/>
            <a:endCxn id="8" idx="2"/>
          </p:cNvCxnSpPr>
          <p:nvPr/>
        </p:nvCxnSpPr>
        <p:spPr>
          <a:xfrm rot="16200000">
            <a:off x="5797868" y="1791653"/>
            <a:ext cx="307975" cy="90678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肘形连接符 25"/>
          <p:cNvCxnSpPr>
            <a:stCxn id="33" idx="0"/>
            <a:endCxn id="9" idx="2"/>
          </p:cNvCxnSpPr>
          <p:nvPr/>
        </p:nvCxnSpPr>
        <p:spPr>
          <a:xfrm rot="16200000">
            <a:off x="6710045" y="870585"/>
            <a:ext cx="316865" cy="2740025"/>
          </a:xfrm>
          <a:prstGeom prst="bentConnector3">
            <a:avLst>
              <a:gd name="adj1" fmla="val 499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zh-CN" altLang="en-US" sz="3600" b="0" dirty="0">
              <a:latin typeface="+mn-ea"/>
              <a:ea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CF6A-13F7-418C-BBFC-95033FFCD5F1}" type="slidenum">
              <a:rPr lang="en-US" noProof="1" smtClean="0"/>
              <a:t>34</a:t>
            </a:fld>
            <a:endParaRPr lang="en-US" noProof="1"/>
          </a:p>
        </p:txBody>
      </p:sp>
      <p:pic>
        <p:nvPicPr>
          <p:cNvPr id="53" name="Picture 2" descr="大学校徽系列:中山大学标志矢量图 - 设计之家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" t="31654" r="4304" b="31864"/>
          <a:stretch>
            <a:fillRect/>
          </a:stretch>
        </p:blipFill>
        <p:spPr bwMode="auto">
          <a:xfrm>
            <a:off x="9838706" y="104644"/>
            <a:ext cx="2249066" cy="6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 descr="中山大学每个校区分别有什么专业呢？ - 知乎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5" t="3598" r="5088" b="7028"/>
          <a:stretch>
            <a:fillRect/>
          </a:stretch>
        </p:blipFill>
        <p:spPr bwMode="auto">
          <a:xfrm>
            <a:off x="88105" y="6144253"/>
            <a:ext cx="680245" cy="68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2"/>
          <p:cNvSpPr txBox="1"/>
          <p:nvPr/>
        </p:nvSpPr>
        <p:spPr>
          <a:xfrm>
            <a:off x="3600931" y="3043732"/>
            <a:ext cx="4985601" cy="770536"/>
          </a:xfrm>
          <a:prstGeom prst="rect">
            <a:avLst/>
          </a:prstGeom>
        </p:spPr>
        <p:txBody>
          <a:bodyPr wrap="none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ysClr val="windowText" lastClr="000000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dirty="0"/>
              <a:t>Enjoy the Journey!</a:t>
            </a:r>
            <a:endParaRPr lang="zh-CN" altLang="en-US" sz="3600" b="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4043</Words>
  <Application>Microsoft Office PowerPoint</Application>
  <PresentationFormat>宽屏</PresentationFormat>
  <Paragraphs>992</Paragraphs>
  <Slides>34</Slides>
  <Notes>13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-apple-system</vt:lpstr>
      <vt:lpstr>等线</vt:lpstr>
      <vt:lpstr>宋体</vt:lpstr>
      <vt:lpstr>微软雅黑</vt:lpstr>
      <vt:lpstr>Arial</vt:lpstr>
      <vt:lpstr>Calibri</vt:lpstr>
      <vt:lpstr>Consolas</vt:lpstr>
      <vt:lpstr>Wingdings</vt:lpstr>
      <vt:lpstr>Office Theme</vt:lpstr>
      <vt:lpstr>Introduction to  Compilation Principle</vt:lpstr>
      <vt:lpstr>The Module[课程介绍]</vt:lpstr>
      <vt:lpstr>The Instructor[关于教师]</vt:lpstr>
      <vt:lpstr>The Instructor[关于教师]</vt:lpstr>
      <vt:lpstr>The Laboratory[关于实验室]</vt:lpstr>
      <vt:lpstr>Teaching Assistants[助教]</vt:lpstr>
      <vt:lpstr>Contacts[联系方式]</vt:lpstr>
      <vt:lpstr>Textbook &amp; Materials[教材资料]</vt:lpstr>
      <vt:lpstr>Module Time &amp; Location[时间地点]</vt:lpstr>
      <vt:lpstr>Schedule[进度安排]</vt:lpstr>
      <vt:lpstr>Grading[成绩构成]</vt:lpstr>
      <vt:lpstr>What is a Compilation[什么是编译]</vt:lpstr>
      <vt:lpstr>What is a Compilation[什么是编译]</vt:lpstr>
      <vt:lpstr>Interpret vs Compile[解释 vs. 编译] </vt:lpstr>
      <vt:lpstr>JIT[即时编译] </vt:lpstr>
      <vt:lpstr>Compilation for C [C语言编译]</vt:lpstr>
      <vt:lpstr>Compilation for C (Cont.)</vt:lpstr>
      <vt:lpstr>Why Compiler [为什么学编译原理]</vt:lpstr>
      <vt:lpstr>Overview of Compiler [编译结构总览]</vt:lpstr>
      <vt:lpstr>Compilation Procedure[编译过程]</vt:lpstr>
      <vt:lpstr>Lexical Analysis[词法分析]</vt:lpstr>
      <vt:lpstr>Lexical Analysis[词法分析]</vt:lpstr>
      <vt:lpstr>Syntax Analysis[语法分析]</vt:lpstr>
      <vt:lpstr>Syntax Analysis[语法分析]</vt:lpstr>
      <vt:lpstr>Syntax Analysis[语法分析]</vt:lpstr>
      <vt:lpstr>Semantic Analysis[语义分析]</vt:lpstr>
      <vt:lpstr>Semantic Analysis[语义分析]</vt:lpstr>
      <vt:lpstr>Intermediate Code[中间代码生成] </vt:lpstr>
      <vt:lpstr>Intermediate Code[中间代码生成] </vt:lpstr>
      <vt:lpstr>Code Optimization[代码优化] </vt:lpstr>
      <vt:lpstr>Code Optimization[代码优化] </vt:lpstr>
      <vt:lpstr>Target Code[目标代码生成] </vt:lpstr>
      <vt:lpstr>Target Code[目标代码生成] </vt:lpstr>
      <vt:lpstr>Introduction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Compilation Principle</dc:title>
  <dc:creator>Zhao Shuai</dc:creator>
  <cp:lastModifiedBy>SHUAI ZHAO</cp:lastModifiedBy>
  <cp:revision>232</cp:revision>
  <dcterms:created xsi:type="dcterms:W3CDTF">2023-02-18T15:29:00Z</dcterms:created>
  <dcterms:modified xsi:type="dcterms:W3CDTF">2026-02-25T13:27:45Z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B436644A635D48DFA6534C80F9E83EE7_13</vt:lpwstr>
  </property>
  <property fmtid="{D5CDD505-2E9C-101B-9397-08002B2CF9AE}" pid="3" name="KSOProductBuildVer">
    <vt:lpwstr>2052-12.1.0.23542</vt:lpwstr>
  </property>
</Properties>
</file>